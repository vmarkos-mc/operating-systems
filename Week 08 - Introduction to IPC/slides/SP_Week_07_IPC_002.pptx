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1.png" ContentType="image/png"/>
  <Override PartName="/ppt/presProps.xml" ContentType="application/vnd.openxmlformats-officedocument.presentationml.presPro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_rels/slide24.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8.xml.rels" ContentType="application/vnd.openxmlformats-package.relationships+xml"/>
  <Override PartName="/ppt/slides/_rels/slide27.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3.xml.rels" ContentType="application/vnd.openxmlformats-package.relationships+xml"/>
  <Override PartName="/ppt/slides/_rels/slide6.xml.rels" ContentType="application/vnd.openxmlformats-package.relationships+xml"/>
  <Override PartName="/ppt/slides/_rels/slide16.xml.rels" ContentType="application/vnd.openxmlformats-package.relationships+xml"/>
  <Override PartName="/ppt/slides/_rels/slide32.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28.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14.xml.rels" ContentType="application/vnd.openxmlformats-package.relationships+xml"/>
  <Override PartName="/ppt/slides/slide30.xml" ContentType="application/vnd.openxmlformats-officedocument.presentationml.slide+xml"/>
  <Override PartName="/ppt/slides/slide5.xml" ContentType="application/vnd.openxmlformats-officedocument.presentationml.slide+xml"/>
  <Override PartName="/ppt/slides/slide31.xml" ContentType="application/vnd.openxmlformats-officedocument.presentationml.slide+xml"/>
  <Override PartName="/ppt/slides/slide6.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A8CFE05F-4C4D-40ED-A6D0-6B2D946115E7}"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582BC055-A264-4753-9B2F-4C12709F7C41}"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1"/>
          </p:nvPr>
        </p:nvSpPr>
        <p:spPr/>
        <p:txBody>
          <a:bodyPr/>
          <a:p>
            <a:fld id="{C0AB6236-4BFD-45CF-8235-301D5E029A90}"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2536185D-3C59-48FC-B664-AA337D33C864}"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E6E87080-E789-4846-B66F-7CBB8B0801B7}"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1"/>
          </p:nvPr>
        </p:nvSpPr>
        <p:spPr/>
        <p:txBody>
          <a:bodyPr/>
          <a:p>
            <a:fld id="{3D4053C5-C36C-49C0-BFE1-0D978550CBD4}"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FB2DDA7E-2C09-4DE4-B0D4-61C82F7111B0}"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7108E297-1F7A-4E3F-ADD5-D13CEA7E7985}"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7"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8"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2627BB92-4A4B-4FA7-9DD7-69D83A522380}"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0"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1"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4A473557-B722-4242-BED6-B81EB522C49F}"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4"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6"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1"/>
          </p:nvPr>
        </p:nvSpPr>
        <p:spPr/>
        <p:txBody>
          <a:bodyPr/>
          <a:p>
            <a:fld id="{9FD869DA-ECD2-4712-A62C-B4440E6D3CFA}"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8"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9"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0"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1"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2"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3"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1"/>
          </p:nvPr>
        </p:nvSpPr>
        <p:spPr/>
        <p:txBody>
          <a:bodyPr/>
          <a:p>
            <a:fld id="{2FA88E70-1785-4CE8-A5D0-FD7B81CDDD75}"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D88A514F-0B14-4C96-9674-636383DE0498}"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1"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FF47EE17-16E5-4DC2-9F8D-C0FD493C4505}"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3"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90B7BAA3-44C3-4ECC-B995-07390557A024}"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5"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6"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E1A290D5-6C45-41C7-B671-B3AC6CA0413F}"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1557858F-2BA9-46A9-B540-38202A11B419}"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F9E12979-42FD-4501-B8C6-053C787FB1C4}"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0"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1"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2"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54B11D8E-6B41-49B9-AAB6-E7B339088049}"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4"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6"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E05D2683-77BC-4D3B-8E34-952B94C58ACA}"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0"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145D132D-0E03-4601-A09B-9052042D64BE}"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2"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3"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B0B5B4C8-6DA4-4EAC-A71B-FE87C87A1DCA}"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5"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6"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7"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8"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2"/>
          </p:nvPr>
        </p:nvSpPr>
        <p:spPr/>
        <p:txBody>
          <a:bodyPr/>
          <a:p>
            <a:fld id="{DB75E3D7-1632-4EEC-8C0C-47AD50BC9ECD}"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0"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1"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2"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3"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4"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5"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2"/>
          </p:nvPr>
        </p:nvSpPr>
        <p:spPr/>
        <p:txBody>
          <a:bodyPr/>
          <a:p>
            <a:fld id="{7CCB2CA7-833E-4432-B446-987AF64C10B9}"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249B1440-C98E-4A05-8EAB-247029F883A1}"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4"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3"/>
          </p:nvPr>
        </p:nvSpPr>
        <p:spPr/>
        <p:txBody>
          <a:bodyPr/>
          <a:p>
            <a:fld id="{9A791D10-6149-4DBC-8DCD-617EAB865BDA}"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6"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3"/>
          </p:nvPr>
        </p:nvSpPr>
        <p:spPr/>
        <p:txBody>
          <a:bodyPr/>
          <a:p>
            <a:fld id="{60E7A409-DB6C-4C4A-96B8-4DABE0F8A526}"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8"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AE92F288-9C0C-449A-974B-E32CCCD2AFDB}"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3"/>
          </p:nvPr>
        </p:nvSpPr>
        <p:spPr/>
        <p:txBody>
          <a:bodyPr/>
          <a:p>
            <a:fld id="{87CDAEBC-E81D-48FC-93F4-FF528742B912}"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3"/>
          </p:nvPr>
        </p:nvSpPr>
        <p:spPr/>
        <p:txBody>
          <a:bodyPr/>
          <a:p>
            <a:fld id="{C5DAD048-C5C1-4D86-B515-2CE9DA55B3BD}"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A59D83F2-168A-411F-95E2-73E40A461DA5}"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7"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9"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E4F4B753-7819-4653-A538-E0CADA57FE81}"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3"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95901713-FA60-4E83-AA27-A9086D57A483}"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5"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6"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CE8E8D3A-A3FC-4229-9A46-38388E176EDE}"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1"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3"/>
          </p:nvPr>
        </p:nvSpPr>
        <p:spPr/>
        <p:txBody>
          <a:bodyPr/>
          <a:p>
            <a:fld id="{1DC38E72-9CD2-4744-8D33-7A486409A46D}"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23"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4"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5"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6"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7"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8"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3"/>
          </p:nvPr>
        </p:nvSpPr>
        <p:spPr/>
        <p:txBody>
          <a:bodyPr/>
          <a:p>
            <a:fld id="{1C81632A-468D-40F0-A533-4448F46ED942}"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16059ADC-5C57-456E-B932-91BF5713B6C0}"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7"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4"/>
          </p:nvPr>
        </p:nvSpPr>
        <p:spPr/>
        <p:txBody>
          <a:bodyPr/>
          <a:p>
            <a:fld id="{14D50EB2-84C4-44DB-805F-4E8A920EDB75}"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9"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4"/>
          </p:nvPr>
        </p:nvSpPr>
        <p:spPr/>
        <p:txBody>
          <a:bodyPr/>
          <a:p>
            <a:fld id="{71FCDA76-0F6A-4A32-9498-CAC95CACCA26}"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1"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2"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7AC9C0A9-C557-47BE-9D47-7216C7E67674}"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4"/>
          </p:nvPr>
        </p:nvSpPr>
        <p:spPr/>
        <p:txBody>
          <a:bodyPr/>
          <a:p>
            <a:fld id="{81D63238-139B-4342-A6C3-CDCCE367EEB7}"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4"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4"/>
          </p:nvPr>
        </p:nvSpPr>
        <p:spPr/>
        <p:txBody>
          <a:bodyPr/>
          <a:p>
            <a:fld id="{CA854113-F210-454B-937A-FEBFCDC6DE06}"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7"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8"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393F7B57-5C55-46AB-91BC-2183A701BDDA}"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0"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1"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2"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9F6DCFDA-160E-4F2D-B3A0-33EB4C92E586}"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4"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6"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C6A41606-4576-4362-9AA4-90AB08D129A3}"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8"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9"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8C71FA55-F939-4722-A7DF-954108BA15D7}"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3"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4"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4"/>
          </p:nvPr>
        </p:nvSpPr>
        <p:spPr/>
        <p:txBody>
          <a:bodyPr/>
          <a:p>
            <a:fld id="{A7D276FC-C738-4D1C-BD22-AEA198194EA4}"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6"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7"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8"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9"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0"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1"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4"/>
          </p:nvPr>
        </p:nvSpPr>
        <p:spPr/>
        <p:txBody>
          <a:bodyPr/>
          <a:p>
            <a:fld id="{81438500-FFCB-4D30-AACB-729B8649D46A}"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0" name="Google Shape;11;p36"/>
          <p:cNvSpPr/>
          <p:nvPr/>
        </p:nvSpPr>
        <p:spPr>
          <a:xfrm>
            <a:off x="0" y="0"/>
            <a:ext cx="9143640" cy="48744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 name="Google Shape;12;p36"/>
          <p:cNvGrpSpPr/>
          <p:nvPr/>
        </p:nvGrpSpPr>
        <p:grpSpPr>
          <a:xfrm>
            <a:off x="530280" y="1205640"/>
            <a:ext cx="1342800" cy="17280"/>
            <a:chOff x="530280" y="1205640"/>
            <a:chExt cx="1342800" cy="17280"/>
          </a:xfrm>
        </p:grpSpPr>
        <p:sp>
          <p:nvSpPr>
            <p:cNvPr id="2" name="Google Shape;13;p36"/>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 name="Google Shape;14;p36"/>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5" name="PlaceHolder 2"/>
          <p:cNvSpPr>
            <a:spLocks noGrp="1"/>
          </p:cNvSpPr>
          <p:nvPr>
            <p:ph type="sldNum" idx="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FB92082-1FB7-4AB8-A34F-92246DAAE6FD}"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
        <p:nvSpPr>
          <p:cNvPr id="6" name="Google Shape;18;p36"/>
          <p:cNvSpPr/>
          <p:nvPr/>
        </p:nvSpPr>
        <p:spPr>
          <a:xfrm>
            <a:off x="6590880" y="3867120"/>
            <a:ext cx="1945080" cy="7387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endParaRPr b="0" lang="en-US" sz="1400" spc="-1" strike="noStrike">
              <a:solidFill>
                <a:srgbClr val="000000"/>
              </a:solidFill>
              <a:latin typeface="Aria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44" name="Google Shape;21;p37"/>
          <p:cNvGrpSpPr/>
          <p:nvPr/>
        </p:nvGrpSpPr>
        <p:grpSpPr>
          <a:xfrm>
            <a:off x="530280" y="1205640"/>
            <a:ext cx="1342800" cy="17280"/>
            <a:chOff x="530280" y="1205640"/>
            <a:chExt cx="1342800" cy="17280"/>
          </a:xfrm>
        </p:grpSpPr>
        <p:sp>
          <p:nvSpPr>
            <p:cNvPr id="45" name="Google Shape;22;p37"/>
            <p:cNvSpPr/>
            <p:nvPr/>
          </p:nvSpPr>
          <p:spPr>
            <a:xfrm rot="16200000">
              <a:off x="1380600" y="730440"/>
              <a:ext cx="17280" cy="96732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46" name="Google Shape;23;p37"/>
            <p:cNvSpPr/>
            <p:nvPr/>
          </p:nvSpPr>
          <p:spPr>
            <a:xfrm rot="16200000">
              <a:off x="1009440" y="726480"/>
              <a:ext cx="17280" cy="97560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7"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48" name="PlaceHolder 2"/>
          <p:cNvSpPr>
            <a:spLocks noGrp="1"/>
          </p:cNvSpPr>
          <p:nvPr>
            <p:ph type="sldNum" idx="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DD08D28C-65C3-47FF-A385-827308858B6D}" type="slidenum">
              <a:rPr b="0" lang="el" sz="1000" spc="-1" strike="noStrike">
                <a:solidFill>
                  <a:schemeClr val="lt1"/>
                </a:solidFill>
                <a:latin typeface="Lato"/>
                <a:ea typeface="Lato"/>
              </a:rPr>
              <a:t>&lt;number&gt;</a:t>
            </a:fld>
            <a:endParaRPr b="0" lang="en-US" sz="1000" spc="-1" strike="noStrike">
              <a:solidFill>
                <a:srgbClr val="000000"/>
              </a:solidFill>
              <a:latin typeface="Times New Roman"/>
            </a:endParaRPr>
          </a:p>
        </p:txBody>
      </p:sp>
      <p:sp>
        <p:nvSpPr>
          <p:cNvPr id="4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6" name="Google Shape;27;p38"/>
          <p:cNvSpPr/>
          <p:nvPr/>
        </p:nvSpPr>
        <p:spPr>
          <a:xfrm>
            <a:off x="0" y="0"/>
            <a:ext cx="9143640" cy="487440"/>
          </a:xfrm>
          <a:prstGeom prst="rect">
            <a:avLst/>
          </a:prstGeom>
          <a:solidFill>
            <a:schemeClr val="lt2"/>
          </a:solidFill>
          <a:ln w="0">
            <a:noFill/>
          </a:ln>
        </p:spPr>
        <p:style>
          <a:lnRef idx="0"/>
          <a:fillRef idx="0"/>
          <a:effectRef idx="0"/>
          <a:fontRef idx="minor"/>
        </p:style>
        <p:txBody>
          <a:bodyPr tIns="91440" bIns="91440" anchor="ctr">
            <a:noAutofit/>
          </a:bodyPr>
          <a:p>
            <a:pPr algn="r">
              <a:lnSpc>
                <a:spcPct val="100000"/>
              </a:lnSpc>
              <a:tabLst>
                <a:tab algn="l" pos="0"/>
              </a:tabLst>
            </a:pPr>
            <a:endParaRPr b="0" lang="en-US" sz="1400" spc="-1" strike="noStrike">
              <a:solidFill>
                <a:srgbClr val="000000"/>
              </a:solidFill>
              <a:latin typeface="Arial"/>
            </a:endParaRPr>
          </a:p>
        </p:txBody>
      </p:sp>
      <p:grpSp>
        <p:nvGrpSpPr>
          <p:cNvPr id="87" name="Google Shape;28;p38"/>
          <p:cNvGrpSpPr/>
          <p:nvPr/>
        </p:nvGrpSpPr>
        <p:grpSpPr>
          <a:xfrm>
            <a:off x="530280" y="1205640"/>
            <a:ext cx="1342800" cy="17280"/>
            <a:chOff x="530280" y="1205640"/>
            <a:chExt cx="1342800" cy="17280"/>
          </a:xfrm>
        </p:grpSpPr>
        <p:sp>
          <p:nvSpPr>
            <p:cNvPr id="88" name="Google Shape;29;p38"/>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89" name="Google Shape;30;p38"/>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9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91"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92" name="PlaceHolder 3"/>
          <p:cNvSpPr>
            <a:spLocks noGrp="1"/>
          </p:cNvSpPr>
          <p:nvPr>
            <p:ph type="sldNum" idx="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86CD8DD-8C03-4E95-AE71-227C1E60533F}"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9" name="Google Shape;35;p39"/>
          <p:cNvSpPr/>
          <p:nvPr/>
        </p:nvSpPr>
        <p:spPr>
          <a:xfrm>
            <a:off x="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30" name="Google Shape;36;p39"/>
          <p:cNvGrpSpPr/>
          <p:nvPr/>
        </p:nvGrpSpPr>
        <p:grpSpPr>
          <a:xfrm>
            <a:off x="530280" y="1205640"/>
            <a:ext cx="1342800" cy="17280"/>
            <a:chOff x="530280" y="1205640"/>
            <a:chExt cx="1342800" cy="17280"/>
          </a:xfrm>
        </p:grpSpPr>
        <p:sp>
          <p:nvSpPr>
            <p:cNvPr id="131" name="Google Shape;37;p39"/>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132" name="Google Shape;38;p39"/>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133"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134" name="PlaceHolder 2"/>
          <p:cNvSpPr>
            <a:spLocks noGrp="1"/>
          </p:cNvSpPr>
          <p:nvPr>
            <p:ph type="body"/>
          </p:nvPr>
        </p:nvSpPr>
        <p:spPr>
          <a:xfrm>
            <a:off x="5174280" y="1352520"/>
            <a:ext cx="3373920" cy="3025080"/>
          </a:xfrm>
          <a:prstGeom prst="rect">
            <a:avLst/>
          </a:prstGeom>
          <a:noFill/>
          <a:ln w="0">
            <a:noFill/>
          </a:ln>
        </p:spPr>
        <p:txBody>
          <a:bodyPr tIns="91440" bIns="91440" anchor="t">
            <a:normAutofit fontScale="74000"/>
          </a:bodyPr>
          <a:p>
            <a:pPr marL="319680" indent="-23976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639360" indent="-23976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959040" indent="-21312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278720" indent="-15984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1598400" indent="-15984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1918080" indent="-15984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2237760" indent="-15984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135" name="PlaceHolder 3"/>
          <p:cNvSpPr>
            <a:spLocks noGrp="1"/>
          </p:cNvSpPr>
          <p:nvPr>
            <p:ph type="sldNum" idx="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AB0FDFF-82B9-40D0-B9D3-97B7C16CE636}"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0.xml.rels><?xml version="1.0" encoding="UTF-8"?>
<Relationships xmlns="http://schemas.openxmlformats.org/package/2006/relationships"><Relationship Id="rId1" Type="http://schemas.openxmlformats.org/officeDocument/2006/relationships/hyperlink" Target="https://greenteapress.com/thinkos/html/thinkos009.html" TargetMode="External"/><Relationship Id="rId2" Type="http://schemas.openxmlformats.org/officeDocument/2006/relationships/hyperlink" Target="https://github.com/AllenDowney/ThinkOS/tree/master/code/cache" TargetMode="External"/><Relationship Id="rId3" Type="http://schemas.openxmlformats.org/officeDocument/2006/relationships/slideLayout" Target="../slideLayouts/slideLayout2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3.xml.rels><?xml version="1.0" encoding="UTF-8"?>
<Relationships xmlns="http://schemas.openxmlformats.org/package/2006/relationships"><Relationship Id="rId1" Type="http://schemas.openxmlformats.org/officeDocument/2006/relationships/hyperlink" Target="https://forms.gle/aj7pYsK1ksufD6xYA" TargetMode="External"/><Relationship Id="rId2" Type="http://schemas.openxmlformats.org/officeDocument/2006/relationships/hyperlink" Target="https://forms.gle/aj7pYsK1ksufD6xYA" TargetMode="External"/><Relationship Id="rId3" Type="http://schemas.openxmlformats.org/officeDocument/2006/relationships/image" Target="../media/image1.png"/><Relationship Id="rId4" Type="http://schemas.openxmlformats.org/officeDocument/2006/relationships/slideLayout" Target="../slideLayouts/slideLayout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lnSpc>
                <a:spcPct val="100000"/>
              </a:lnSpc>
              <a:buNone/>
              <a:tabLst>
                <a:tab algn="l" pos="0"/>
              </a:tabLst>
            </a:pPr>
            <a:r>
              <a:rPr b="1" lang="el" sz="4200" spc="-1" strike="noStrike">
                <a:solidFill>
                  <a:schemeClr val="dk2"/>
                </a:solidFill>
                <a:latin typeface="Lato"/>
                <a:ea typeface="Lato"/>
              </a:rPr>
              <a:t>Operating Systems</a:t>
            </a:r>
            <a:br>
              <a:rPr sz="4200"/>
            </a:br>
            <a:r>
              <a:rPr b="0" lang="el" sz="1600" spc="-1" strike="noStrike">
                <a:solidFill>
                  <a:schemeClr val="accent1"/>
                </a:solidFill>
                <a:latin typeface="Lato"/>
                <a:ea typeface="Lato"/>
              </a:rPr>
              <a:t>IPC: Inter-processes Communication</a:t>
            </a:r>
            <a:endParaRPr b="0" lang="en-US" sz="1600" spc="-1" strike="noStrike">
              <a:solidFill>
                <a:srgbClr val="000000"/>
              </a:solidFill>
              <a:latin typeface="Arial"/>
            </a:endParaRPr>
          </a:p>
        </p:txBody>
      </p:sp>
      <p:sp>
        <p:nvSpPr>
          <p:cNvPr id="173" name="PlaceHolder 2"/>
          <p:cNvSpPr>
            <a:spLocks noGrp="1"/>
          </p:cNvSpPr>
          <p:nvPr>
            <p:ph type="subTitle"/>
          </p:nvPr>
        </p:nvSpPr>
        <p:spPr>
          <a:xfrm>
            <a:off x="729720" y="3173040"/>
            <a:ext cx="7687800" cy="7387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Vassilis Markos,</a:t>
            </a:r>
            <a:br>
              <a:rPr sz="1600"/>
            </a:br>
            <a:r>
              <a:rPr b="0" lang="el" sz="1600" spc="-1" strike="noStrike">
                <a:solidFill>
                  <a:schemeClr val="accent1"/>
                </a:solidFill>
                <a:latin typeface="Lato"/>
                <a:ea typeface="Lato"/>
              </a:rPr>
              <a:t>Mediterranean College</a:t>
            </a:r>
            <a:endParaRPr b="0" lang="en-US" sz="1600" spc="-1" strike="noStrike">
              <a:solidFill>
                <a:srgbClr val="000000"/>
              </a:solidFill>
              <a:latin typeface="Arial"/>
            </a:endParaRPr>
          </a:p>
        </p:txBody>
      </p:sp>
      <p:sp>
        <p:nvSpPr>
          <p:cNvPr id="174" name="Google Shape;118;p1"/>
          <p:cNvSpPr/>
          <p:nvPr/>
        </p:nvSpPr>
        <p:spPr>
          <a:xfrm>
            <a:off x="6029640" y="4001400"/>
            <a:ext cx="2387520" cy="615960"/>
          </a:xfrm>
          <a:prstGeom prst="rect">
            <a:avLst/>
          </a:prstGeom>
          <a:noFill/>
          <a:ln w="0">
            <a:noFill/>
          </a:ln>
        </p:spPr>
        <p:style>
          <a:lnRef idx="0"/>
          <a:fillRef idx="0"/>
          <a:effectRef idx="0"/>
          <a:fontRef idx="minor"/>
        </p:style>
        <p:txBody>
          <a:bodyPr tIns="91440" bIns="91440" anchor="t">
            <a:noAutofit/>
          </a:bodyPr>
          <a:p>
            <a:pPr algn="r">
              <a:lnSpc>
                <a:spcPct val="100000"/>
              </a:lnSpc>
              <a:tabLst>
                <a:tab algn="l" pos="0"/>
              </a:tabLst>
            </a:pPr>
            <a:endParaRPr b="0" lang="en-US" sz="1400" spc="-1" strike="noStrike">
              <a:solidFill>
                <a:srgbClr val="000000"/>
              </a:solidFill>
              <a:latin typeface="Arial"/>
            </a:endParaRPr>
          </a:p>
        </p:txBody>
      </p:sp>
      <p:sp>
        <p:nvSpPr>
          <p:cNvPr id="175" name="PlaceHolder 3"/>
          <p:cNvSpPr>
            <a:spLocks noGrp="1"/>
          </p:cNvSpPr>
          <p:nvPr>
            <p:ph type="subTitle"/>
          </p:nvPr>
        </p:nvSpPr>
        <p:spPr>
          <a:xfrm>
            <a:off x="6057000" y="3821760"/>
            <a:ext cx="2360520" cy="1121400"/>
          </a:xfrm>
          <a:prstGeom prst="rect">
            <a:avLst/>
          </a:prstGeom>
          <a:noFill/>
          <a:ln w="0">
            <a:noFill/>
          </a:ln>
        </p:spPr>
        <p:txBody>
          <a:bodyPr tIns="91440" bIns="91440" anchor="t">
            <a:normAutofit/>
          </a:bodyPr>
          <a:p>
            <a:pPr algn="r">
              <a:lnSpc>
                <a:spcPct val="115000"/>
              </a:lnSpc>
              <a:spcAft>
                <a:spcPts val="1199"/>
              </a:spcAft>
              <a:tabLst>
                <a:tab algn="l" pos="0"/>
              </a:tabLst>
            </a:pPr>
            <a:r>
              <a:rPr b="0" lang="el" sz="1300" spc="-1" strike="noStrike">
                <a:solidFill>
                  <a:schemeClr val="accent1"/>
                </a:solidFill>
                <a:latin typeface="Lato"/>
                <a:ea typeface="Lato"/>
              </a:rPr>
              <a:t>Week 08</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IPC + Bash + C = ?</a:t>
            </a:r>
            <a:endParaRPr b="0" lang="en-US" sz="3600" spc="-1" strike="noStrike">
              <a:solidFill>
                <a:srgbClr val="000000"/>
              </a:solidFill>
              <a:latin typeface="Arial"/>
            </a:endParaRPr>
          </a:p>
        </p:txBody>
      </p:sp>
      <p:sp>
        <p:nvSpPr>
          <p:cNvPr id="177" name="PlaceHolder 2"/>
          <p:cNvSpPr>
            <a:spLocks noGrp="1"/>
          </p:cNvSpPr>
          <p:nvPr>
            <p:ph type="sldNum" idx="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22C973B6-3EB0-4867-A548-D85679603F61}" type="slidenum">
              <a:rPr b="0" lang="el" sz="1000" spc="-1" strike="noStrike">
                <a:solidFill>
                  <a:schemeClr val="lt1"/>
                </a:solidFill>
                <a:latin typeface="Lato"/>
                <a:ea typeface="Lato"/>
              </a:rPr>
              <a:t>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 Simple “Shell Emulator” In C</a:t>
            </a:r>
            <a:endParaRPr b="0" lang="en-US" sz="2600" spc="-1" strike="noStrike">
              <a:solidFill>
                <a:srgbClr val="000000"/>
              </a:solidFill>
              <a:latin typeface="Arial"/>
            </a:endParaRPr>
          </a:p>
        </p:txBody>
      </p:sp>
      <p:sp>
        <p:nvSpPr>
          <p:cNvPr id="179" name="PlaceHolder 2"/>
          <p:cNvSpPr>
            <a:spLocks noGrp="1"/>
          </p:cNvSpPr>
          <p:nvPr>
            <p:ph/>
          </p:nvPr>
        </p:nvSpPr>
        <p:spPr>
          <a:xfrm>
            <a:off x="729360" y="1378080"/>
            <a:ext cx="3842280" cy="3764880"/>
          </a:xfrm>
          <a:prstGeom prst="rect">
            <a:avLst/>
          </a:prstGeom>
          <a:noFill/>
          <a:ln w="0">
            <a:noFill/>
          </a:ln>
        </p:spPr>
        <p:txBody>
          <a:bodyPr tIns="91440" bIns="91440" anchor="t">
            <a:normAutofit fontScale="97000"/>
          </a:bodyPr>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my_system</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const</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char</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command</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status</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char</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cmd</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256</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execl</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SHELL</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SHELL</a:t>
            </a:r>
            <a:r>
              <a:rPr b="0" lang="el" sz="1050" spc="-1" strike="noStrike">
                <a:solidFill>
                  <a:srgbClr val="000000"/>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command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_exit</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EXIT_FAILURE</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&lt;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status</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waitpid</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&amp;</a:t>
            </a:r>
            <a:r>
              <a:rPr b="0" lang="el" sz="1050" spc="-1" strike="noStrike">
                <a:solidFill>
                  <a:srgbClr val="001080"/>
                </a:solidFill>
                <a:highlight>
                  <a:srgbClr val="ffffff"/>
                </a:highlight>
                <a:latin typeface="Courier New"/>
                <a:ea typeface="Courier New"/>
              </a:rPr>
              <a:t>status</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status</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status</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180" name="PlaceHolder 3"/>
          <p:cNvSpPr>
            <a:spLocks noGrp="1"/>
          </p:cNvSpPr>
          <p:nvPr>
            <p:ph type="sldNum" idx="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0E01E02-D779-42C5-8CB8-FC71ED7FD731}" type="slidenum">
              <a:rPr b="0" lang="el" sz="1000" spc="-1" strike="noStrike">
                <a:solidFill>
                  <a:schemeClr val="accent1"/>
                </a:solidFill>
                <a:latin typeface="Lato"/>
                <a:ea typeface="Lato"/>
              </a:rPr>
              <a:t>3</a:t>
            </a:fld>
            <a:endParaRPr b="0" lang="en-US" sz="1000" spc="-1" strike="noStrike">
              <a:solidFill>
                <a:srgbClr val="000000"/>
              </a:solidFill>
              <a:latin typeface="Times New Roman"/>
            </a:endParaRPr>
          </a:p>
        </p:txBody>
      </p:sp>
      <p:sp>
        <p:nvSpPr>
          <p:cNvPr id="181" name="PlaceHolder 4"/>
          <p:cNvSpPr>
            <a:spLocks noGrp="1"/>
          </p:cNvSpPr>
          <p:nvPr>
            <p:ph/>
          </p:nvPr>
        </p:nvSpPr>
        <p:spPr>
          <a:xfrm>
            <a:off x="4572000" y="1378080"/>
            <a:ext cx="3842280" cy="3764880"/>
          </a:xfrm>
          <a:prstGeom prst="rect">
            <a:avLst/>
          </a:prstGeom>
          <a:noFill/>
          <a:ln w="0">
            <a:noFill/>
          </a:ln>
        </p:spPr>
        <p:txBody>
          <a:bodyPr tIns="91440" bIns="91440" anchor="t">
            <a:normAutofit fontScale="98000"/>
          </a:bodyPr>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&lt;stddef.h&gt;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&lt;sys/wait.h&gt;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#define</a:t>
            </a:r>
            <a:r>
              <a:rPr b="0" lang="el" sz="1050" spc="-1" strike="noStrike">
                <a:solidFill>
                  <a:srgbClr val="0000ff"/>
                </a:solidFill>
                <a:highlight>
                  <a:srgbClr val="ffffff"/>
                </a:highlight>
                <a:latin typeface="Courier New"/>
                <a:ea typeface="Courier New"/>
              </a:rPr>
              <a:t> SHELL </a:t>
            </a:r>
            <a:r>
              <a:rPr b="0" lang="el" sz="1050" spc="-1" strike="noStrike">
                <a:solidFill>
                  <a:srgbClr val="a31515"/>
                </a:solidFill>
                <a:highlight>
                  <a:srgbClr val="ffffff"/>
                </a:highlight>
                <a:latin typeface="Courier New"/>
                <a:ea typeface="Courier New"/>
              </a:rPr>
              <a:t>"/bin/sh"</a:t>
            </a:r>
            <a:br>
              <a:rPr sz="1050"/>
            </a:br>
            <a:br>
              <a:rPr sz="1050"/>
            </a:b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char</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cmd</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256</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while</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"input command: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scanf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cmd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my_system</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cmd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fork()</a:t>
            </a:r>
            <a:endParaRPr b="0" lang="en-US" sz="2600" spc="-1" strike="noStrike">
              <a:solidFill>
                <a:srgbClr val="000000"/>
              </a:solidFill>
              <a:latin typeface="Arial"/>
            </a:endParaRPr>
          </a:p>
        </p:txBody>
      </p:sp>
      <p:sp>
        <p:nvSpPr>
          <p:cNvPr id="183"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7680">
              <a:lnSpc>
                <a:spcPct val="115000"/>
              </a:lnSpc>
              <a:buClr>
                <a:srgbClr val="595959"/>
              </a:buClr>
              <a:buFont typeface="Lato"/>
              <a:buChar char="●"/>
            </a:pPr>
            <a:r>
              <a:rPr b="0" lang="el" sz="1710" spc="-1" strike="noStrike">
                <a:solidFill>
                  <a:schemeClr val="accent1"/>
                </a:solidFill>
                <a:latin typeface="Lato"/>
                <a:ea typeface="Lato"/>
              </a:rPr>
              <a:t>The Fork system call is used for </a:t>
            </a:r>
            <a:r>
              <a:rPr b="1" lang="el" sz="1710" spc="-1" strike="noStrike">
                <a:solidFill>
                  <a:schemeClr val="accent1"/>
                </a:solidFill>
                <a:latin typeface="Lato"/>
                <a:ea typeface="Lato"/>
              </a:rPr>
              <a:t>creating a new process</a:t>
            </a:r>
            <a:r>
              <a:rPr b="0" lang="el" sz="1710" spc="-1" strike="noStrike">
                <a:solidFill>
                  <a:schemeClr val="accent1"/>
                </a:solidFill>
                <a:latin typeface="Lato"/>
                <a:ea typeface="Lato"/>
              </a:rPr>
              <a:t> in Linux, and Unix systems, which is called the child process.</a:t>
            </a:r>
            <a:endParaRPr b="0" lang="en-US" sz="1710" spc="-1" strike="noStrike">
              <a:solidFill>
                <a:srgbClr val="000000"/>
              </a:solidFill>
              <a:latin typeface="Arial"/>
            </a:endParaRPr>
          </a:p>
          <a:p>
            <a:pPr marL="457200" indent="-337680">
              <a:lnSpc>
                <a:spcPct val="115000"/>
              </a:lnSpc>
              <a:buClr>
                <a:srgbClr val="595959"/>
              </a:buClr>
              <a:buFont typeface="Lato"/>
              <a:buChar char="●"/>
            </a:pPr>
            <a:r>
              <a:rPr b="0" lang="el" sz="1710" spc="-1" strike="noStrike">
                <a:solidFill>
                  <a:schemeClr val="accent1"/>
                </a:solidFill>
                <a:latin typeface="Lato"/>
                <a:ea typeface="Lato"/>
              </a:rPr>
              <a:t>The child process runs </a:t>
            </a:r>
            <a:r>
              <a:rPr b="1" lang="el" sz="1710" spc="-1" strike="noStrike">
                <a:solidFill>
                  <a:schemeClr val="accent1"/>
                </a:solidFill>
                <a:latin typeface="Lato"/>
                <a:ea typeface="Lato"/>
              </a:rPr>
              <a:t>concurrently</a:t>
            </a:r>
            <a:r>
              <a:rPr b="0" lang="el" sz="1710" spc="-1" strike="noStrike">
                <a:solidFill>
                  <a:schemeClr val="accent1"/>
                </a:solidFill>
                <a:latin typeface="Lato"/>
                <a:ea typeface="Lato"/>
              </a:rPr>
              <a:t> with the process that makes the fork() call (parent process).</a:t>
            </a:r>
            <a:endParaRPr b="0" lang="en-US" sz="1710" spc="-1" strike="noStrike">
              <a:solidFill>
                <a:srgbClr val="000000"/>
              </a:solidFill>
              <a:latin typeface="Arial"/>
            </a:endParaRPr>
          </a:p>
          <a:p>
            <a:pPr marL="457200" indent="-337680">
              <a:lnSpc>
                <a:spcPct val="115000"/>
              </a:lnSpc>
              <a:buClr>
                <a:srgbClr val="595959"/>
              </a:buClr>
              <a:buFont typeface="Lato"/>
              <a:buChar char="●"/>
            </a:pPr>
            <a:r>
              <a:rPr b="0" lang="el" sz="1710" spc="-1" strike="noStrike">
                <a:solidFill>
                  <a:schemeClr val="accent1"/>
                </a:solidFill>
                <a:latin typeface="Lato"/>
                <a:ea typeface="Lato"/>
              </a:rPr>
              <a:t>After a new child process is created, </a:t>
            </a:r>
            <a:r>
              <a:rPr b="1" lang="el" sz="1710" spc="-1" strike="noStrike">
                <a:solidFill>
                  <a:schemeClr val="accent1"/>
                </a:solidFill>
                <a:latin typeface="Lato"/>
                <a:ea typeface="Lato"/>
              </a:rPr>
              <a:t>both processes will execute the next instruction</a:t>
            </a:r>
            <a:r>
              <a:rPr b="0" lang="el" sz="1710" spc="-1" strike="noStrike">
                <a:solidFill>
                  <a:schemeClr val="accent1"/>
                </a:solidFill>
                <a:latin typeface="Lato"/>
                <a:ea typeface="Lato"/>
              </a:rPr>
              <a:t> following the fork() system call.</a:t>
            </a:r>
            <a:endParaRPr b="0" lang="en-US" sz="1710" spc="-1" strike="noStrike">
              <a:solidFill>
                <a:srgbClr val="000000"/>
              </a:solidFill>
              <a:latin typeface="Arial"/>
            </a:endParaRPr>
          </a:p>
          <a:p>
            <a:pPr marL="457200" indent="-337680">
              <a:lnSpc>
                <a:spcPct val="115000"/>
              </a:lnSpc>
              <a:buClr>
                <a:srgbClr val="595959"/>
              </a:buClr>
              <a:buFont typeface="Lato"/>
              <a:buChar char="●"/>
            </a:pPr>
            <a:r>
              <a:rPr b="0" lang="el" sz="1710" spc="-1" strike="noStrike">
                <a:solidFill>
                  <a:schemeClr val="accent1"/>
                </a:solidFill>
                <a:latin typeface="Lato"/>
                <a:ea typeface="Lato"/>
              </a:rPr>
              <a:t>The child process uses the </a:t>
            </a:r>
            <a:r>
              <a:rPr b="1" lang="el" sz="1710" spc="-1" strike="noStrike">
                <a:solidFill>
                  <a:schemeClr val="accent1"/>
                </a:solidFill>
                <a:latin typeface="Lato"/>
                <a:ea typeface="Lato"/>
              </a:rPr>
              <a:t>same pc</a:t>
            </a:r>
            <a:r>
              <a:rPr b="0" lang="el" sz="1710" spc="-1" strike="noStrike">
                <a:solidFill>
                  <a:schemeClr val="accent1"/>
                </a:solidFill>
                <a:latin typeface="Lato"/>
                <a:ea typeface="Lato"/>
              </a:rPr>
              <a:t> (program counter), </a:t>
            </a:r>
            <a:r>
              <a:rPr b="1" lang="el" sz="1710" spc="-1" strike="noStrike">
                <a:solidFill>
                  <a:schemeClr val="accent1"/>
                </a:solidFill>
                <a:latin typeface="Lato"/>
                <a:ea typeface="Lato"/>
              </a:rPr>
              <a:t>same CPU registers</a:t>
            </a:r>
            <a:r>
              <a:rPr b="0" lang="el" sz="1710" spc="-1" strike="noStrike">
                <a:solidFill>
                  <a:schemeClr val="accent1"/>
                </a:solidFill>
                <a:latin typeface="Lato"/>
                <a:ea typeface="Lato"/>
              </a:rPr>
              <a:t>, and </a:t>
            </a:r>
            <a:r>
              <a:rPr b="1" lang="el" sz="1710" spc="-1" strike="noStrike">
                <a:solidFill>
                  <a:schemeClr val="accent1"/>
                </a:solidFill>
                <a:latin typeface="Lato"/>
                <a:ea typeface="Lato"/>
              </a:rPr>
              <a:t>same open files</a:t>
            </a:r>
            <a:r>
              <a:rPr b="0" lang="el" sz="1710" spc="-1" strike="noStrike">
                <a:solidFill>
                  <a:schemeClr val="accent1"/>
                </a:solidFill>
                <a:latin typeface="Lato"/>
                <a:ea typeface="Lato"/>
              </a:rPr>
              <a:t> which use in the parent process. It takes no parameters and returns an integer value.</a:t>
            </a:r>
            <a:endParaRPr b="0" lang="en-US" sz="1710" spc="-1" strike="noStrike">
              <a:solidFill>
                <a:srgbClr val="000000"/>
              </a:solidFill>
              <a:latin typeface="Arial"/>
            </a:endParaRPr>
          </a:p>
        </p:txBody>
      </p:sp>
      <p:sp>
        <p:nvSpPr>
          <p:cNvPr id="184" name="PlaceHolder 3"/>
          <p:cNvSpPr>
            <a:spLocks noGrp="1"/>
          </p:cNvSpPr>
          <p:nvPr>
            <p:ph type="sldNum" idx="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F83C22C-421A-40AE-9040-DAFF06D5A786}" type="slidenum">
              <a:rPr b="0" lang="el" sz="1000" spc="-1" strike="noStrike">
                <a:solidFill>
                  <a:schemeClr val="accent1"/>
                </a:solidFill>
                <a:latin typeface="Lato"/>
                <a:ea typeface="Lato"/>
              </a:rPr>
              <a:t>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1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1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183">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 Simple Fork / What Will This Print?</a:t>
            </a:r>
            <a:endParaRPr b="0" lang="en-US" sz="2600" spc="-1" strike="noStrike">
              <a:solidFill>
                <a:srgbClr val="000000"/>
              </a:solidFill>
              <a:latin typeface="Arial"/>
            </a:endParaRPr>
          </a:p>
        </p:txBody>
      </p:sp>
      <p:sp>
        <p:nvSpPr>
          <p:cNvPr id="186" name="PlaceHolder 2"/>
          <p:cNvSpPr>
            <a:spLocks noGrp="1"/>
          </p:cNvSpPr>
          <p:nvPr>
            <p:ph/>
          </p:nvPr>
        </p:nvSpPr>
        <p:spPr>
          <a:xfrm>
            <a:off x="729360" y="1378080"/>
            <a:ext cx="7688520" cy="3512880"/>
          </a:xfrm>
          <a:prstGeom prst="rect">
            <a:avLst/>
          </a:prstGeom>
          <a:noFill/>
          <a:ln w="0">
            <a:noFill/>
          </a:ln>
        </p:spPr>
        <p:txBody>
          <a:bodyPr tIns="91440" bIns="91440" anchor="t">
            <a:normAutofit fontScale="97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source/fork_001.c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fork this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&lt;</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 In case of failure..</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"fork fail"</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print an error</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and exit with statuscode == 1</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Otherwise print a relevant message</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"process_id(pid) =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getpid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187" name="PlaceHolder 3"/>
          <p:cNvSpPr>
            <a:spLocks noGrp="1"/>
          </p:cNvSpPr>
          <p:nvPr>
            <p:ph type="sldNum" idx="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AE0F6CE-5DC1-4EF3-A325-C3E714639FE6}" type="slidenum">
              <a:rPr b="0" lang="el" sz="1000" spc="-1" strike="noStrike">
                <a:solidFill>
                  <a:schemeClr val="accent1"/>
                </a:solidFill>
                <a:latin typeface="Lato"/>
                <a:ea typeface="Lato"/>
              </a:rPr>
              <a:t>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189"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source/fork_002.c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"Linux are awesome!</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190" name="PlaceHolder 3"/>
          <p:cNvSpPr>
            <a:spLocks noGrp="1"/>
          </p:cNvSpPr>
          <p:nvPr>
            <p:ph type="sldNum" idx="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F210E17-7728-41F4-B0CF-ECA6765C775C}" type="slidenum">
              <a:rPr b="0" lang="el" sz="1000" spc="-1" strike="noStrike">
                <a:solidFill>
                  <a:schemeClr val="accent1"/>
                </a:solidFill>
                <a:latin typeface="Lato"/>
                <a:ea typeface="Lato"/>
              </a:rPr>
              <a:t>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192"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source/fork_003.c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"Linux are awesome!</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193" name="PlaceHolder 3"/>
          <p:cNvSpPr>
            <a:spLocks noGrp="1"/>
          </p:cNvSpPr>
          <p:nvPr>
            <p:ph type="sldNum" idx="1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53B1434-4828-431D-AADD-3AA75DD8944B}" type="slidenum">
              <a:rPr b="0" lang="el" sz="1000" spc="-1" strike="noStrike">
                <a:solidFill>
                  <a:schemeClr val="accent1"/>
                </a:solidFill>
                <a:latin typeface="Lato"/>
                <a:ea typeface="Lato"/>
              </a:rPr>
              <a:t>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195" name="PlaceHolder 2"/>
          <p:cNvSpPr>
            <a:spLocks noGrp="1"/>
          </p:cNvSpPr>
          <p:nvPr>
            <p:ph/>
          </p:nvPr>
        </p:nvSpPr>
        <p:spPr>
          <a:xfrm>
            <a:off x="729360" y="1378080"/>
            <a:ext cx="7688520" cy="352008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source/fork_004.c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196" name="PlaceHolder 3"/>
          <p:cNvSpPr>
            <a:spLocks noGrp="1"/>
          </p:cNvSpPr>
          <p:nvPr>
            <p:ph type="sldNum" idx="1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E677AE0-BE0B-406A-BD5A-13670BE2C648}" type="slidenum">
              <a:rPr b="0" lang="el" sz="1000" spc="-1" strike="noStrike">
                <a:solidFill>
                  <a:schemeClr val="accent1"/>
                </a:solidFill>
                <a:latin typeface="Lato"/>
                <a:ea typeface="Lato"/>
              </a:rPr>
              <a:t>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Copy–On–Write (COW)</a:t>
            </a:r>
            <a:endParaRPr b="0" lang="en-US" sz="2600" spc="-1" strike="noStrike">
              <a:solidFill>
                <a:srgbClr val="000000"/>
              </a:solidFill>
              <a:latin typeface="Arial"/>
            </a:endParaRPr>
          </a:p>
        </p:txBody>
      </p:sp>
      <p:sp>
        <p:nvSpPr>
          <p:cNvPr id="198" name="PlaceHolder 2"/>
          <p:cNvSpPr>
            <a:spLocks noGrp="1"/>
          </p:cNvSpPr>
          <p:nvPr>
            <p:ph/>
          </p:nvPr>
        </p:nvSpPr>
        <p:spPr>
          <a:xfrm>
            <a:off x="729360" y="1378080"/>
            <a:ext cx="7688520" cy="344808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This should print something like:</a:t>
            </a:r>
            <a:endParaRPr b="0" lang="en-US" sz="1600" spc="-1" strike="noStrike">
              <a:solidFill>
                <a:srgbClr val="000000"/>
              </a:solidFill>
              <a:latin typeface="Arial"/>
            </a:endParaRPr>
          </a:p>
          <a:p>
            <a:pPr indent="0">
              <a:lnSpc>
                <a:spcPct val="115000"/>
              </a:lnSpc>
              <a:spcBef>
                <a:spcPts val="1199"/>
              </a:spcBef>
              <a:buNone/>
              <a:tabLst>
                <a:tab algn="l" pos="0"/>
              </a:tabLst>
            </a:pPr>
            <a:r>
              <a:rPr b="0" lang="el" sz="1600" spc="-1" strike="noStrike">
                <a:solidFill>
                  <a:schemeClr val="accent1"/>
                </a:solidFill>
                <a:latin typeface="Lato"/>
                <a:ea typeface="Lato"/>
              </a:rPr>
              <a:t>c == 0</a:t>
            </a:r>
            <a:br>
              <a:rPr sz="1600"/>
            </a:br>
            <a:r>
              <a:rPr b="0" lang="el" sz="1600" spc="-1" strike="noStrike">
                <a:solidFill>
                  <a:schemeClr val="accent1"/>
                </a:solidFill>
                <a:latin typeface="Lato"/>
                <a:ea typeface="Lato"/>
              </a:rPr>
              <a:t>c == 1</a:t>
            </a:r>
            <a:br>
              <a:rPr sz="1600"/>
            </a:br>
            <a:r>
              <a:rPr b="0" lang="el" sz="1600" spc="-1" strike="noStrike">
                <a:solidFill>
                  <a:schemeClr val="accent1"/>
                </a:solidFill>
                <a:latin typeface="Lato"/>
                <a:ea typeface="Lato"/>
              </a:rPr>
              <a:t>c == 1</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Forked processes share resources under the Copy–On–Write (COW) semantics.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That is, any already existing resources are copied to the forked processes </a:t>
            </a:r>
            <a:r>
              <a:rPr b="1" lang="el" sz="1600" spc="-1" strike="noStrike">
                <a:solidFill>
                  <a:schemeClr val="accent1"/>
                </a:solidFill>
                <a:latin typeface="Lato"/>
                <a:ea typeface="Lato"/>
              </a:rPr>
              <a:t>when needed</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So, in the above example, c is copied to the forked process when we need to process it, i.e., when we need to compute c++.</a:t>
            </a:r>
            <a:endParaRPr b="0" lang="en-US" sz="1600" spc="-1" strike="noStrike">
              <a:solidFill>
                <a:srgbClr val="000000"/>
              </a:solidFill>
              <a:latin typeface="Arial"/>
            </a:endParaRPr>
          </a:p>
        </p:txBody>
      </p:sp>
      <p:sp>
        <p:nvSpPr>
          <p:cNvPr id="199" name="PlaceHolder 3"/>
          <p:cNvSpPr>
            <a:spLocks noGrp="1"/>
          </p:cNvSpPr>
          <p:nvPr>
            <p:ph type="sldNum" idx="1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9B69FDD-109B-4866-BCDB-DCFD69465544}" type="slidenum">
              <a:rPr b="0" lang="el" sz="1000" spc="-1" strike="noStrike">
                <a:solidFill>
                  <a:schemeClr val="accent1"/>
                </a:solidFill>
                <a:latin typeface="Lato"/>
                <a:ea typeface="Lato"/>
              </a:rPr>
              <a:t>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9" dur="indefinite" restart="never" nodeType="tmRoot">
          <p:childTnLst>
            <p:seq>
              <p:cTn id="20" dur="indefinite" nodeType="mainSeq">
                <p:childTnLst>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198">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198">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nodeType="clickEffect" fill="hold" presetClass="entr" presetID="1">
                                  <p:stCondLst>
                                    <p:cond delay="0"/>
                                  </p:stCondLst>
                                  <p:childTnLst>
                                    <p:set>
                                      <p:cBhvr>
                                        <p:cTn id="32" dur="1" fill="hold">
                                          <p:stCondLst>
                                            <p:cond delay="0"/>
                                          </p:stCondLst>
                                        </p:cTn>
                                        <p:tgtEl>
                                          <p:spTgt spid="198">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nodeType="clickEffect" fill="hold" presetClass="entr" presetID="1">
                                  <p:stCondLst>
                                    <p:cond delay="0"/>
                                  </p:stCondLst>
                                  <p:childTnLst>
                                    <p:set>
                                      <p:cBhvr>
                                        <p:cTn id="36" dur="1" fill="hold">
                                          <p:stCondLst>
                                            <p:cond delay="0"/>
                                          </p:stCondLst>
                                        </p:cTn>
                                        <p:tgtEl>
                                          <p:spTgt spid="198">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nodeType="clickEffect" fill="hold" presetClass="entr" presetID="1">
                                  <p:stCondLst>
                                    <p:cond delay="0"/>
                                  </p:stCondLst>
                                  <p:childTnLst>
                                    <p:set>
                                      <p:cBhvr>
                                        <p:cTn id="40" dur="1" fill="hold">
                                          <p:stCondLst>
                                            <p:cond delay="0"/>
                                          </p:stCondLst>
                                        </p:cTn>
                                        <p:tgtEl>
                                          <p:spTgt spid="198">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201"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source/fork_005.c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02" name="PlaceHolder 3"/>
          <p:cNvSpPr>
            <a:spLocks noGrp="1"/>
          </p:cNvSpPr>
          <p:nvPr>
            <p:ph type="sldNum" idx="1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D3652AA-D2DF-4E8D-9053-B351EFE15F0A}" type="slidenum">
              <a:rPr b="0" lang="el" sz="1000" spc="-1" strike="noStrike">
                <a:solidFill>
                  <a:schemeClr val="accent1"/>
                </a:solidFill>
                <a:latin typeface="Lato"/>
                <a:ea typeface="Lato"/>
              </a:rPr>
              <a:t>10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204" name="PlaceHolder 2"/>
          <p:cNvSpPr>
            <a:spLocks noGrp="1"/>
          </p:cNvSpPr>
          <p:nvPr>
            <p:ph/>
          </p:nvPr>
        </p:nvSpPr>
        <p:spPr>
          <a:xfrm>
            <a:off x="729360" y="1378080"/>
            <a:ext cx="7688520" cy="3764880"/>
          </a:xfrm>
          <a:prstGeom prst="rect">
            <a:avLst/>
          </a:prstGeom>
          <a:noFill/>
          <a:ln w="0">
            <a:noFill/>
          </a:ln>
        </p:spPr>
        <p:txBody>
          <a:bodyPr tIns="91440" bIns="91440" anchor="t">
            <a:normAutofit fontScale="79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source/fork_006.c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void</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foo</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&lt;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"Failure"</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"Child!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"Parent!</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foo</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05" name="PlaceHolder 3"/>
          <p:cNvSpPr>
            <a:spLocks noGrp="1"/>
          </p:cNvSpPr>
          <p:nvPr>
            <p:ph type="sldNum" idx="1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03001BE-79A7-4BC6-BD90-70F9B44C9D0B}" type="slidenum">
              <a:rPr b="0" lang="el" sz="1000" spc="-1" strike="noStrike">
                <a:solidFill>
                  <a:schemeClr val="accent1"/>
                </a:solidFill>
                <a:latin typeface="Lato"/>
                <a:ea typeface="Lato"/>
              </a:rPr>
              <a:t>11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207" name="PlaceHolder 2"/>
          <p:cNvSpPr>
            <a:spLocks noGrp="1"/>
          </p:cNvSpPr>
          <p:nvPr>
            <p:ph/>
          </p:nvPr>
        </p:nvSpPr>
        <p:spPr>
          <a:xfrm>
            <a:off x="729360" y="1378080"/>
            <a:ext cx="7688520" cy="3765240"/>
          </a:xfrm>
          <a:prstGeom prst="rect">
            <a:avLst/>
          </a:prstGeom>
          <a:noFill/>
          <a:ln w="0">
            <a:noFill/>
          </a:ln>
        </p:spPr>
        <p:txBody>
          <a:bodyPr tIns="91440" bIns="91440" anchor="t">
            <a:normAutofit fontScale="79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source/fork_007.c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void</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foo</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&lt;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"fork fail"</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"Child x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"Parent x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foo</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08" name="PlaceHolder 3"/>
          <p:cNvSpPr>
            <a:spLocks noGrp="1"/>
          </p:cNvSpPr>
          <p:nvPr>
            <p:ph type="sldNum" idx="1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2227360-6608-423B-88D5-CF48488F8493}" type="slidenum">
              <a:rPr b="0" lang="el" sz="1000" spc="-1" strike="noStrike">
                <a:solidFill>
                  <a:schemeClr val="accent1"/>
                </a:solidFill>
                <a:latin typeface="Lato"/>
                <a:ea typeface="Lato"/>
              </a:rPr>
              <a:t>12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Why Use Forks</a:t>
            </a:r>
            <a:endParaRPr b="0" lang="en-US" sz="2600" spc="-1" strike="noStrike">
              <a:solidFill>
                <a:srgbClr val="000000"/>
              </a:solidFill>
              <a:latin typeface="Arial"/>
            </a:endParaRPr>
          </a:p>
        </p:txBody>
      </p:sp>
      <p:sp>
        <p:nvSpPr>
          <p:cNvPr id="210"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Process isolation.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Parallelism / Concurrency.</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Modular design → child processes </a:t>
            </a:r>
            <a:r>
              <a:rPr b="0" lang="el" sz="1600" spc="-1" strike="noStrike">
                <a:solidFill>
                  <a:schemeClr val="accent1"/>
                </a:solidFill>
                <a:latin typeface="Lato"/>
                <a:ea typeface="Lato"/>
              </a:rPr>
              <a:t>take up certain tasks, potentially </a:t>
            </a:r>
            <a:r>
              <a:rPr b="0" lang="el" sz="1600" spc="-1" strike="noStrike">
                <a:solidFill>
                  <a:schemeClr val="accent1"/>
                </a:solidFill>
                <a:latin typeface="Lato"/>
                <a:ea typeface="Lato"/>
              </a:rPr>
              <a:t>different from their parents, siblings, </a:t>
            </a:r>
            <a:r>
              <a:rPr b="0" lang="el" sz="1600" spc="-1" strike="noStrike">
                <a:solidFill>
                  <a:schemeClr val="accent1"/>
                </a:solidFill>
                <a:latin typeface="Lato"/>
                <a:ea typeface="Lato"/>
              </a:rPr>
              <a:t>etc.</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Hierarchical process design (parents, </a:t>
            </a:r>
            <a:r>
              <a:rPr b="0" lang="el" sz="1600" spc="-1" strike="noStrike">
                <a:solidFill>
                  <a:schemeClr val="accent1"/>
                </a:solidFill>
                <a:latin typeface="Lato"/>
                <a:ea typeface="Lato"/>
              </a:rPr>
              <a:t>children, grandchildren).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Take advantage of system utilities: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Frequently enough, system </a:t>
            </a:r>
            <a:r>
              <a:rPr b="0" lang="el" sz="1600" spc="-1" strike="noStrike">
                <a:solidFill>
                  <a:schemeClr val="accent1"/>
                </a:solidFill>
                <a:latin typeface="Lato"/>
                <a:ea typeface="Lato"/>
              </a:rPr>
              <a:t>daemons utilise forks to detach </a:t>
            </a:r>
            <a:r>
              <a:rPr b="0" lang="el" sz="1600" spc="-1" strike="noStrike">
                <a:solidFill>
                  <a:schemeClr val="accent1"/>
                </a:solidFill>
                <a:latin typeface="Lato"/>
                <a:ea typeface="Lato"/>
              </a:rPr>
              <a:t>themselves from the main </a:t>
            </a:r>
            <a:r>
              <a:rPr b="0" lang="el" sz="1600" spc="-1" strike="noStrike">
                <a:solidFill>
                  <a:schemeClr val="accent1"/>
                </a:solidFill>
                <a:latin typeface="Lato"/>
                <a:ea typeface="Lato"/>
              </a:rPr>
              <a:t>thread and run in the </a:t>
            </a:r>
            <a:r>
              <a:rPr b="0" lang="el" sz="1600" spc="-1" strike="noStrike">
                <a:solidFill>
                  <a:schemeClr val="accent1"/>
                </a:solidFill>
                <a:latin typeface="Lato"/>
                <a:ea typeface="Lato"/>
              </a:rPr>
              <a:t>background.</a:t>
            </a:r>
            <a:endParaRPr b="0" lang="en-US" sz="1600" spc="-1" strike="noStrike">
              <a:solidFill>
                <a:srgbClr val="000000"/>
              </a:solidFill>
              <a:latin typeface="Arial"/>
            </a:endParaRPr>
          </a:p>
        </p:txBody>
      </p:sp>
      <p:sp>
        <p:nvSpPr>
          <p:cNvPr id="211" name="PlaceHolder 3"/>
          <p:cNvSpPr>
            <a:spLocks noGrp="1"/>
          </p:cNvSpPr>
          <p:nvPr>
            <p:ph type="sldNum" idx="1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AD5838B-CD6B-4124-BDF0-98FE5F934DD2}" type="slidenum">
              <a:rPr b="0" lang="el" sz="1000" spc="-1" strike="noStrike">
                <a:solidFill>
                  <a:schemeClr val="accent1"/>
                </a:solidFill>
                <a:latin typeface="Lato"/>
                <a:ea typeface="Lato"/>
              </a:rPr>
              <a:t>13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execl()</a:t>
            </a:r>
            <a:endParaRPr b="0" lang="en-US" sz="2600" spc="-1" strike="noStrike">
              <a:solidFill>
                <a:srgbClr val="000000"/>
              </a:solidFill>
              <a:latin typeface="Arial"/>
            </a:endParaRPr>
          </a:p>
        </p:txBody>
      </p:sp>
      <p:sp>
        <p:nvSpPr>
          <p:cNvPr id="213"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The execl() function is used to replace the currently running process with     </a:t>
            </a:r>
            <a:r>
              <a:rPr b="0" lang="el" sz="1600" spc="-1" strike="noStrike">
                <a:solidFill>
                  <a:schemeClr val="accent1"/>
                </a:solidFill>
                <a:latin typeface="Lato"/>
                <a:ea typeface="Lato"/>
              </a:rPr>
              <a:t>	</a:t>
            </a:r>
            <a:r>
              <a:rPr b="0" lang="el" sz="1600" spc="-1" strike="noStrike">
                <a:solidFill>
                  <a:schemeClr val="accent1"/>
                </a:solidFill>
                <a:latin typeface="Lato"/>
                <a:ea typeface="Lato"/>
              </a:rPr>
              <a:t>another process.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When the running process calls the execl() function, its process image gets overwritten with the process specified within the execl() function.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Syntax:</a:t>
            </a:r>
            <a:endParaRPr b="0" lang="en-US" sz="1600" spc="-1" strike="noStrike">
              <a:solidFill>
                <a:srgbClr val="000000"/>
              </a:solidFill>
              <a:latin typeface="Arial"/>
            </a:endParaRPr>
          </a:p>
          <a:p>
            <a:pPr indent="0" algn="ctr">
              <a:lnSpc>
                <a:spcPct val="115000"/>
              </a:lnSpc>
              <a:spcBef>
                <a:spcPts val="1199"/>
              </a:spcBef>
              <a:spcAft>
                <a:spcPts val="1199"/>
              </a:spcAft>
              <a:buNone/>
              <a:tabLst>
                <a:tab algn="l" pos="0"/>
              </a:tabLst>
            </a:pPr>
            <a:r>
              <a:rPr b="0" lang="el" sz="1600" spc="-1" strike="noStrike">
                <a:solidFill>
                  <a:schemeClr val="accent1"/>
                </a:solidFill>
                <a:latin typeface="Consolas"/>
                <a:ea typeface="Consolas"/>
              </a:rPr>
              <a:t>int execl (const char *Path, const char *Argument0, const char *Argument1, ... , NULL);</a:t>
            </a:r>
            <a:endParaRPr b="0" lang="en-US" sz="1600" spc="-1" strike="noStrike">
              <a:solidFill>
                <a:srgbClr val="000000"/>
              </a:solidFill>
              <a:latin typeface="Arial"/>
            </a:endParaRPr>
          </a:p>
        </p:txBody>
      </p:sp>
      <p:sp>
        <p:nvSpPr>
          <p:cNvPr id="214" name="PlaceHolder 3"/>
          <p:cNvSpPr>
            <a:spLocks noGrp="1"/>
          </p:cNvSpPr>
          <p:nvPr>
            <p:ph type="sldNum" idx="1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27D22E6-B359-4A0A-989A-1C8C24BF8AC5}" type="slidenum">
              <a:rPr b="0" lang="el" sz="1000" spc="-1" strike="noStrike">
                <a:solidFill>
                  <a:schemeClr val="accent1"/>
                </a:solidFill>
                <a:latin typeface="Lato"/>
                <a:ea typeface="Lato"/>
              </a:rPr>
              <a:t>14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41" dur="indefinite" restart="never" nodeType="tmRoot">
          <p:childTnLst>
            <p:seq>
              <p:cTn id="42" dur="indefinite" nodeType="mainSeq">
                <p:childTnLst>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21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1">
                                  <p:stCondLst>
                                    <p:cond delay="0"/>
                                  </p:stCondLst>
                                  <p:childTnLst>
                                    <p:set>
                                      <p:cBhvr>
                                        <p:cTn id="50" dur="1" fill="hold">
                                          <p:stCondLst>
                                            <p:cond delay="0"/>
                                          </p:stCondLst>
                                        </p:cTn>
                                        <p:tgtEl>
                                          <p:spTgt spid="213">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213">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nodeType="clickEffect" fill="hold" presetClass="entr" presetID="1">
                                  <p:stCondLst>
                                    <p:cond delay="0"/>
                                  </p:stCondLst>
                                  <p:childTnLst>
                                    <p:set>
                                      <p:cBhvr>
                                        <p:cTn id="58" dur="1" fill="hold">
                                          <p:stCondLst>
                                            <p:cond delay="0"/>
                                          </p:stCondLst>
                                        </p:cTn>
                                        <p:tgtEl>
                                          <p:spTgt spid="213">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execl() Arguments</a:t>
            </a:r>
            <a:endParaRPr b="0" lang="en-US" sz="2600" spc="-1" strike="noStrike">
              <a:solidFill>
                <a:srgbClr val="000000"/>
              </a:solidFill>
              <a:latin typeface="Arial"/>
            </a:endParaRPr>
          </a:p>
        </p:txBody>
      </p:sp>
      <p:sp>
        <p:nvSpPr>
          <p:cNvPr id="216"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Path:</a:t>
            </a:r>
            <a:r>
              <a:rPr b="0" lang="el" sz="1600" spc="-1" strike="noStrike">
                <a:solidFill>
                  <a:schemeClr val="accent1"/>
                </a:solidFill>
                <a:latin typeface="Lato"/>
                <a:ea typeface="Lato"/>
              </a:rPr>
              <a:t> This represents the path to the binary file or program we want to run instead of the current process. The path to the program must be an absolute path instead of a relative one.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Argument list:</a:t>
            </a:r>
            <a:r>
              <a:rPr b="0" lang="el" sz="1600" spc="-1" strike="noStrike">
                <a:solidFill>
                  <a:schemeClr val="accent1"/>
                </a:solidFill>
                <a:latin typeface="Lato"/>
                <a:ea typeface="Lato"/>
              </a:rPr>
              <a:t> Any arguments we want to pass on to the program should be       included in the function as char pointers separated by commas. In the syntax, we only passed two arguments, Argument0 and Argument1. However, we can pass as many arguments as we deem necessary.</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NULL:</a:t>
            </a:r>
            <a:r>
              <a:rPr b="0" lang="el" sz="1600" spc="-1" strike="noStrike">
                <a:solidFill>
                  <a:schemeClr val="accent1"/>
                </a:solidFill>
                <a:latin typeface="Lato"/>
                <a:ea typeface="Lato"/>
              </a:rPr>
              <a:t> At the end of the function, we will always use NULL to represent the end of the arguments.</a:t>
            </a:r>
            <a:endParaRPr b="0" lang="en-US" sz="1600" spc="-1" strike="noStrike">
              <a:solidFill>
                <a:srgbClr val="000000"/>
              </a:solidFill>
              <a:latin typeface="Arial"/>
            </a:endParaRPr>
          </a:p>
        </p:txBody>
      </p:sp>
      <p:sp>
        <p:nvSpPr>
          <p:cNvPr id="217" name="PlaceHolder 3"/>
          <p:cNvSpPr>
            <a:spLocks noGrp="1"/>
          </p:cNvSpPr>
          <p:nvPr>
            <p:ph type="sldNum" idx="1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20E6687-769F-445E-A732-22AB18060B4C}" type="slidenum">
              <a:rPr b="0" lang="el" sz="1000" spc="-1" strike="noStrike">
                <a:solidFill>
                  <a:schemeClr val="accent1"/>
                </a:solidFill>
                <a:latin typeface="Lato"/>
                <a:ea typeface="Lato"/>
              </a:rPr>
              <a:t>15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59" dur="indefinite" restart="never" nodeType="tmRoot">
          <p:childTnLst>
            <p:seq>
              <p:cTn id="60" dur="indefinite" nodeType="mainSeq">
                <p:childTnLst>
                  <p:par>
                    <p:cTn id="61" fill="hold">
                      <p:stCondLst>
                        <p:cond delay="indefinite"/>
                      </p:stCondLst>
                      <p:childTnLst>
                        <p:par>
                          <p:cTn id="62" fill="hold">
                            <p:stCondLst>
                              <p:cond delay="0"/>
                            </p:stCondLst>
                            <p:childTnLst>
                              <p:par>
                                <p:cTn id="63" nodeType="clickEffect" fill="hold" presetClass="entr" presetID="1">
                                  <p:stCondLst>
                                    <p:cond delay="0"/>
                                  </p:stCondLst>
                                  <p:childTnLst>
                                    <p:set>
                                      <p:cBhvr>
                                        <p:cTn id="64" dur="1" fill="hold">
                                          <p:stCondLst>
                                            <p:cond delay="0"/>
                                          </p:stCondLst>
                                        </p:cTn>
                                        <p:tgtEl>
                                          <p:spTgt spid="216">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nodeType="clickEffect" fill="hold" presetClass="entr" presetID="1">
                                  <p:stCondLst>
                                    <p:cond delay="0"/>
                                  </p:stCondLst>
                                  <p:childTnLst>
                                    <p:set>
                                      <p:cBhvr>
                                        <p:cTn id="68" dur="1" fill="hold">
                                          <p:stCondLst>
                                            <p:cond delay="0"/>
                                          </p:stCondLst>
                                        </p:cTn>
                                        <p:tgtEl>
                                          <p:spTgt spid="216">
                                            <p:txEl>
                                              <p:pRg st="1" end="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nodeType="clickEffect" fill="hold" presetClass="entr" presetID="1">
                                  <p:stCondLst>
                                    <p:cond delay="0"/>
                                  </p:stCondLst>
                                  <p:childTnLst>
                                    <p:set>
                                      <p:cBhvr>
                                        <p:cTn id="72" dur="1" fill="hold">
                                          <p:stCondLst>
                                            <p:cond delay="0"/>
                                          </p:stCondLst>
                                        </p:cTn>
                                        <p:tgtEl>
                                          <p:spTgt spid="216">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execl() Output</a:t>
            </a:r>
            <a:endParaRPr b="0" lang="en-US" sz="2600" spc="-1" strike="noStrike">
              <a:solidFill>
                <a:srgbClr val="000000"/>
              </a:solidFill>
              <a:latin typeface="Arial"/>
            </a:endParaRPr>
          </a:p>
        </p:txBody>
      </p:sp>
      <p:sp>
        <p:nvSpPr>
          <p:cNvPr id="219"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-1 → Failure.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nothing → The calling process has entirely been overwritten by the new one.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BEWARE!</a:t>
            </a:r>
            <a:r>
              <a:rPr b="0" lang="el" sz="1600" spc="-1" strike="noStrike">
                <a:solidFill>
                  <a:schemeClr val="accent1"/>
                </a:solidFill>
                <a:latin typeface="Lato"/>
                <a:ea typeface="Lato"/>
              </a:rPr>
              <a:t> In case execl() does not fail no lines below it will execute, as the new process has entirely replaced the calling one.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In our case we used the “-c” parameter which is used to (reading from man sh):</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r>
              <a:rPr b="0" i="1" lang="el" sz="1600" spc="-1" strike="noStrike">
                <a:solidFill>
                  <a:schemeClr val="accent1"/>
                </a:solidFill>
                <a:latin typeface="Lato"/>
                <a:ea typeface="Lato"/>
              </a:rPr>
              <a:t>Read commands from the command_string operand instead of from the standard input. Special parameter 0 will be set from the command_name operand and the positional parameters ($1, $2, etc.) set from the remaining argument operands.</a:t>
            </a:r>
            <a:endParaRPr b="0" lang="en-US" sz="1600" spc="-1" strike="noStrike">
              <a:solidFill>
                <a:srgbClr val="000000"/>
              </a:solidFill>
              <a:latin typeface="Arial"/>
            </a:endParaRPr>
          </a:p>
        </p:txBody>
      </p:sp>
      <p:sp>
        <p:nvSpPr>
          <p:cNvPr id="220" name="PlaceHolder 3"/>
          <p:cNvSpPr>
            <a:spLocks noGrp="1"/>
          </p:cNvSpPr>
          <p:nvPr>
            <p:ph type="sldNum" idx="1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A0E9E88-4BD6-4585-B9A5-36A992FB7B2D}" type="slidenum">
              <a:rPr b="0" lang="el" sz="1000" spc="-1" strike="noStrike">
                <a:solidFill>
                  <a:schemeClr val="accent1"/>
                </a:solidFill>
                <a:latin typeface="Lato"/>
                <a:ea typeface="Lato"/>
              </a:rPr>
              <a:t>16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73" dur="indefinite" restart="never" nodeType="tmRoot">
          <p:childTnLst>
            <p:seq>
              <p:cTn id="74" dur="indefinite" nodeType="mainSeq">
                <p:childTnLst>
                  <p:par>
                    <p:cTn id="75" fill="hold">
                      <p:stCondLst>
                        <p:cond delay="indefinite"/>
                      </p:stCondLst>
                      <p:childTnLst>
                        <p:par>
                          <p:cTn id="76" fill="hold">
                            <p:stCondLst>
                              <p:cond delay="0"/>
                            </p:stCondLst>
                            <p:childTnLst>
                              <p:par>
                                <p:cTn id="77" nodeType="clickEffect" fill="hold" presetClass="entr" presetID="1">
                                  <p:stCondLst>
                                    <p:cond delay="0"/>
                                  </p:stCondLst>
                                  <p:childTnLst>
                                    <p:set>
                                      <p:cBhvr>
                                        <p:cTn id="78" dur="1" fill="hold">
                                          <p:stCondLst>
                                            <p:cond delay="0"/>
                                          </p:stCondLst>
                                        </p:cTn>
                                        <p:tgtEl>
                                          <p:spTgt spid="219">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nodeType="clickEffect" fill="hold" presetClass="entr" presetID="1">
                                  <p:stCondLst>
                                    <p:cond delay="0"/>
                                  </p:stCondLst>
                                  <p:childTnLst>
                                    <p:set>
                                      <p:cBhvr>
                                        <p:cTn id="82" dur="1" fill="hold">
                                          <p:stCondLst>
                                            <p:cond delay="0"/>
                                          </p:stCondLst>
                                        </p:cTn>
                                        <p:tgtEl>
                                          <p:spTgt spid="219">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nodeType="clickEffect" fill="hold" presetClass="entr" presetID="1">
                                  <p:stCondLst>
                                    <p:cond delay="0"/>
                                  </p:stCondLst>
                                  <p:childTnLst>
                                    <p:set>
                                      <p:cBhvr>
                                        <p:cTn id="86" dur="1" fill="hold">
                                          <p:stCondLst>
                                            <p:cond delay="0"/>
                                          </p:stCondLst>
                                        </p:cTn>
                                        <p:tgtEl>
                                          <p:spTgt spid="219">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nodeType="clickEffect" fill="hold" presetClass="entr" presetID="1">
                                  <p:stCondLst>
                                    <p:cond delay="0"/>
                                  </p:stCondLst>
                                  <p:childTnLst>
                                    <p:set>
                                      <p:cBhvr>
                                        <p:cTn id="90" dur="1" fill="hold">
                                          <p:stCondLst>
                                            <p:cond delay="0"/>
                                          </p:stCondLst>
                                        </p:cTn>
                                        <p:tgtEl>
                                          <p:spTgt spid="219">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nodeType="clickEffect" fill="hold" presetClass="entr" presetID="1">
                                  <p:stCondLst>
                                    <p:cond delay="0"/>
                                  </p:stCondLst>
                                  <p:childTnLst>
                                    <p:set>
                                      <p:cBhvr>
                                        <p:cTn id="94" dur="1" fill="hold">
                                          <p:stCondLst>
                                            <p:cond delay="0"/>
                                          </p:stCondLst>
                                        </p:cTn>
                                        <p:tgtEl>
                                          <p:spTgt spid="219">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222" name="PlaceHolder 2"/>
          <p:cNvSpPr>
            <a:spLocks noGrp="1"/>
          </p:cNvSpPr>
          <p:nvPr>
            <p:ph/>
          </p:nvPr>
        </p:nvSpPr>
        <p:spPr>
          <a:xfrm>
            <a:off x="729360" y="1378080"/>
            <a:ext cx="7688520" cy="352728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source/execl_001.c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display current process id</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Currently running process has PID: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getpid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error</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execl</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"/usr/bin/ps"</a:t>
            </a:r>
            <a:r>
              <a:rPr b="0" lang="el" sz="1050" spc="-1" strike="noStrike">
                <a:solidFill>
                  <a:srgbClr val="000000"/>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"ps"</a:t>
            </a:r>
            <a:r>
              <a:rPr b="0" lang="el" sz="1050" spc="-1" strike="noStrike">
                <a:solidFill>
                  <a:srgbClr val="000000"/>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There was an error during the execl function!</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23" name="PlaceHolder 3"/>
          <p:cNvSpPr>
            <a:spLocks noGrp="1"/>
          </p:cNvSpPr>
          <p:nvPr>
            <p:ph type="sldNum" idx="2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61685D5-DA65-4F4B-B976-E034119F8EF3}" type="slidenum">
              <a:rPr b="0" lang="el" sz="1000" spc="-1" strike="noStrike">
                <a:solidFill>
                  <a:schemeClr val="accent1"/>
                </a:solidFill>
                <a:latin typeface="Lato"/>
                <a:ea typeface="Lato"/>
              </a:rPr>
              <a:t>17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waitpid()</a:t>
            </a:r>
            <a:endParaRPr b="0" lang="en-US" sz="2600" spc="-1" strike="noStrike">
              <a:solidFill>
                <a:srgbClr val="000000"/>
              </a:solidFill>
              <a:latin typeface="Arial"/>
            </a:endParaRPr>
          </a:p>
        </p:txBody>
      </p:sp>
      <p:sp>
        <p:nvSpPr>
          <p:cNvPr id="225"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The waitpid() system call suspends execution of the calling process until a     </a:t>
            </a:r>
            <a:r>
              <a:rPr b="0" lang="el" sz="1600" spc="-1" strike="noStrike">
                <a:solidFill>
                  <a:schemeClr val="accent1"/>
                </a:solidFill>
                <a:latin typeface="Lato"/>
                <a:ea typeface="Lato"/>
              </a:rPr>
              <a:t>	</a:t>
            </a:r>
            <a:r>
              <a:rPr b="0" lang="el" sz="1600" spc="-1" strike="noStrike">
                <a:solidFill>
                  <a:schemeClr val="accent1"/>
                </a:solidFill>
                <a:latin typeface="Lato"/>
                <a:ea typeface="Lato"/>
              </a:rPr>
              <a:t>child specified by pid argument has changed state.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By default, waitpid() </a:t>
            </a:r>
            <a:r>
              <a:rPr b="0" lang="el" sz="1600" spc="-1" strike="noStrike">
                <a:solidFill>
                  <a:schemeClr val="accent1"/>
                </a:solidFill>
                <a:latin typeface="Lato"/>
                <a:ea typeface="Lato"/>
              </a:rPr>
              <a:t>	</a:t>
            </a:r>
            <a:r>
              <a:rPr b="0" lang="el" sz="1600" spc="-1" strike="noStrike">
                <a:solidFill>
                  <a:schemeClr val="accent1"/>
                </a:solidFill>
                <a:latin typeface="Lato"/>
                <a:ea typeface="Lato"/>
              </a:rPr>
              <a:t>waits only for terminated children, but this behavior is modifiable via the options argument.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Syntax: pid_t waitpid(pid_t pid, int *status, int options);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pid can be: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&lt; -1: Wait for any child process whose process group ID is equal to the absolute value of pid.</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-1: Wait for any child process.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0: Wait for any child process whose process group ID is equal to that of the calling process.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&gt; 0: Wait for the child whose process ID is equal to the value of pid.</a:t>
            </a:r>
            <a:endParaRPr b="0" lang="en-US" sz="1600" spc="-1" strike="noStrike">
              <a:solidFill>
                <a:srgbClr val="000000"/>
              </a:solidFill>
              <a:latin typeface="Arial"/>
            </a:endParaRPr>
          </a:p>
        </p:txBody>
      </p:sp>
      <p:sp>
        <p:nvSpPr>
          <p:cNvPr id="226" name="PlaceHolder 3"/>
          <p:cNvSpPr>
            <a:spLocks noGrp="1"/>
          </p:cNvSpPr>
          <p:nvPr>
            <p:ph type="sldNum" idx="2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3D1D53C-2EE0-4F83-80E5-0C2F24167BF8}" type="slidenum">
              <a:rPr b="0" lang="el" sz="1000" spc="-1" strike="noStrike">
                <a:solidFill>
                  <a:schemeClr val="accent1"/>
                </a:solidFill>
                <a:latin typeface="Lato"/>
                <a:ea typeface="Lato"/>
              </a:rPr>
              <a:t>18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95" dur="indefinite" restart="never" nodeType="tmRoot">
          <p:childTnLst>
            <p:seq>
              <p:cTn id="96" dur="indefinite" nodeType="mainSeq">
                <p:childTnLst>
                  <p:par>
                    <p:cTn id="97" fill="hold">
                      <p:stCondLst>
                        <p:cond delay="indefinite"/>
                      </p:stCondLst>
                      <p:childTnLst>
                        <p:par>
                          <p:cTn id="98" fill="hold">
                            <p:stCondLst>
                              <p:cond delay="0"/>
                            </p:stCondLst>
                            <p:childTnLst>
                              <p:par>
                                <p:cTn id="99" nodeType="clickEffect" fill="hold" presetClass="entr" presetID="1">
                                  <p:stCondLst>
                                    <p:cond delay="0"/>
                                  </p:stCondLst>
                                  <p:childTnLst>
                                    <p:set>
                                      <p:cBhvr>
                                        <p:cTn id="100" dur="1" fill="hold">
                                          <p:stCondLst>
                                            <p:cond delay="0"/>
                                          </p:stCondLst>
                                        </p:cTn>
                                        <p:tgtEl>
                                          <p:spTgt spid="225">
                                            <p:txEl>
                                              <p:pRg st="0" end="0"/>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nodeType="clickEffect" fill="hold" presetClass="entr" presetID="1">
                                  <p:stCondLst>
                                    <p:cond delay="0"/>
                                  </p:stCondLst>
                                  <p:childTnLst>
                                    <p:set>
                                      <p:cBhvr>
                                        <p:cTn id="104" dur="1" fill="hold">
                                          <p:stCondLst>
                                            <p:cond delay="0"/>
                                          </p:stCondLst>
                                        </p:cTn>
                                        <p:tgtEl>
                                          <p:spTgt spid="225">
                                            <p:txEl>
                                              <p:pRg st="1" end="1"/>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nodeType="clickEffect" fill="hold" presetClass="entr" presetID="1">
                                  <p:stCondLst>
                                    <p:cond delay="0"/>
                                  </p:stCondLst>
                                  <p:childTnLst>
                                    <p:set>
                                      <p:cBhvr>
                                        <p:cTn id="108" dur="1" fill="hold">
                                          <p:stCondLst>
                                            <p:cond delay="0"/>
                                          </p:stCondLst>
                                        </p:cTn>
                                        <p:tgtEl>
                                          <p:spTgt spid="225">
                                            <p:txEl>
                                              <p:pRg st="2" end="2"/>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nodeType="clickEffect" fill="hold" presetClass="entr" presetID="1">
                                  <p:stCondLst>
                                    <p:cond delay="0"/>
                                  </p:stCondLst>
                                  <p:childTnLst>
                                    <p:set>
                                      <p:cBhvr>
                                        <p:cTn id="112" dur="1" fill="hold">
                                          <p:stCondLst>
                                            <p:cond delay="0"/>
                                          </p:stCondLst>
                                        </p:cTn>
                                        <p:tgtEl>
                                          <p:spTgt spid="225">
                                            <p:txEl>
                                              <p:pRg st="3" end="3"/>
                                            </p:txEl>
                                          </p:spTgt>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nodeType="clickEffect" fill="hold" presetClass="entr" presetID="1">
                                  <p:stCondLst>
                                    <p:cond delay="0"/>
                                  </p:stCondLst>
                                  <p:childTnLst>
                                    <p:set>
                                      <p:cBhvr>
                                        <p:cTn id="116" dur="1" fill="hold">
                                          <p:stCondLst>
                                            <p:cond delay="0"/>
                                          </p:stCondLst>
                                        </p:cTn>
                                        <p:tgtEl>
                                          <p:spTgt spid="225">
                                            <p:txEl>
                                              <p:pRg st="4" end="4"/>
                                            </p:txEl>
                                          </p:spTgt>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nodeType="clickEffect" fill="hold" presetClass="entr" presetID="1">
                                  <p:stCondLst>
                                    <p:cond delay="0"/>
                                  </p:stCondLst>
                                  <p:childTnLst>
                                    <p:set>
                                      <p:cBhvr>
                                        <p:cTn id="120" dur="1" fill="hold">
                                          <p:stCondLst>
                                            <p:cond delay="0"/>
                                          </p:stCondLst>
                                        </p:cTn>
                                        <p:tgtEl>
                                          <p:spTgt spid="225">
                                            <p:txEl>
                                              <p:pRg st="5" end="5"/>
                                            </p:txEl>
                                          </p:spTgt>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nodeType="clickEffect" fill="hold" presetClass="entr" presetID="1">
                                  <p:stCondLst>
                                    <p:cond delay="0"/>
                                  </p:stCondLst>
                                  <p:childTnLst>
                                    <p:set>
                                      <p:cBhvr>
                                        <p:cTn id="124" dur="1" fill="hold">
                                          <p:stCondLst>
                                            <p:cond delay="0"/>
                                          </p:stCondLst>
                                        </p:cTn>
                                        <p:tgtEl>
                                          <p:spTgt spid="225">
                                            <p:txEl>
                                              <p:pRg st="6" end="6"/>
                                            </p:txEl>
                                          </p:spTgt>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nodeType="clickEffect" fill="hold" presetClass="entr" presetID="1">
                                  <p:stCondLst>
                                    <p:cond delay="0"/>
                                  </p:stCondLst>
                                  <p:childTnLst>
                                    <p:set>
                                      <p:cBhvr>
                                        <p:cTn id="128" dur="1" fill="hold">
                                          <p:stCondLst>
                                            <p:cond delay="0"/>
                                          </p:stCondLst>
                                        </p:cTn>
                                        <p:tgtEl>
                                          <p:spTgt spid="225">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waitpid() OPTIONS</a:t>
            </a:r>
            <a:endParaRPr b="0" lang="en-US" sz="2600" spc="-1" strike="noStrike">
              <a:solidFill>
                <a:srgbClr val="000000"/>
              </a:solidFill>
              <a:latin typeface="Arial"/>
            </a:endParaRPr>
          </a:p>
        </p:txBody>
      </p:sp>
      <p:sp>
        <p:nvSpPr>
          <p:cNvPr id="228"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The value of options is an OR of zero or more of the following constants: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WNOHANG: Return immediately if no child has exited.</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WUNTRACED: Also return if a child has stopped. Status for traced children which have stopped is provided even if this option is not specified.</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WCONTINUED: Also return if a stopped child has been resumed by delivery of SIGCONT.</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For more: man waitpid.</a:t>
            </a:r>
            <a:endParaRPr b="0" lang="en-US" sz="1600" spc="-1" strike="noStrike">
              <a:solidFill>
                <a:srgbClr val="000000"/>
              </a:solidFill>
              <a:latin typeface="Arial"/>
            </a:endParaRPr>
          </a:p>
        </p:txBody>
      </p:sp>
      <p:sp>
        <p:nvSpPr>
          <p:cNvPr id="229" name="PlaceHolder 3"/>
          <p:cNvSpPr>
            <a:spLocks noGrp="1"/>
          </p:cNvSpPr>
          <p:nvPr>
            <p:ph type="sldNum" idx="2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B74ABAA-0BA3-4EB5-8713-96C084092E49}" type="slidenum">
              <a:rPr b="0" lang="el" sz="1000" spc="-1" strike="noStrike">
                <a:solidFill>
                  <a:schemeClr val="accent1"/>
                </a:solidFill>
                <a:latin typeface="Lato"/>
                <a:ea typeface="Lato"/>
              </a:rPr>
              <a:t>19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29" dur="indefinite" restart="never" nodeType="tmRoot">
          <p:childTnLst>
            <p:seq>
              <p:cTn id="130" dur="indefinite" nodeType="mainSeq">
                <p:childTnLst>
                  <p:par>
                    <p:cTn id="131" fill="hold">
                      <p:stCondLst>
                        <p:cond delay="indefinite"/>
                      </p:stCondLst>
                      <p:childTnLst>
                        <p:par>
                          <p:cTn id="132" fill="hold">
                            <p:stCondLst>
                              <p:cond delay="0"/>
                            </p:stCondLst>
                            <p:childTnLst>
                              <p:par>
                                <p:cTn id="133" nodeType="clickEffect" fill="hold" presetClass="entr" presetID="1">
                                  <p:stCondLst>
                                    <p:cond delay="0"/>
                                  </p:stCondLst>
                                  <p:childTnLst>
                                    <p:set>
                                      <p:cBhvr>
                                        <p:cTn id="134" dur="1" fill="hold">
                                          <p:stCondLst>
                                            <p:cond delay="0"/>
                                          </p:stCondLst>
                                        </p:cTn>
                                        <p:tgtEl>
                                          <p:spTgt spid="228">
                                            <p:txEl>
                                              <p:pRg st="0" end="0"/>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nodeType="clickEffect" fill="hold" presetClass="entr" presetID="1">
                                  <p:stCondLst>
                                    <p:cond delay="0"/>
                                  </p:stCondLst>
                                  <p:childTnLst>
                                    <p:set>
                                      <p:cBhvr>
                                        <p:cTn id="138" dur="1" fill="hold">
                                          <p:stCondLst>
                                            <p:cond delay="0"/>
                                          </p:stCondLst>
                                        </p:cTn>
                                        <p:tgtEl>
                                          <p:spTgt spid="228">
                                            <p:txEl>
                                              <p:pRg st="1" end="1"/>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nodeType="clickEffect" fill="hold" presetClass="entr" presetID="1">
                                  <p:stCondLst>
                                    <p:cond delay="0"/>
                                  </p:stCondLst>
                                  <p:childTnLst>
                                    <p:set>
                                      <p:cBhvr>
                                        <p:cTn id="142" dur="1" fill="hold">
                                          <p:stCondLst>
                                            <p:cond delay="0"/>
                                          </p:stCondLst>
                                        </p:cTn>
                                        <p:tgtEl>
                                          <p:spTgt spid="228">
                                            <p:txEl>
                                              <p:pRg st="2" end="2"/>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nodeType="clickEffect" fill="hold" presetClass="entr" presetID="1">
                                  <p:stCondLst>
                                    <p:cond delay="0"/>
                                  </p:stCondLst>
                                  <p:childTnLst>
                                    <p:set>
                                      <p:cBhvr>
                                        <p:cTn id="146" dur="1" fill="hold">
                                          <p:stCondLst>
                                            <p:cond delay="0"/>
                                          </p:stCondLst>
                                        </p:cTn>
                                        <p:tgtEl>
                                          <p:spTgt spid="228">
                                            <p:txEl>
                                              <p:pRg st="3" end="3"/>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nodeType="clickEffect" fill="hold" presetClass="entr" presetID="1">
                                  <p:stCondLst>
                                    <p:cond delay="0"/>
                                  </p:stCondLst>
                                  <p:childTnLst>
                                    <p:set>
                                      <p:cBhvr>
                                        <p:cTn id="150" dur="1" fill="hold">
                                          <p:stCondLst>
                                            <p:cond delay="0"/>
                                          </p:stCondLst>
                                        </p:cTn>
                                        <p:tgtEl>
                                          <p:spTgt spid="228">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Homework (Caching) → NOT GRADED</a:t>
            </a:r>
            <a:endParaRPr b="0" lang="en-US" sz="2600" spc="-1" strike="noStrike">
              <a:solidFill>
                <a:srgbClr val="000000"/>
              </a:solidFill>
              <a:latin typeface="Arial"/>
            </a:endParaRPr>
          </a:p>
        </p:txBody>
      </p:sp>
      <p:sp>
        <p:nvSpPr>
          <p:cNvPr id="231" name="PlaceHolder 2"/>
          <p:cNvSpPr>
            <a:spLocks noGrp="1"/>
          </p:cNvSpPr>
          <p:nvPr>
            <p:ph/>
          </p:nvPr>
        </p:nvSpPr>
        <p:spPr>
          <a:xfrm>
            <a:off x="729360" y="1378080"/>
            <a:ext cx="7688520" cy="376488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Caching is the practice of storing already / often useful information with the prospect of it being re–utilised in the future. This is something commonly implemented by computer processors to speed up their operation. For this (</a:t>
            </a:r>
            <a:r>
              <a:rPr b="1" lang="el" sz="1600" spc="-1" strike="noStrike">
                <a:solidFill>
                  <a:schemeClr val="accent1"/>
                </a:solidFill>
                <a:latin typeface="Lato"/>
                <a:ea typeface="Lato"/>
              </a:rPr>
              <a:t>not graded</a:t>
            </a:r>
            <a:r>
              <a:rPr b="0" lang="el" sz="1600" spc="-1" strike="noStrike">
                <a:solidFill>
                  <a:schemeClr val="accent1"/>
                </a:solidFill>
                <a:latin typeface="Lato"/>
                <a:ea typeface="Lato"/>
              </a:rPr>
              <a:t>) piece of homework you have to:</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read this (brief) chapter on caching: </a:t>
            </a:r>
            <a:r>
              <a:rPr b="0" lang="el" sz="1600" spc="-1" strike="noStrike" u="sng">
                <a:solidFill>
                  <a:schemeClr val="hlink"/>
                </a:solidFill>
                <a:uFillTx/>
                <a:latin typeface="Lato"/>
                <a:ea typeface="Lato"/>
                <a:hlinkClick r:id="rId1"/>
              </a:rPr>
              <a:t>https://greenteapress.com/thinkos/html/thinkos009.html</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follow the tutorial on studying cache on your own machine / VM, as described in Section 7.4 (source code available here: </a:t>
            </a:r>
            <a:r>
              <a:rPr b="0" lang="el" sz="1600" spc="-1" strike="noStrike" u="sng">
                <a:solidFill>
                  <a:schemeClr val="hlink"/>
                </a:solidFill>
                <a:uFillTx/>
                <a:latin typeface="Lato"/>
                <a:ea typeface="Lato"/>
                <a:hlinkClick r:id="rId2"/>
              </a:rPr>
              <a:t>https://github.com/AllenDowney/ThinkOS/tree/master/code/cache</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Share your work at: v.markos@mc-class.gr</a:t>
            </a:r>
            <a:endParaRPr b="0" lang="en-US" sz="1600" spc="-1" strike="noStrike">
              <a:solidFill>
                <a:srgbClr val="000000"/>
              </a:solidFill>
              <a:latin typeface="Arial"/>
            </a:endParaRPr>
          </a:p>
        </p:txBody>
      </p:sp>
      <p:sp>
        <p:nvSpPr>
          <p:cNvPr id="232" name="PlaceHolder 3"/>
          <p:cNvSpPr>
            <a:spLocks noGrp="1"/>
          </p:cNvSpPr>
          <p:nvPr>
            <p:ph type="sldNum" idx="2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1F7CC4F-D2E9-4A10-9B34-0B2A9F154FD6}" type="slidenum">
              <a:rPr b="0" lang="el" sz="1000" spc="-1" strike="noStrike">
                <a:solidFill>
                  <a:schemeClr val="accent1"/>
                </a:solidFill>
                <a:latin typeface="Lato"/>
                <a:ea typeface="Lato"/>
              </a:rPr>
              <a:t>20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More Examples Of System Calls</a:t>
            </a:r>
            <a:endParaRPr b="0" lang="en-US" sz="3600" spc="-1" strike="noStrike">
              <a:solidFill>
                <a:srgbClr val="000000"/>
              </a:solidFill>
              <a:latin typeface="Arial"/>
            </a:endParaRPr>
          </a:p>
        </p:txBody>
      </p:sp>
      <p:sp>
        <p:nvSpPr>
          <p:cNvPr id="234" name="PlaceHolder 2"/>
          <p:cNvSpPr>
            <a:spLocks noGrp="1"/>
          </p:cNvSpPr>
          <p:nvPr>
            <p:ph type="sldNum" idx="2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2B551401-9845-4CA2-B4C8-F4140C3868DA}" type="slidenum">
              <a:rPr b="0" lang="el" sz="1000" spc="-1" strike="noStrike">
                <a:solidFill>
                  <a:schemeClr val="lt1"/>
                </a:solidFill>
                <a:latin typeface="Lato"/>
                <a:ea typeface="Lato"/>
              </a:rPr>
              <a:t>21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236" name="PlaceHolder 2"/>
          <p:cNvSpPr>
            <a:spLocks noGrp="1"/>
          </p:cNvSpPr>
          <p:nvPr>
            <p:ph/>
          </p:nvPr>
        </p:nvSpPr>
        <p:spPr>
          <a:xfrm>
            <a:off x="729360" y="1378080"/>
            <a:ext cx="7688520" cy="3765240"/>
          </a:xfrm>
          <a:prstGeom prst="rect">
            <a:avLst/>
          </a:prstGeom>
          <a:noFill/>
          <a:ln w="0">
            <a:noFill/>
          </a:ln>
        </p:spPr>
        <p:txBody>
          <a:bodyPr tIns="91440" bIns="91440" anchor="t">
            <a:normAutofit fontScale="83000"/>
          </a:bodyPr>
          <a:p>
            <a:pPr indent="0">
              <a:lnSpc>
                <a:spcPct val="135000"/>
              </a:lnSpc>
              <a:buNone/>
              <a:tabLst>
                <a:tab algn="l" pos="0"/>
              </a:tabLst>
            </a:pPr>
            <a:r>
              <a:rPr b="0" lang="el" sz="1050" spc="-1" strike="noStrike">
                <a:solidFill>
                  <a:srgbClr val="af00db"/>
                </a:solidFill>
                <a:highlight>
                  <a:srgbClr val="ffffff"/>
                </a:highlight>
                <a:latin typeface="Consolas"/>
                <a:ea typeface="Consolas"/>
              </a:rPr>
              <a:t>#include</a:t>
            </a:r>
            <a:r>
              <a:rPr b="0" lang="el" sz="1050" spc="-1" strike="noStrike">
                <a:solidFill>
                  <a:srgbClr val="0000ff"/>
                </a:solidFill>
                <a:highlight>
                  <a:srgbClr val="ffffff"/>
                </a:highlight>
                <a:latin typeface="Consolas"/>
                <a:ea typeface="Consolas"/>
              </a:rPr>
              <a:t> </a:t>
            </a:r>
            <a:r>
              <a:rPr b="0" lang="el" sz="1050" spc="-1" strike="noStrike">
                <a:solidFill>
                  <a:srgbClr val="a31515"/>
                </a:solidFill>
                <a:highlight>
                  <a:srgbClr val="ffffff"/>
                </a:highlight>
                <a:latin typeface="Consolas"/>
                <a:ea typeface="Consolas"/>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nsolas"/>
                <a:ea typeface="Consolas"/>
              </a:rPr>
              <a:t>#include</a:t>
            </a:r>
            <a:r>
              <a:rPr b="0" lang="el" sz="1050" spc="-1" strike="noStrike">
                <a:solidFill>
                  <a:srgbClr val="0000ff"/>
                </a:solidFill>
                <a:highlight>
                  <a:srgbClr val="ffffff"/>
                </a:highlight>
                <a:latin typeface="Consolas"/>
                <a:ea typeface="Consolas"/>
              </a:rPr>
              <a:t> </a:t>
            </a:r>
            <a:r>
              <a:rPr b="0" lang="el" sz="1050" spc="-1" strike="noStrike">
                <a:solidFill>
                  <a:srgbClr val="a31515"/>
                </a:solidFill>
                <a:highlight>
                  <a:srgbClr val="ffffff"/>
                </a:highlight>
                <a:latin typeface="Consolas"/>
                <a:ea typeface="Consolas"/>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nsolas"/>
                <a:ea typeface="Consolas"/>
              </a:rPr>
              <a:t>#include</a:t>
            </a:r>
            <a:r>
              <a:rPr b="0" lang="el" sz="1050" spc="-1" strike="noStrike">
                <a:solidFill>
                  <a:srgbClr val="0000ff"/>
                </a:solidFill>
                <a:highlight>
                  <a:srgbClr val="ffffff"/>
                </a:highlight>
                <a:latin typeface="Consolas"/>
                <a:ea typeface="Consolas"/>
              </a:rPr>
              <a:t> </a:t>
            </a:r>
            <a:r>
              <a:rPr b="0" lang="el" sz="1050" spc="-1" strike="noStrike">
                <a:solidFill>
                  <a:srgbClr val="a31515"/>
                </a:solidFill>
                <a:highlight>
                  <a:srgbClr val="ffffff"/>
                </a:highlight>
                <a:latin typeface="Consolas"/>
                <a:ea typeface="Consolas"/>
              </a:rPr>
              <a:t>&lt;sys/wait.h&gt;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nsolas"/>
                <a:ea typeface="Consolas"/>
              </a:rPr>
              <a:t>int</a:t>
            </a: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main</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ff"/>
                </a:solidFill>
                <a:highlight>
                  <a:srgbClr val="ffffff"/>
                </a:highlight>
                <a:latin typeface="Consolas"/>
                <a:ea typeface="Consolas"/>
              </a:rPr>
              <a:t>pid_t</a:t>
            </a:r>
            <a:r>
              <a:rPr b="0" lang="el" sz="1050" spc="-1" strike="noStrike">
                <a:solidFill>
                  <a:srgbClr val="000000"/>
                </a:solidFill>
                <a:highlight>
                  <a:srgbClr val="ffffff"/>
                </a:highlight>
                <a:latin typeface="Consolas"/>
                <a:ea typeface="Consolas"/>
              </a:rPr>
              <a:t> pid = </a:t>
            </a:r>
            <a:r>
              <a:rPr b="0" lang="el" sz="1050" spc="-1" strike="noStrike">
                <a:solidFill>
                  <a:srgbClr val="795e26"/>
                </a:solidFill>
                <a:highlight>
                  <a:srgbClr val="ffffff"/>
                </a:highlight>
                <a:latin typeface="Consolas"/>
                <a:ea typeface="Consolas"/>
              </a:rPr>
              <a:t>fork</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if</a:t>
            </a:r>
            <a:r>
              <a:rPr b="0" lang="el" sz="1050" spc="-1" strike="noStrike">
                <a:solidFill>
                  <a:srgbClr val="000000"/>
                </a:solidFill>
                <a:highlight>
                  <a:srgbClr val="ffffff"/>
                </a:highlight>
                <a:latin typeface="Consolas"/>
                <a:ea typeface="Consolas"/>
              </a:rPr>
              <a:t> (pid &lt; </a:t>
            </a:r>
            <a:r>
              <a:rPr b="0" lang="el" sz="1050" spc="-1" strike="noStrike">
                <a:solidFill>
                  <a:srgbClr val="098658"/>
                </a:solidFill>
                <a:highlight>
                  <a:srgbClr val="ffffff"/>
                </a:highlight>
                <a:latin typeface="Consolas"/>
                <a:ea typeface="Consolas"/>
              </a:rPr>
              <a:t>0</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perror</a:t>
            </a:r>
            <a:r>
              <a:rPr b="0" lang="el" sz="1050" spc="-1" strike="noStrike">
                <a:solidFill>
                  <a:srgbClr val="000000"/>
                </a:solidFill>
                <a:highlight>
                  <a:srgbClr val="ffffff"/>
                </a:highlight>
                <a:latin typeface="Consolas"/>
                <a:ea typeface="Consolas"/>
              </a:rPr>
              <a:t>(</a:t>
            </a:r>
            <a:r>
              <a:rPr b="0" lang="el" sz="1050" spc="-1" strike="noStrike">
                <a:solidFill>
                  <a:srgbClr val="a31515"/>
                </a:solidFill>
                <a:highlight>
                  <a:srgbClr val="ffffff"/>
                </a:highlight>
                <a:latin typeface="Consolas"/>
                <a:ea typeface="Consolas"/>
              </a:rPr>
              <a:t>"Failure"</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exit</a:t>
            </a:r>
            <a:r>
              <a:rPr b="0" lang="el" sz="1050" spc="-1" strike="noStrike">
                <a:solidFill>
                  <a:srgbClr val="000000"/>
                </a:solidFill>
                <a:highlight>
                  <a:srgbClr val="ffffff"/>
                </a:highlight>
                <a:latin typeface="Consolas"/>
                <a:ea typeface="Consolas"/>
              </a:rPr>
              <a:t>(</a:t>
            </a:r>
            <a:r>
              <a:rPr b="0" lang="el" sz="1050" spc="-1" strike="noStrike">
                <a:solidFill>
                  <a:srgbClr val="098658"/>
                </a:solidFill>
                <a:highlight>
                  <a:srgbClr val="ffffff"/>
                </a:highlight>
                <a:latin typeface="Consolas"/>
                <a:ea typeface="Consolas"/>
              </a:rPr>
              <a:t>1</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else</a:t>
            </a: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if</a:t>
            </a:r>
            <a:r>
              <a:rPr b="0" lang="el" sz="1050" spc="-1" strike="noStrike">
                <a:solidFill>
                  <a:srgbClr val="000000"/>
                </a:solidFill>
                <a:highlight>
                  <a:srgbClr val="ffffff"/>
                </a:highlight>
                <a:latin typeface="Consolas"/>
                <a:ea typeface="Consolas"/>
              </a:rPr>
              <a:t> (pid == </a:t>
            </a:r>
            <a:r>
              <a:rPr b="0" lang="el" sz="1050" spc="-1" strike="noStrike">
                <a:solidFill>
                  <a:srgbClr val="098658"/>
                </a:solidFill>
                <a:highlight>
                  <a:srgbClr val="ffffff"/>
                </a:highlight>
                <a:latin typeface="Consolas"/>
                <a:ea typeface="Consolas"/>
              </a:rPr>
              <a:t>0</a:t>
            </a:r>
            <a:r>
              <a:rPr b="0" lang="el" sz="1050" spc="-1" strike="noStrike">
                <a:solidFill>
                  <a:srgbClr val="000000"/>
                </a:solidFill>
                <a:highlight>
                  <a:srgbClr val="ffffff"/>
                </a:highlight>
                <a:latin typeface="Consolas"/>
                <a:ea typeface="Consolas"/>
              </a:rPr>
              <a:t>) {</a:t>
            </a:r>
            <a:r>
              <a:rPr b="0" lang="el" sz="1050" spc="-1" strike="noStrike">
                <a:solidFill>
                  <a:srgbClr val="008000"/>
                </a:solidFill>
                <a:highlight>
                  <a:srgbClr val="ffffff"/>
                </a:highlight>
                <a:latin typeface="Consolas"/>
                <a:ea typeface="Consolas"/>
              </a:rPr>
              <a:t> // Child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printf</a:t>
            </a:r>
            <a:r>
              <a:rPr b="0" lang="el" sz="1050" spc="-1" strike="noStrike">
                <a:solidFill>
                  <a:srgbClr val="000000"/>
                </a:solidFill>
                <a:highlight>
                  <a:srgbClr val="ffffff"/>
                </a:highlight>
                <a:latin typeface="Consolas"/>
                <a:ea typeface="Consolas"/>
              </a:rPr>
              <a:t>(</a:t>
            </a:r>
            <a:r>
              <a:rPr b="0" lang="el" sz="1050" spc="-1" strike="noStrike">
                <a:solidFill>
                  <a:srgbClr val="a31515"/>
                </a:solidFill>
                <a:highlight>
                  <a:srgbClr val="ffffff"/>
                </a:highlight>
                <a:latin typeface="Consolas"/>
                <a:ea typeface="Consolas"/>
              </a:rPr>
              <a:t>"Child</a:t>
            </a:r>
            <a:r>
              <a:rPr b="0" lang="el" sz="1050" spc="-1" strike="noStrike">
                <a:solidFill>
                  <a:srgbClr val="ee0000"/>
                </a:solidFill>
                <a:highlight>
                  <a:srgbClr val="ffffff"/>
                </a:highlight>
                <a:latin typeface="Consolas"/>
                <a:ea typeface="Consolas"/>
              </a:rPr>
              <a:t>\n</a:t>
            </a:r>
            <a:r>
              <a:rPr b="0" lang="el" sz="1050" spc="-1" strike="noStrike">
                <a:solidFill>
                  <a:srgbClr val="a31515"/>
                </a:solidFill>
                <a:highlight>
                  <a:srgbClr val="ffffff"/>
                </a:highlight>
                <a:latin typeface="Consolas"/>
                <a:ea typeface="Consolas"/>
              </a:rPr>
              <a:t>"</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exit</a:t>
            </a:r>
            <a:r>
              <a:rPr b="0" lang="el" sz="1050" spc="-1" strike="noStrike">
                <a:solidFill>
                  <a:srgbClr val="000000"/>
                </a:solidFill>
                <a:highlight>
                  <a:srgbClr val="ffffff"/>
                </a:highlight>
                <a:latin typeface="Consolas"/>
                <a:ea typeface="Consolas"/>
              </a:rPr>
              <a:t>(</a:t>
            </a:r>
            <a:r>
              <a:rPr b="0" lang="el" sz="1050" spc="-1" strike="noStrike">
                <a:solidFill>
                  <a:srgbClr val="098658"/>
                </a:solidFill>
                <a:highlight>
                  <a:srgbClr val="ffffff"/>
                </a:highlight>
                <a:latin typeface="Consolas"/>
                <a:ea typeface="Consolas"/>
              </a:rPr>
              <a:t>0</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else</a:t>
            </a:r>
            <a:r>
              <a:rPr b="0" lang="el" sz="1050" spc="-1" strike="noStrike">
                <a:solidFill>
                  <a:srgbClr val="000000"/>
                </a:solidFill>
                <a:highlight>
                  <a:srgbClr val="ffffff"/>
                </a:highlight>
                <a:latin typeface="Consolas"/>
                <a:ea typeface="Consolas"/>
              </a:rPr>
              <a:t> {</a:t>
            </a:r>
            <a:r>
              <a:rPr b="0" lang="el" sz="1050" spc="-1" strike="noStrike">
                <a:solidFill>
                  <a:srgbClr val="008000"/>
                </a:solidFill>
                <a:highlight>
                  <a:srgbClr val="ffffff"/>
                </a:highlight>
                <a:latin typeface="Consolas"/>
                <a:ea typeface="Consolas"/>
              </a:rPr>
              <a:t> // Parent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wait</a:t>
            </a:r>
            <a:r>
              <a:rPr b="0" lang="el" sz="1050" spc="-1" strike="noStrike">
                <a:solidFill>
                  <a:srgbClr val="000000"/>
                </a:solidFill>
                <a:highlight>
                  <a:srgbClr val="ffffff"/>
                </a:highlight>
                <a:latin typeface="Consolas"/>
                <a:ea typeface="Consolas"/>
              </a:rPr>
              <a:t>(</a:t>
            </a:r>
            <a:r>
              <a:rPr b="0" lang="el" sz="1050" spc="-1" strike="noStrike">
                <a:solidFill>
                  <a:srgbClr val="0000ff"/>
                </a:solidFill>
                <a:highlight>
                  <a:srgbClr val="ffffff"/>
                </a:highlight>
                <a:latin typeface="Consolas"/>
                <a:ea typeface="Consolas"/>
              </a:rPr>
              <a:t>NULL</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printf</a:t>
            </a:r>
            <a:r>
              <a:rPr b="0" lang="el" sz="1050" spc="-1" strike="noStrike">
                <a:solidFill>
                  <a:srgbClr val="000000"/>
                </a:solidFill>
                <a:highlight>
                  <a:srgbClr val="ffffff"/>
                </a:highlight>
                <a:latin typeface="Consolas"/>
                <a:ea typeface="Consolas"/>
              </a:rPr>
              <a:t>(</a:t>
            </a:r>
            <a:r>
              <a:rPr b="0" lang="el" sz="1050" spc="-1" strike="noStrike">
                <a:solidFill>
                  <a:srgbClr val="a31515"/>
                </a:solidFill>
                <a:highlight>
                  <a:srgbClr val="ffffff"/>
                </a:highlight>
                <a:latin typeface="Consolas"/>
                <a:ea typeface="Consolas"/>
              </a:rPr>
              <a:t>"Parent</a:t>
            </a:r>
            <a:r>
              <a:rPr b="0" lang="el" sz="1050" spc="-1" strike="noStrike">
                <a:solidFill>
                  <a:srgbClr val="ee0000"/>
                </a:solidFill>
                <a:highlight>
                  <a:srgbClr val="ffffff"/>
                </a:highlight>
                <a:latin typeface="Consolas"/>
                <a:ea typeface="Consolas"/>
              </a:rPr>
              <a:t>\n</a:t>
            </a:r>
            <a:r>
              <a:rPr b="0" lang="el" sz="1050" spc="-1" strike="noStrike">
                <a:solidFill>
                  <a:srgbClr val="a31515"/>
                </a:solidFill>
                <a:highlight>
                  <a:srgbClr val="ffffff"/>
                </a:highlight>
                <a:latin typeface="Consolas"/>
                <a:ea typeface="Consolas"/>
              </a:rPr>
              <a:t>"</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return</a:t>
            </a:r>
            <a:r>
              <a:rPr b="0" lang="el" sz="1050" spc="-1" strike="noStrike">
                <a:solidFill>
                  <a:srgbClr val="000000"/>
                </a:solidFill>
                <a:highlight>
                  <a:srgbClr val="ffffff"/>
                </a:highlight>
                <a:latin typeface="Consolas"/>
                <a:ea typeface="Consolas"/>
              </a:rPr>
              <a:t> </a:t>
            </a:r>
            <a:r>
              <a:rPr b="0" lang="el" sz="1050" spc="-1" strike="noStrike">
                <a:solidFill>
                  <a:srgbClr val="098658"/>
                </a:solidFill>
                <a:highlight>
                  <a:srgbClr val="ffffff"/>
                </a:highlight>
                <a:latin typeface="Consolas"/>
                <a:ea typeface="Consolas"/>
              </a:rPr>
              <a:t>0</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p:txBody>
      </p:sp>
      <p:sp>
        <p:nvSpPr>
          <p:cNvPr id="237" name="PlaceHolder 3"/>
          <p:cNvSpPr>
            <a:spLocks noGrp="1"/>
          </p:cNvSpPr>
          <p:nvPr>
            <p:ph type="sldNum" idx="2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0FC1839-754A-4188-824B-456BB1BAF868}" type="slidenum">
              <a:rPr b="0" lang="el" sz="1000" spc="-1" strike="noStrike">
                <a:solidFill>
                  <a:schemeClr val="accent1"/>
                </a:solidFill>
                <a:latin typeface="Lato"/>
                <a:ea typeface="Lato"/>
              </a:rPr>
              <a:t>22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What purpose does wait(NULL) serve in the above?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It essentially blocks parent execution until the child finishes its execution.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What if the parent </a:t>
            </a:r>
            <a:r>
              <a:rPr b="1" lang="el" sz="1600" spc="-1" strike="noStrike">
                <a:solidFill>
                  <a:schemeClr val="accent1"/>
                </a:solidFill>
                <a:latin typeface="Lato"/>
                <a:ea typeface="Lato"/>
              </a:rPr>
              <a:t>does not wait</a:t>
            </a:r>
            <a:r>
              <a:rPr b="0" lang="el" sz="1600" spc="-1" strike="noStrike">
                <a:solidFill>
                  <a:schemeClr val="accent1"/>
                </a:solidFill>
                <a:latin typeface="Lato"/>
                <a:ea typeface="Lato"/>
              </a:rPr>
              <a:t> for its child to execute?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The child becomes an </a:t>
            </a:r>
            <a:r>
              <a:rPr b="1" lang="el" sz="1600" spc="-1" strike="noStrike">
                <a:solidFill>
                  <a:schemeClr val="accent1"/>
                </a:solidFill>
                <a:latin typeface="Lato"/>
                <a:ea typeface="Lato"/>
              </a:rPr>
              <a:t>orphan process</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Orphan processes are processes whose parent has finished / is terminated while they are still running themselves.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Such processes are assigned to </a:t>
            </a:r>
            <a:r>
              <a:rPr b="0" lang="el" sz="1600" spc="-1" strike="noStrike">
                <a:solidFill>
                  <a:schemeClr val="accent1"/>
                </a:solidFill>
                <a:latin typeface="Consolas"/>
                <a:ea typeface="Consolas"/>
              </a:rPr>
              <a:t>init</a:t>
            </a:r>
            <a:r>
              <a:rPr b="0" lang="el" sz="1600" spc="-1" strike="noStrike">
                <a:solidFill>
                  <a:schemeClr val="accent1"/>
                </a:solidFill>
                <a:latin typeface="Lato"/>
                <a:ea typeface="Lato"/>
              </a:rPr>
              <a:t> as child processes which waits for them (roughly emulating what their parent process should have done). </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What if the child process finishes </a:t>
            </a:r>
            <a:r>
              <a:rPr b="1" lang="el" sz="1600" spc="-1" strike="noStrike">
                <a:solidFill>
                  <a:schemeClr val="accent1"/>
                </a:solidFill>
                <a:latin typeface="Lato"/>
                <a:ea typeface="Lato"/>
              </a:rPr>
              <a:t>before </a:t>
            </a:r>
            <a:r>
              <a:rPr b="0" lang="el" sz="1600" spc="-1" strike="noStrike">
                <a:solidFill>
                  <a:schemeClr val="accent1"/>
                </a:solidFill>
                <a:latin typeface="Lato"/>
                <a:ea typeface="Lato"/>
              </a:rPr>
              <a:t>the parent reaches wait(NULL)?</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The child process becomes a </a:t>
            </a:r>
            <a:r>
              <a:rPr b="1" lang="el" sz="1600" spc="-1" strike="noStrike">
                <a:solidFill>
                  <a:schemeClr val="accent1"/>
                </a:solidFill>
                <a:latin typeface="Lato"/>
                <a:ea typeface="Lato"/>
              </a:rPr>
              <a:t>zombie process</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That is, it stays in the </a:t>
            </a:r>
            <a:r>
              <a:rPr b="1" lang="el" sz="1600" spc="-1" strike="noStrike">
                <a:solidFill>
                  <a:schemeClr val="accent1"/>
                </a:solidFill>
                <a:latin typeface="Lato"/>
                <a:ea typeface="Lato"/>
              </a:rPr>
              <a:t>terminated </a:t>
            </a:r>
            <a:r>
              <a:rPr b="0" lang="el" sz="1600" spc="-1" strike="noStrike">
                <a:solidFill>
                  <a:schemeClr val="accent1"/>
                </a:solidFill>
                <a:latin typeface="Lato"/>
                <a:ea typeface="Lato"/>
              </a:rPr>
              <a:t>state until its parent reaches the wait(NULL), reads its exit status and continues working on its own.</a:t>
            </a:r>
            <a:endParaRPr b="0" lang="en-US" sz="1600" spc="-1" strike="noStrike">
              <a:solidFill>
                <a:srgbClr val="000000"/>
              </a:solidFill>
              <a:latin typeface="Arial"/>
            </a:endParaRPr>
          </a:p>
        </p:txBody>
      </p:sp>
      <p:sp>
        <p:nvSpPr>
          <p:cNvPr id="239" name="PlaceHolder 2"/>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wait(NULL)</a:t>
            </a:r>
            <a:endParaRPr b="0" lang="en-US" sz="2600" spc="-1" strike="noStrike">
              <a:solidFill>
                <a:srgbClr val="000000"/>
              </a:solidFill>
              <a:latin typeface="Arial"/>
            </a:endParaRPr>
          </a:p>
        </p:txBody>
      </p:sp>
      <p:sp>
        <p:nvSpPr>
          <p:cNvPr id="240" name="PlaceHolder 3"/>
          <p:cNvSpPr>
            <a:spLocks noGrp="1"/>
          </p:cNvSpPr>
          <p:nvPr>
            <p:ph type="sldNum" idx="2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11622B8-6257-4A64-9344-D8A10D71117E}" type="slidenum">
              <a:rPr b="0" lang="el" sz="1000" spc="-1" strike="noStrike">
                <a:solidFill>
                  <a:schemeClr val="accent1"/>
                </a:solidFill>
                <a:latin typeface="Lato"/>
                <a:ea typeface="Lato"/>
              </a:rPr>
              <a:t>23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242" name="PlaceHolder 2"/>
          <p:cNvSpPr>
            <a:spLocks noGrp="1"/>
          </p:cNvSpPr>
          <p:nvPr>
            <p:ph/>
          </p:nvPr>
        </p:nvSpPr>
        <p:spPr>
          <a:xfrm>
            <a:off x="729360" y="1378080"/>
            <a:ext cx="3841920" cy="3765240"/>
          </a:xfrm>
          <a:prstGeom prst="rect">
            <a:avLst/>
          </a:prstGeom>
          <a:noFill/>
          <a:ln w="0">
            <a:noFill/>
          </a:ln>
        </p:spPr>
        <p:txBody>
          <a:bodyPr tIns="91440" bIns="91440" anchor="t">
            <a:normAutofit fontScale="88000"/>
          </a:bodyPr>
          <a:p>
            <a:pPr indent="0">
              <a:lnSpc>
                <a:spcPct val="135000"/>
              </a:lnSpc>
              <a:buNone/>
              <a:tabLst>
                <a:tab algn="l" pos="0"/>
              </a:tabLst>
            </a:pPr>
            <a:r>
              <a:rPr b="0" lang="el" sz="1050" spc="-1" strike="noStrike">
                <a:solidFill>
                  <a:srgbClr val="af00db"/>
                </a:solidFill>
                <a:highlight>
                  <a:srgbClr val="ffffff"/>
                </a:highlight>
                <a:latin typeface="Consolas"/>
                <a:ea typeface="Consolas"/>
              </a:rPr>
              <a:t>#include</a:t>
            </a:r>
            <a:r>
              <a:rPr b="0" lang="el" sz="1050" spc="-1" strike="noStrike">
                <a:solidFill>
                  <a:srgbClr val="0000ff"/>
                </a:solidFill>
                <a:highlight>
                  <a:srgbClr val="ffffff"/>
                </a:highlight>
                <a:latin typeface="Consolas"/>
                <a:ea typeface="Consolas"/>
              </a:rPr>
              <a:t> </a:t>
            </a:r>
            <a:r>
              <a:rPr b="0" lang="el" sz="1050" spc="-1" strike="noStrike">
                <a:solidFill>
                  <a:srgbClr val="a31515"/>
                </a:solidFill>
                <a:highlight>
                  <a:srgbClr val="ffffff"/>
                </a:highlight>
                <a:latin typeface="Consolas"/>
                <a:ea typeface="Consolas"/>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nsolas"/>
                <a:ea typeface="Consolas"/>
              </a:rPr>
              <a:t>#include</a:t>
            </a:r>
            <a:r>
              <a:rPr b="0" lang="el" sz="1050" spc="-1" strike="noStrike">
                <a:solidFill>
                  <a:srgbClr val="0000ff"/>
                </a:solidFill>
                <a:highlight>
                  <a:srgbClr val="ffffff"/>
                </a:highlight>
                <a:latin typeface="Consolas"/>
                <a:ea typeface="Consolas"/>
              </a:rPr>
              <a:t> </a:t>
            </a:r>
            <a:r>
              <a:rPr b="0" lang="el" sz="1050" spc="-1" strike="noStrike">
                <a:solidFill>
                  <a:srgbClr val="a31515"/>
                </a:solidFill>
                <a:highlight>
                  <a:srgbClr val="ffffff"/>
                </a:highlight>
                <a:latin typeface="Consolas"/>
                <a:ea typeface="Consolas"/>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nsolas"/>
                <a:ea typeface="Consolas"/>
              </a:rPr>
              <a:t>#include</a:t>
            </a:r>
            <a:r>
              <a:rPr b="0" lang="el" sz="1050" spc="-1" strike="noStrike">
                <a:solidFill>
                  <a:srgbClr val="0000ff"/>
                </a:solidFill>
                <a:highlight>
                  <a:srgbClr val="ffffff"/>
                </a:highlight>
                <a:latin typeface="Consolas"/>
                <a:ea typeface="Consolas"/>
              </a:rPr>
              <a:t> </a:t>
            </a:r>
            <a:r>
              <a:rPr b="0" lang="el" sz="1050" spc="-1" strike="noStrike">
                <a:solidFill>
                  <a:srgbClr val="a31515"/>
                </a:solidFill>
                <a:highlight>
                  <a:srgbClr val="ffffff"/>
                </a:highlight>
                <a:latin typeface="Consolas"/>
                <a:ea typeface="Consolas"/>
              </a:rPr>
              <a:t>&lt;sys/wait.h&gt;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nsolas"/>
                <a:ea typeface="Consolas"/>
              </a:rPr>
              <a:t>int</a:t>
            </a: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main</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ff"/>
                </a:solidFill>
                <a:highlight>
                  <a:srgbClr val="ffffff"/>
                </a:highlight>
                <a:latin typeface="Consolas"/>
                <a:ea typeface="Consolas"/>
              </a:rPr>
              <a:t>pid_t</a:t>
            </a:r>
            <a:r>
              <a:rPr b="0" lang="el" sz="1050" spc="-1" strike="noStrike">
                <a:solidFill>
                  <a:srgbClr val="000000"/>
                </a:solidFill>
                <a:highlight>
                  <a:srgbClr val="ffffff"/>
                </a:highlight>
                <a:latin typeface="Consolas"/>
                <a:ea typeface="Consolas"/>
              </a:rPr>
              <a:t> pid;</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pid = </a:t>
            </a:r>
            <a:r>
              <a:rPr b="0" lang="el" sz="1050" spc="-1" strike="noStrike">
                <a:solidFill>
                  <a:srgbClr val="795e26"/>
                </a:solidFill>
                <a:highlight>
                  <a:srgbClr val="ffffff"/>
                </a:highlight>
                <a:latin typeface="Consolas"/>
                <a:ea typeface="Consolas"/>
              </a:rPr>
              <a:t>fork</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if</a:t>
            </a:r>
            <a:r>
              <a:rPr b="0" lang="el" sz="1050" spc="-1" strike="noStrike">
                <a:solidFill>
                  <a:srgbClr val="000000"/>
                </a:solidFill>
                <a:highlight>
                  <a:srgbClr val="ffffff"/>
                </a:highlight>
                <a:latin typeface="Consolas"/>
                <a:ea typeface="Consolas"/>
              </a:rPr>
              <a:t> (pid == </a:t>
            </a:r>
            <a:r>
              <a:rPr b="0" lang="el" sz="1050" spc="-1" strike="noStrike">
                <a:solidFill>
                  <a:srgbClr val="098658"/>
                </a:solidFill>
                <a:highlight>
                  <a:srgbClr val="ffffff"/>
                </a:highlight>
                <a:latin typeface="Consolas"/>
                <a:ea typeface="Consolas"/>
              </a:rPr>
              <a:t>0</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8000"/>
                </a:solidFill>
                <a:highlight>
                  <a:srgbClr val="ffffff"/>
                </a:highlight>
                <a:latin typeface="Consolas"/>
                <a:ea typeface="Consolas"/>
              </a:rPr>
              <a:t>// Child 1</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pid = </a:t>
            </a:r>
            <a:r>
              <a:rPr b="0" lang="el" sz="1050" spc="-1" strike="noStrike">
                <a:solidFill>
                  <a:srgbClr val="795e26"/>
                </a:solidFill>
                <a:highlight>
                  <a:srgbClr val="ffffff"/>
                </a:highlight>
                <a:latin typeface="Consolas"/>
                <a:ea typeface="Consolas"/>
              </a:rPr>
              <a:t>fork</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if</a:t>
            </a:r>
            <a:r>
              <a:rPr b="0" lang="el" sz="1050" spc="-1" strike="noStrike">
                <a:solidFill>
                  <a:srgbClr val="000000"/>
                </a:solidFill>
                <a:highlight>
                  <a:srgbClr val="ffffff"/>
                </a:highlight>
                <a:latin typeface="Consolas"/>
                <a:ea typeface="Consolas"/>
              </a:rPr>
              <a:t> (pid == </a:t>
            </a:r>
            <a:r>
              <a:rPr b="0" lang="el" sz="1050" spc="-1" strike="noStrike">
                <a:solidFill>
                  <a:srgbClr val="098658"/>
                </a:solidFill>
                <a:highlight>
                  <a:srgbClr val="ffffff"/>
                </a:highlight>
                <a:latin typeface="Consolas"/>
                <a:ea typeface="Consolas"/>
              </a:rPr>
              <a:t>0</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8000"/>
                </a:solidFill>
                <a:highlight>
                  <a:srgbClr val="ffffff"/>
                </a:highlight>
                <a:latin typeface="Consolas"/>
                <a:ea typeface="Consolas"/>
              </a:rPr>
              <a:t>// Grandchild 1</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printf</a:t>
            </a:r>
            <a:r>
              <a:rPr b="0" lang="el" sz="1050" spc="-1" strike="noStrike">
                <a:solidFill>
                  <a:srgbClr val="000000"/>
                </a:solidFill>
                <a:highlight>
                  <a:srgbClr val="ffffff"/>
                </a:highlight>
                <a:latin typeface="Consolas"/>
                <a:ea typeface="Consolas"/>
              </a:rPr>
              <a:t>(</a:t>
            </a:r>
            <a:r>
              <a:rPr b="0" lang="el" sz="1050" spc="-1" strike="noStrike">
                <a:solidFill>
                  <a:srgbClr val="a31515"/>
                </a:solidFill>
                <a:highlight>
                  <a:srgbClr val="ffffff"/>
                </a:highlight>
                <a:latin typeface="Consolas"/>
                <a:ea typeface="Consolas"/>
              </a:rPr>
              <a:t>"Grandchild 1</a:t>
            </a:r>
            <a:r>
              <a:rPr b="0" lang="el" sz="1050" spc="-1" strike="noStrike">
                <a:solidFill>
                  <a:srgbClr val="ee0000"/>
                </a:solidFill>
                <a:highlight>
                  <a:srgbClr val="ffffff"/>
                </a:highlight>
                <a:latin typeface="Consolas"/>
                <a:ea typeface="Consolas"/>
              </a:rPr>
              <a:t>\n</a:t>
            </a:r>
            <a:r>
              <a:rPr b="0" lang="el" sz="1050" spc="-1" strike="noStrike">
                <a:solidFill>
                  <a:srgbClr val="a31515"/>
                </a:solidFill>
                <a:highlight>
                  <a:srgbClr val="ffffff"/>
                </a:highlight>
                <a:latin typeface="Consolas"/>
                <a:ea typeface="Consolas"/>
              </a:rPr>
              <a:t>"</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else</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8000"/>
                </a:solidFill>
                <a:highlight>
                  <a:srgbClr val="ffffff"/>
                </a:highlight>
                <a:latin typeface="Consolas"/>
                <a:ea typeface="Consolas"/>
              </a:rPr>
              <a:t>// Child 1</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wait</a:t>
            </a:r>
            <a:r>
              <a:rPr b="0" lang="el" sz="1050" spc="-1" strike="noStrike">
                <a:solidFill>
                  <a:srgbClr val="000000"/>
                </a:solidFill>
                <a:highlight>
                  <a:srgbClr val="ffffff"/>
                </a:highlight>
                <a:latin typeface="Consolas"/>
                <a:ea typeface="Consolas"/>
              </a:rPr>
              <a:t>(</a:t>
            </a:r>
            <a:r>
              <a:rPr b="0" lang="el" sz="1050" spc="-1" strike="noStrike">
                <a:solidFill>
                  <a:srgbClr val="0000ff"/>
                </a:solidFill>
                <a:highlight>
                  <a:srgbClr val="ffffff"/>
                </a:highlight>
                <a:latin typeface="Consolas"/>
                <a:ea typeface="Consolas"/>
              </a:rPr>
              <a:t>NULL</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printf</a:t>
            </a:r>
            <a:r>
              <a:rPr b="0" lang="el" sz="1050" spc="-1" strike="noStrike">
                <a:solidFill>
                  <a:srgbClr val="000000"/>
                </a:solidFill>
                <a:highlight>
                  <a:srgbClr val="ffffff"/>
                </a:highlight>
                <a:latin typeface="Consolas"/>
                <a:ea typeface="Consolas"/>
              </a:rPr>
              <a:t>(</a:t>
            </a:r>
            <a:r>
              <a:rPr b="0" lang="el" sz="1050" spc="-1" strike="noStrike">
                <a:solidFill>
                  <a:srgbClr val="a31515"/>
                </a:solidFill>
                <a:highlight>
                  <a:srgbClr val="ffffff"/>
                </a:highlight>
                <a:latin typeface="Consolas"/>
                <a:ea typeface="Consolas"/>
              </a:rPr>
              <a:t>"Child 1</a:t>
            </a:r>
            <a:r>
              <a:rPr b="0" lang="el" sz="1050" spc="-1" strike="noStrike">
                <a:solidFill>
                  <a:srgbClr val="ee0000"/>
                </a:solidFill>
                <a:highlight>
                  <a:srgbClr val="ffffff"/>
                </a:highlight>
                <a:latin typeface="Consolas"/>
                <a:ea typeface="Consolas"/>
              </a:rPr>
              <a:t>\n</a:t>
            </a:r>
            <a:r>
              <a:rPr b="0" lang="el" sz="1050" spc="-1" strike="noStrike">
                <a:solidFill>
                  <a:srgbClr val="a31515"/>
                </a:solidFill>
                <a:highlight>
                  <a:srgbClr val="ffffff"/>
                </a:highlight>
                <a:latin typeface="Consolas"/>
                <a:ea typeface="Consolas"/>
              </a:rPr>
              <a:t>"</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a:t>
            </a:r>
            <a:br>
              <a:rPr sz="1050"/>
            </a:br>
            <a:r>
              <a:rPr b="0" lang="el" sz="1050" spc="-1" strike="noStrike">
                <a:solidFill>
                  <a:srgbClr val="000000"/>
                </a:solidFill>
                <a:highlight>
                  <a:srgbClr val="ffffff"/>
                </a:highlight>
                <a:latin typeface="Consolas"/>
                <a:ea typeface="Consolas"/>
              </a:rPr>
              <a:t>    </a:t>
            </a:r>
            <a:r>
              <a:rPr b="0" lang="el" sz="1050" spc="-1" strike="noStrike">
                <a:solidFill>
                  <a:srgbClr val="008000"/>
                </a:solidFill>
                <a:highlight>
                  <a:srgbClr val="ffffff"/>
                </a:highlight>
                <a:latin typeface="Consolas"/>
                <a:ea typeface="Consolas"/>
              </a:rPr>
              <a:t>// Continued right...</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p:txBody>
      </p:sp>
      <p:sp>
        <p:nvSpPr>
          <p:cNvPr id="243" name="PlaceHolder 3"/>
          <p:cNvSpPr>
            <a:spLocks noGrp="1"/>
          </p:cNvSpPr>
          <p:nvPr>
            <p:ph type="sldNum" idx="2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EF6A416-0C24-4330-8C97-F3FC6169E220}" type="slidenum">
              <a:rPr b="0" lang="el" sz="1000" spc="-1" strike="noStrike">
                <a:solidFill>
                  <a:schemeClr val="accent1"/>
                </a:solidFill>
                <a:latin typeface="Lato"/>
                <a:ea typeface="Lato"/>
              </a:rPr>
              <a:t>24</a:t>
            </a:fld>
            <a:endParaRPr b="0" lang="en-US" sz="1000" spc="-1" strike="noStrike">
              <a:solidFill>
                <a:srgbClr val="000000"/>
              </a:solidFill>
              <a:latin typeface="Times New Roman"/>
            </a:endParaRPr>
          </a:p>
        </p:txBody>
      </p:sp>
      <p:sp>
        <p:nvSpPr>
          <p:cNvPr id="244" name="PlaceHolder 4"/>
          <p:cNvSpPr>
            <a:spLocks noGrp="1"/>
          </p:cNvSpPr>
          <p:nvPr>
            <p:ph/>
          </p:nvPr>
        </p:nvSpPr>
        <p:spPr>
          <a:xfrm>
            <a:off x="4735440" y="1378080"/>
            <a:ext cx="3841920" cy="3765240"/>
          </a:xfrm>
          <a:prstGeom prst="rect">
            <a:avLst/>
          </a:prstGeom>
          <a:noFill/>
          <a:ln w="0">
            <a:noFill/>
          </a:ln>
        </p:spPr>
        <p:txBody>
          <a:bodyPr tIns="91440" bIns="91440" anchor="t">
            <a:normAutofit fontScale="72000"/>
          </a:bodyPr>
          <a:p>
            <a:pPr indent="0">
              <a:lnSpc>
                <a:spcPct val="135000"/>
              </a:lnSpc>
              <a:buNone/>
              <a:tabLst>
                <a:tab algn="l" pos="0"/>
              </a:tabLst>
            </a:pPr>
            <a:r>
              <a:rPr b="0" lang="el" sz="1050" spc="-1" strike="noStrike">
                <a:solidFill>
                  <a:srgbClr val="af00db"/>
                </a:solidFill>
                <a:highlight>
                  <a:srgbClr val="ffffff"/>
                </a:highlight>
                <a:latin typeface="Consolas"/>
                <a:ea typeface="Consolas"/>
              </a:rPr>
              <a:t>else</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8000"/>
                </a:solidFill>
                <a:highlight>
                  <a:srgbClr val="ffffff"/>
                </a:highlight>
                <a:latin typeface="Consolas"/>
                <a:ea typeface="Consolas"/>
              </a:rPr>
              <a:t>// Parent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pid = </a:t>
            </a:r>
            <a:r>
              <a:rPr b="0" lang="el" sz="1050" spc="-1" strike="noStrike">
                <a:solidFill>
                  <a:srgbClr val="795e26"/>
                </a:solidFill>
                <a:highlight>
                  <a:srgbClr val="ffffff"/>
                </a:highlight>
                <a:latin typeface="Consolas"/>
                <a:ea typeface="Consolas"/>
              </a:rPr>
              <a:t>fork</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if</a:t>
            </a:r>
            <a:r>
              <a:rPr b="0" lang="el" sz="1050" spc="-1" strike="noStrike">
                <a:solidFill>
                  <a:srgbClr val="000000"/>
                </a:solidFill>
                <a:highlight>
                  <a:srgbClr val="ffffff"/>
                </a:highlight>
                <a:latin typeface="Consolas"/>
                <a:ea typeface="Consolas"/>
              </a:rPr>
              <a:t> (pid == </a:t>
            </a:r>
            <a:r>
              <a:rPr b="0" lang="el" sz="1050" spc="-1" strike="noStrike">
                <a:solidFill>
                  <a:srgbClr val="098658"/>
                </a:solidFill>
                <a:highlight>
                  <a:srgbClr val="ffffff"/>
                </a:highlight>
                <a:latin typeface="Consolas"/>
                <a:ea typeface="Consolas"/>
              </a:rPr>
              <a:t>0</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8000"/>
                </a:solidFill>
                <a:highlight>
                  <a:srgbClr val="ffffff"/>
                </a:highlight>
                <a:latin typeface="Consolas"/>
                <a:ea typeface="Consolas"/>
              </a:rPr>
              <a:t>// Child 2</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pid = </a:t>
            </a:r>
            <a:r>
              <a:rPr b="0" lang="el" sz="1050" spc="-1" strike="noStrike">
                <a:solidFill>
                  <a:srgbClr val="795e26"/>
                </a:solidFill>
                <a:highlight>
                  <a:srgbClr val="ffffff"/>
                </a:highlight>
                <a:latin typeface="Consolas"/>
                <a:ea typeface="Consolas"/>
              </a:rPr>
              <a:t>fork</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if</a:t>
            </a:r>
            <a:r>
              <a:rPr b="0" lang="el" sz="1050" spc="-1" strike="noStrike">
                <a:solidFill>
                  <a:srgbClr val="000000"/>
                </a:solidFill>
                <a:highlight>
                  <a:srgbClr val="ffffff"/>
                </a:highlight>
                <a:latin typeface="Consolas"/>
                <a:ea typeface="Consolas"/>
              </a:rPr>
              <a:t> (pid == </a:t>
            </a:r>
            <a:r>
              <a:rPr b="0" lang="el" sz="1050" spc="-1" strike="noStrike">
                <a:solidFill>
                  <a:srgbClr val="098658"/>
                </a:solidFill>
                <a:highlight>
                  <a:srgbClr val="ffffff"/>
                </a:highlight>
                <a:latin typeface="Consolas"/>
                <a:ea typeface="Consolas"/>
              </a:rPr>
              <a:t>0</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8000"/>
                </a:solidFill>
                <a:highlight>
                  <a:srgbClr val="ffffff"/>
                </a:highlight>
                <a:latin typeface="Consolas"/>
                <a:ea typeface="Consolas"/>
              </a:rPr>
              <a:t>// Grandchild 2</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printf</a:t>
            </a:r>
            <a:r>
              <a:rPr b="0" lang="el" sz="1050" spc="-1" strike="noStrike">
                <a:solidFill>
                  <a:srgbClr val="000000"/>
                </a:solidFill>
                <a:highlight>
                  <a:srgbClr val="ffffff"/>
                </a:highlight>
                <a:latin typeface="Consolas"/>
                <a:ea typeface="Consolas"/>
              </a:rPr>
              <a:t>(</a:t>
            </a:r>
            <a:r>
              <a:rPr b="0" lang="el" sz="1050" spc="-1" strike="noStrike">
                <a:solidFill>
                  <a:srgbClr val="a31515"/>
                </a:solidFill>
                <a:highlight>
                  <a:srgbClr val="ffffff"/>
                </a:highlight>
                <a:latin typeface="Consolas"/>
                <a:ea typeface="Consolas"/>
              </a:rPr>
              <a:t>"Grandchild 2</a:t>
            </a:r>
            <a:r>
              <a:rPr b="0" lang="el" sz="1050" spc="-1" strike="noStrike">
                <a:solidFill>
                  <a:srgbClr val="ee0000"/>
                </a:solidFill>
                <a:highlight>
                  <a:srgbClr val="ffffff"/>
                </a:highlight>
                <a:latin typeface="Consolas"/>
                <a:ea typeface="Consolas"/>
              </a:rPr>
              <a:t>\n</a:t>
            </a:r>
            <a:r>
              <a:rPr b="0" lang="el" sz="1050" spc="-1" strike="noStrike">
                <a:solidFill>
                  <a:srgbClr val="a31515"/>
                </a:solidFill>
                <a:highlight>
                  <a:srgbClr val="ffffff"/>
                </a:highlight>
                <a:latin typeface="Consolas"/>
                <a:ea typeface="Consolas"/>
              </a:rPr>
              <a:t>"</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else</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8000"/>
                </a:solidFill>
                <a:highlight>
                  <a:srgbClr val="ffffff"/>
                </a:highlight>
                <a:latin typeface="Consolas"/>
                <a:ea typeface="Consolas"/>
              </a:rPr>
              <a:t>// Child 2</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wait</a:t>
            </a:r>
            <a:r>
              <a:rPr b="0" lang="el" sz="1050" spc="-1" strike="noStrike">
                <a:solidFill>
                  <a:srgbClr val="000000"/>
                </a:solidFill>
                <a:highlight>
                  <a:srgbClr val="ffffff"/>
                </a:highlight>
                <a:latin typeface="Consolas"/>
                <a:ea typeface="Consolas"/>
              </a:rPr>
              <a:t>(</a:t>
            </a:r>
            <a:r>
              <a:rPr b="0" lang="el" sz="1050" spc="-1" strike="noStrike">
                <a:solidFill>
                  <a:srgbClr val="0000ff"/>
                </a:solidFill>
                <a:highlight>
                  <a:srgbClr val="ffffff"/>
                </a:highlight>
                <a:latin typeface="Consolas"/>
                <a:ea typeface="Consolas"/>
              </a:rPr>
              <a:t>NULL</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printf</a:t>
            </a:r>
            <a:r>
              <a:rPr b="0" lang="el" sz="1050" spc="-1" strike="noStrike">
                <a:solidFill>
                  <a:srgbClr val="000000"/>
                </a:solidFill>
                <a:highlight>
                  <a:srgbClr val="ffffff"/>
                </a:highlight>
                <a:latin typeface="Consolas"/>
                <a:ea typeface="Consolas"/>
              </a:rPr>
              <a:t>(</a:t>
            </a:r>
            <a:r>
              <a:rPr b="0" lang="el" sz="1050" spc="-1" strike="noStrike">
                <a:solidFill>
                  <a:srgbClr val="a31515"/>
                </a:solidFill>
                <a:highlight>
                  <a:srgbClr val="ffffff"/>
                </a:highlight>
                <a:latin typeface="Consolas"/>
                <a:ea typeface="Consolas"/>
              </a:rPr>
              <a:t>"Child 2</a:t>
            </a:r>
            <a:r>
              <a:rPr b="0" lang="el" sz="1050" spc="-1" strike="noStrike">
                <a:solidFill>
                  <a:srgbClr val="ee0000"/>
                </a:solidFill>
                <a:highlight>
                  <a:srgbClr val="ffffff"/>
                </a:highlight>
                <a:latin typeface="Consolas"/>
                <a:ea typeface="Consolas"/>
              </a:rPr>
              <a:t>\n</a:t>
            </a:r>
            <a:r>
              <a:rPr b="0" lang="el" sz="1050" spc="-1" strike="noStrike">
                <a:solidFill>
                  <a:srgbClr val="a31515"/>
                </a:solidFill>
                <a:highlight>
                  <a:srgbClr val="ffffff"/>
                </a:highlight>
                <a:latin typeface="Consolas"/>
                <a:ea typeface="Consolas"/>
              </a:rPr>
              <a:t>"</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else</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8000"/>
                </a:solidFill>
                <a:highlight>
                  <a:srgbClr val="ffffff"/>
                </a:highlight>
                <a:latin typeface="Consolas"/>
                <a:ea typeface="Consolas"/>
              </a:rPr>
              <a:t>// Parent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wait</a:t>
            </a:r>
            <a:r>
              <a:rPr b="0" lang="el" sz="1050" spc="-1" strike="noStrike">
                <a:solidFill>
                  <a:srgbClr val="000000"/>
                </a:solidFill>
                <a:highlight>
                  <a:srgbClr val="ffffff"/>
                </a:highlight>
                <a:latin typeface="Consolas"/>
                <a:ea typeface="Consolas"/>
              </a:rPr>
              <a:t>(</a:t>
            </a:r>
            <a:r>
              <a:rPr b="0" lang="el" sz="1050" spc="-1" strike="noStrike">
                <a:solidFill>
                  <a:srgbClr val="0000ff"/>
                </a:solidFill>
                <a:highlight>
                  <a:srgbClr val="ffffff"/>
                </a:highlight>
                <a:latin typeface="Consolas"/>
                <a:ea typeface="Consolas"/>
              </a:rPr>
              <a:t>NULL</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wait</a:t>
            </a:r>
            <a:r>
              <a:rPr b="0" lang="el" sz="1050" spc="-1" strike="noStrike">
                <a:solidFill>
                  <a:srgbClr val="000000"/>
                </a:solidFill>
                <a:highlight>
                  <a:srgbClr val="ffffff"/>
                </a:highlight>
                <a:latin typeface="Consolas"/>
                <a:ea typeface="Consolas"/>
              </a:rPr>
              <a:t>(</a:t>
            </a:r>
            <a:r>
              <a:rPr b="0" lang="el" sz="1050" spc="-1" strike="noStrike">
                <a:solidFill>
                  <a:srgbClr val="0000ff"/>
                </a:solidFill>
                <a:highlight>
                  <a:srgbClr val="ffffff"/>
                </a:highlight>
                <a:latin typeface="Consolas"/>
                <a:ea typeface="Consolas"/>
              </a:rPr>
              <a:t>NULL</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printf</a:t>
            </a:r>
            <a:r>
              <a:rPr b="0" lang="el" sz="1050" spc="-1" strike="noStrike">
                <a:solidFill>
                  <a:srgbClr val="000000"/>
                </a:solidFill>
                <a:highlight>
                  <a:srgbClr val="ffffff"/>
                </a:highlight>
                <a:latin typeface="Consolas"/>
                <a:ea typeface="Consolas"/>
              </a:rPr>
              <a:t>(</a:t>
            </a:r>
            <a:r>
              <a:rPr b="0" lang="el" sz="1050" spc="-1" strike="noStrike">
                <a:solidFill>
                  <a:srgbClr val="a31515"/>
                </a:solidFill>
                <a:highlight>
                  <a:srgbClr val="ffffff"/>
                </a:highlight>
                <a:latin typeface="Consolas"/>
                <a:ea typeface="Consolas"/>
              </a:rPr>
              <a:t>"Parent</a:t>
            </a:r>
            <a:r>
              <a:rPr b="0" lang="el" sz="1050" spc="-1" strike="noStrike">
                <a:solidFill>
                  <a:srgbClr val="ee0000"/>
                </a:solidFill>
                <a:highlight>
                  <a:srgbClr val="ffffff"/>
                </a:highlight>
                <a:latin typeface="Consolas"/>
                <a:ea typeface="Consolas"/>
              </a:rPr>
              <a:t>\n</a:t>
            </a:r>
            <a:r>
              <a:rPr b="0" lang="el" sz="1050" spc="-1" strike="noStrike">
                <a:solidFill>
                  <a:srgbClr val="a31515"/>
                </a:solidFill>
                <a:highlight>
                  <a:srgbClr val="ffffff"/>
                </a:highlight>
                <a:latin typeface="Consolas"/>
                <a:ea typeface="Consolas"/>
              </a:rPr>
              <a:t>"</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a:t>
            </a:r>
            <a:br>
              <a:rPr sz="1050"/>
            </a:b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return</a:t>
            </a:r>
            <a:r>
              <a:rPr b="0" lang="el" sz="1050" spc="-1" strike="noStrike">
                <a:solidFill>
                  <a:srgbClr val="000000"/>
                </a:solidFill>
                <a:highlight>
                  <a:srgbClr val="ffffff"/>
                </a:highlight>
                <a:latin typeface="Consolas"/>
                <a:ea typeface="Consolas"/>
              </a:rPr>
              <a:t> </a:t>
            </a:r>
            <a:r>
              <a:rPr b="0" lang="el" sz="1050" spc="-1" strike="noStrike">
                <a:solidFill>
                  <a:srgbClr val="098658"/>
                </a:solidFill>
                <a:highlight>
                  <a:srgbClr val="ffffff"/>
                </a:highlight>
                <a:latin typeface="Consolas"/>
                <a:ea typeface="Consolas"/>
              </a:rPr>
              <a:t>0</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Grandchildren…</a:t>
            </a:r>
            <a:endParaRPr b="0" lang="en-US" sz="2600" spc="-1" strike="noStrike">
              <a:solidFill>
                <a:srgbClr val="000000"/>
              </a:solidFill>
              <a:latin typeface="Arial"/>
            </a:endParaRPr>
          </a:p>
        </p:txBody>
      </p:sp>
      <p:sp>
        <p:nvSpPr>
          <p:cNvPr id="246"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A typical output of the above should be:</a:t>
            </a:r>
            <a:endParaRPr b="0" lang="en-US" sz="1600" spc="-1" strike="noStrike">
              <a:solidFill>
                <a:srgbClr val="000000"/>
              </a:solidFill>
              <a:latin typeface="Arial"/>
            </a:endParaRPr>
          </a:p>
          <a:p>
            <a:pPr indent="0">
              <a:lnSpc>
                <a:spcPct val="115000"/>
              </a:lnSpc>
              <a:spcBef>
                <a:spcPts val="1199"/>
              </a:spcBef>
              <a:buNone/>
              <a:tabLst>
                <a:tab algn="l" pos="0"/>
              </a:tabLst>
            </a:pPr>
            <a:r>
              <a:rPr b="0" lang="el" sz="1600" spc="-1" strike="noStrike">
                <a:solidFill>
                  <a:schemeClr val="accent1"/>
                </a:solidFill>
                <a:latin typeface="Consolas"/>
                <a:ea typeface="Consolas"/>
              </a:rPr>
              <a:t>Grandchild 2</a:t>
            </a:r>
            <a:br>
              <a:rPr sz="1600"/>
            </a:br>
            <a:r>
              <a:rPr b="0" lang="el" sz="1600" spc="-1" strike="noStrike">
                <a:solidFill>
                  <a:schemeClr val="accent1"/>
                </a:solidFill>
                <a:latin typeface="Consolas"/>
                <a:ea typeface="Consolas"/>
              </a:rPr>
              <a:t>Child 2</a:t>
            </a:r>
            <a:br>
              <a:rPr sz="1600"/>
            </a:br>
            <a:r>
              <a:rPr b="0" lang="el" sz="1600" spc="-1" strike="noStrike">
                <a:solidFill>
                  <a:schemeClr val="accent1"/>
                </a:solidFill>
                <a:latin typeface="Consolas"/>
                <a:ea typeface="Consolas"/>
              </a:rPr>
              <a:t>Grandchild 1</a:t>
            </a:r>
            <a:br>
              <a:rPr sz="1600"/>
            </a:br>
            <a:r>
              <a:rPr b="0" lang="el" sz="1600" spc="-1" strike="noStrike">
                <a:solidFill>
                  <a:schemeClr val="accent1"/>
                </a:solidFill>
                <a:latin typeface="Consolas"/>
                <a:ea typeface="Consolas"/>
              </a:rPr>
              <a:t>Child 1</a:t>
            </a:r>
            <a:br>
              <a:rPr sz="1600"/>
            </a:br>
            <a:r>
              <a:rPr b="0" lang="el" sz="1600" spc="-1" strike="noStrike">
                <a:solidFill>
                  <a:schemeClr val="accent1"/>
                </a:solidFill>
                <a:latin typeface="Consolas"/>
                <a:ea typeface="Consolas"/>
              </a:rPr>
              <a:t>Parent</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You can think of it roughly as a tree transversed bottom–up, i.e., leaves to root.</a:t>
            </a:r>
            <a:br>
              <a:rPr sz="1600"/>
            </a:br>
            <a:endParaRPr b="0" lang="en-US" sz="1600" spc="-1" strike="noStrike">
              <a:solidFill>
                <a:srgbClr val="000000"/>
              </a:solidFill>
              <a:latin typeface="Arial"/>
            </a:endParaRPr>
          </a:p>
        </p:txBody>
      </p:sp>
      <p:sp>
        <p:nvSpPr>
          <p:cNvPr id="247" name="PlaceHolder 3"/>
          <p:cNvSpPr>
            <a:spLocks noGrp="1"/>
          </p:cNvSpPr>
          <p:nvPr>
            <p:ph type="sldNum" idx="2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36A6FEA-9724-4BF0-9616-6BB91C2BDCCD}" type="slidenum">
              <a:rPr b="0" lang="el" sz="1000" spc="-1" strike="noStrike">
                <a:solidFill>
                  <a:schemeClr val="accent1"/>
                </a:solidFill>
                <a:latin typeface="Lato"/>
                <a:ea typeface="Lato"/>
              </a:rPr>
              <a:t>25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Does This Print?</a:t>
            </a:r>
            <a:endParaRPr b="0" lang="en-US" sz="2600" spc="-1" strike="noStrike">
              <a:solidFill>
                <a:srgbClr val="000000"/>
              </a:solidFill>
              <a:latin typeface="Arial"/>
            </a:endParaRPr>
          </a:p>
        </p:txBody>
      </p:sp>
      <p:sp>
        <p:nvSpPr>
          <p:cNvPr id="249" name="PlaceHolder 2"/>
          <p:cNvSpPr>
            <a:spLocks noGrp="1"/>
          </p:cNvSpPr>
          <p:nvPr>
            <p:ph/>
          </p:nvPr>
        </p:nvSpPr>
        <p:spPr>
          <a:xfrm>
            <a:off x="729360" y="1378080"/>
            <a:ext cx="7688520" cy="3765240"/>
          </a:xfrm>
          <a:prstGeom prst="rect">
            <a:avLst/>
          </a:prstGeom>
          <a:noFill/>
          <a:ln w="0">
            <a:noFill/>
          </a:ln>
        </p:spPr>
        <p:txBody>
          <a:bodyPr tIns="91440" bIns="91440" anchor="t">
            <a:normAutofit fontScale="88000"/>
          </a:bodyPr>
          <a:p>
            <a:pPr indent="0">
              <a:lnSpc>
                <a:spcPct val="135000"/>
              </a:lnSpc>
              <a:buNone/>
              <a:tabLst>
                <a:tab algn="l" pos="0"/>
              </a:tabLst>
            </a:pPr>
            <a:r>
              <a:rPr b="0" lang="el" sz="1050" spc="-1" strike="noStrike">
                <a:solidFill>
                  <a:srgbClr val="008000"/>
                </a:solidFill>
                <a:highlight>
                  <a:srgbClr val="ffffff"/>
                </a:highlight>
                <a:latin typeface="Consolas"/>
                <a:ea typeface="Consolas"/>
              </a:rPr>
              <a:t>// source/ipc_003.c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nsolas"/>
                <a:ea typeface="Consolas"/>
              </a:rPr>
              <a:t>#include</a:t>
            </a:r>
            <a:r>
              <a:rPr b="0" lang="el" sz="1050" spc="-1" strike="noStrike">
                <a:solidFill>
                  <a:srgbClr val="0000ff"/>
                </a:solidFill>
                <a:highlight>
                  <a:srgbClr val="ffffff"/>
                </a:highlight>
                <a:latin typeface="Consolas"/>
                <a:ea typeface="Consolas"/>
              </a:rPr>
              <a:t> </a:t>
            </a:r>
            <a:r>
              <a:rPr b="0" lang="el" sz="1050" spc="-1" strike="noStrike">
                <a:solidFill>
                  <a:srgbClr val="a31515"/>
                </a:solidFill>
                <a:highlight>
                  <a:srgbClr val="ffffff"/>
                </a:highlight>
                <a:latin typeface="Consolas"/>
                <a:ea typeface="Consolas"/>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nsolas"/>
                <a:ea typeface="Consolas"/>
              </a:rPr>
              <a:t>#include</a:t>
            </a:r>
            <a:r>
              <a:rPr b="0" lang="el" sz="1050" spc="-1" strike="noStrike">
                <a:solidFill>
                  <a:srgbClr val="0000ff"/>
                </a:solidFill>
                <a:highlight>
                  <a:srgbClr val="ffffff"/>
                </a:highlight>
                <a:latin typeface="Consolas"/>
                <a:ea typeface="Consolas"/>
              </a:rPr>
              <a:t> </a:t>
            </a:r>
            <a:r>
              <a:rPr b="0" lang="el" sz="1050" spc="-1" strike="noStrike">
                <a:solidFill>
                  <a:srgbClr val="a31515"/>
                </a:solidFill>
                <a:highlight>
                  <a:srgbClr val="ffffff"/>
                </a:highlight>
                <a:latin typeface="Consolas"/>
                <a:ea typeface="Consolas"/>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nsolas"/>
                <a:ea typeface="Consolas"/>
              </a:rPr>
              <a:t>#include</a:t>
            </a:r>
            <a:r>
              <a:rPr b="0" lang="el" sz="1050" spc="-1" strike="noStrike">
                <a:solidFill>
                  <a:srgbClr val="0000ff"/>
                </a:solidFill>
                <a:highlight>
                  <a:srgbClr val="ffffff"/>
                </a:highlight>
                <a:latin typeface="Consolas"/>
                <a:ea typeface="Consolas"/>
              </a:rPr>
              <a:t> </a:t>
            </a:r>
            <a:r>
              <a:rPr b="0" lang="el" sz="1050" spc="-1" strike="noStrike">
                <a:solidFill>
                  <a:srgbClr val="a31515"/>
                </a:solidFill>
                <a:highlight>
                  <a:srgbClr val="ffffff"/>
                </a:highlight>
                <a:latin typeface="Consolas"/>
                <a:ea typeface="Consolas"/>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nsolas"/>
                <a:ea typeface="Consolas"/>
              </a:rPr>
              <a:t>int</a:t>
            </a: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main</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ff"/>
                </a:solidFill>
                <a:highlight>
                  <a:srgbClr val="ffffff"/>
                </a:highlight>
                <a:latin typeface="Consolas"/>
                <a:ea typeface="Consolas"/>
              </a:rPr>
              <a:t>pid_t</a:t>
            </a:r>
            <a:r>
              <a:rPr b="0" lang="el" sz="1050" spc="-1" strike="noStrike">
                <a:solidFill>
                  <a:srgbClr val="000000"/>
                </a:solidFill>
                <a:highlight>
                  <a:srgbClr val="ffffff"/>
                </a:highlight>
                <a:latin typeface="Consolas"/>
                <a:ea typeface="Consolas"/>
              </a:rPr>
              <a:t> </a:t>
            </a:r>
            <a:r>
              <a:rPr b="0" lang="el" sz="1050" spc="-1" strike="noStrike">
                <a:solidFill>
                  <a:srgbClr val="001080"/>
                </a:solidFill>
                <a:highlight>
                  <a:srgbClr val="ffffff"/>
                </a:highlight>
                <a:latin typeface="Consolas"/>
                <a:ea typeface="Consolas"/>
              </a:rPr>
              <a:t>pid</a:t>
            </a:r>
            <a:r>
              <a:rPr b="0" lang="el" sz="1050" spc="-1" strike="noStrike">
                <a:solidFill>
                  <a:srgbClr val="000000"/>
                </a:solidFill>
                <a:highlight>
                  <a:srgbClr val="ffffff"/>
                </a:highlight>
                <a:latin typeface="Consolas"/>
                <a:ea typeface="Consolas"/>
              </a:rPr>
              <a:t> = </a:t>
            </a:r>
            <a:r>
              <a:rPr b="0" lang="el" sz="1050" spc="-1" strike="noStrike">
                <a:solidFill>
                  <a:srgbClr val="795e26"/>
                </a:solidFill>
                <a:highlight>
                  <a:srgbClr val="ffffff"/>
                </a:highlight>
                <a:latin typeface="Consolas"/>
                <a:ea typeface="Consolas"/>
              </a:rPr>
              <a:t>fork</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if</a:t>
            </a:r>
            <a:r>
              <a:rPr b="0" lang="el" sz="1050" spc="-1" strike="noStrike">
                <a:solidFill>
                  <a:srgbClr val="000000"/>
                </a:solidFill>
                <a:highlight>
                  <a:srgbClr val="ffffff"/>
                </a:highlight>
                <a:latin typeface="Consolas"/>
                <a:ea typeface="Consolas"/>
              </a:rPr>
              <a:t> (</a:t>
            </a:r>
            <a:r>
              <a:rPr b="0" lang="el" sz="1050" spc="-1" strike="noStrike">
                <a:solidFill>
                  <a:srgbClr val="001080"/>
                </a:solidFill>
                <a:highlight>
                  <a:srgbClr val="ffffff"/>
                </a:highlight>
                <a:latin typeface="Consolas"/>
                <a:ea typeface="Consolas"/>
              </a:rPr>
              <a:t>pid</a:t>
            </a:r>
            <a:r>
              <a:rPr b="0" lang="el" sz="1050" spc="-1" strike="noStrike">
                <a:solidFill>
                  <a:srgbClr val="000000"/>
                </a:solidFill>
                <a:highlight>
                  <a:srgbClr val="ffffff"/>
                </a:highlight>
                <a:latin typeface="Consolas"/>
                <a:ea typeface="Consolas"/>
              </a:rPr>
              <a:t> &lt; </a:t>
            </a:r>
            <a:r>
              <a:rPr b="0" lang="el" sz="1050" spc="-1" strike="noStrike">
                <a:solidFill>
                  <a:srgbClr val="098658"/>
                </a:solidFill>
                <a:highlight>
                  <a:srgbClr val="ffffff"/>
                </a:highlight>
                <a:latin typeface="Consolas"/>
                <a:ea typeface="Consolas"/>
              </a:rPr>
              <a:t>0</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perror</a:t>
            </a:r>
            <a:r>
              <a:rPr b="0" lang="el" sz="1050" spc="-1" strike="noStrike">
                <a:solidFill>
                  <a:srgbClr val="000000"/>
                </a:solidFill>
                <a:highlight>
                  <a:srgbClr val="ffffff"/>
                </a:highlight>
                <a:latin typeface="Consolas"/>
                <a:ea typeface="Consolas"/>
              </a:rPr>
              <a:t>(</a:t>
            </a:r>
            <a:r>
              <a:rPr b="0" lang="el" sz="1050" spc="-1" strike="noStrike">
                <a:solidFill>
                  <a:srgbClr val="a31515"/>
                </a:solidFill>
                <a:highlight>
                  <a:srgbClr val="ffffff"/>
                </a:highlight>
                <a:latin typeface="Consolas"/>
                <a:ea typeface="Consolas"/>
              </a:rPr>
              <a:t>"Failure"</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exit</a:t>
            </a:r>
            <a:r>
              <a:rPr b="0" lang="el" sz="1050" spc="-1" strike="noStrike">
                <a:solidFill>
                  <a:srgbClr val="000000"/>
                </a:solidFill>
                <a:highlight>
                  <a:srgbClr val="ffffff"/>
                </a:highlight>
                <a:latin typeface="Consolas"/>
                <a:ea typeface="Consolas"/>
              </a:rPr>
              <a:t>(</a:t>
            </a:r>
            <a:r>
              <a:rPr b="0" lang="el" sz="1050" spc="-1" strike="noStrike">
                <a:solidFill>
                  <a:srgbClr val="098658"/>
                </a:solidFill>
                <a:highlight>
                  <a:srgbClr val="ffffff"/>
                </a:highlight>
                <a:latin typeface="Consolas"/>
                <a:ea typeface="Consolas"/>
              </a:rPr>
              <a:t>1</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else</a:t>
            </a: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if</a:t>
            </a:r>
            <a:r>
              <a:rPr b="0" lang="el" sz="1050" spc="-1" strike="noStrike">
                <a:solidFill>
                  <a:srgbClr val="000000"/>
                </a:solidFill>
                <a:highlight>
                  <a:srgbClr val="ffffff"/>
                </a:highlight>
                <a:latin typeface="Consolas"/>
                <a:ea typeface="Consolas"/>
              </a:rPr>
              <a:t> (</a:t>
            </a:r>
            <a:r>
              <a:rPr b="0" lang="el" sz="1050" spc="-1" strike="noStrike">
                <a:solidFill>
                  <a:srgbClr val="001080"/>
                </a:solidFill>
                <a:highlight>
                  <a:srgbClr val="ffffff"/>
                </a:highlight>
                <a:latin typeface="Consolas"/>
                <a:ea typeface="Consolas"/>
              </a:rPr>
              <a:t>pid</a:t>
            </a:r>
            <a:r>
              <a:rPr b="0" lang="el" sz="1050" spc="-1" strike="noStrike">
                <a:solidFill>
                  <a:srgbClr val="000000"/>
                </a:solidFill>
                <a:highlight>
                  <a:srgbClr val="ffffff"/>
                </a:highlight>
                <a:latin typeface="Consolas"/>
                <a:ea typeface="Consolas"/>
              </a:rPr>
              <a:t> == </a:t>
            </a:r>
            <a:r>
              <a:rPr b="0" lang="el" sz="1050" spc="-1" strike="noStrike">
                <a:solidFill>
                  <a:srgbClr val="098658"/>
                </a:solidFill>
                <a:highlight>
                  <a:srgbClr val="ffffff"/>
                </a:highlight>
                <a:latin typeface="Consolas"/>
                <a:ea typeface="Consolas"/>
              </a:rPr>
              <a:t>0</a:t>
            </a:r>
            <a:r>
              <a:rPr b="0" lang="el" sz="1050" spc="-1" strike="noStrike">
                <a:solidFill>
                  <a:srgbClr val="000000"/>
                </a:solidFill>
                <a:highlight>
                  <a:srgbClr val="ffffff"/>
                </a:highlight>
                <a:latin typeface="Consolas"/>
                <a:ea typeface="Consolas"/>
              </a:rPr>
              <a:t>) {</a:t>
            </a:r>
            <a:r>
              <a:rPr b="0" lang="el" sz="1050" spc="-1" strike="noStrike">
                <a:solidFill>
                  <a:srgbClr val="008000"/>
                </a:solidFill>
                <a:highlight>
                  <a:srgbClr val="ffffff"/>
                </a:highlight>
                <a:latin typeface="Consolas"/>
                <a:ea typeface="Consolas"/>
              </a:rPr>
              <a:t> // Child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execlp</a:t>
            </a:r>
            <a:r>
              <a:rPr b="0" lang="el" sz="1050" spc="-1" strike="noStrike">
                <a:solidFill>
                  <a:srgbClr val="000000"/>
                </a:solidFill>
                <a:highlight>
                  <a:srgbClr val="ffffff"/>
                </a:highlight>
                <a:latin typeface="Consolas"/>
                <a:ea typeface="Consolas"/>
              </a:rPr>
              <a:t>(</a:t>
            </a:r>
            <a:r>
              <a:rPr b="0" lang="el" sz="1050" spc="-1" strike="noStrike">
                <a:solidFill>
                  <a:srgbClr val="a31515"/>
                </a:solidFill>
                <a:highlight>
                  <a:srgbClr val="ffffff"/>
                </a:highlight>
                <a:latin typeface="Consolas"/>
                <a:ea typeface="Consolas"/>
              </a:rPr>
              <a:t>"ls"</a:t>
            </a:r>
            <a:r>
              <a:rPr b="0" lang="el" sz="1050" spc="-1" strike="noStrike">
                <a:solidFill>
                  <a:srgbClr val="000000"/>
                </a:solidFill>
                <a:highlight>
                  <a:srgbClr val="ffffff"/>
                </a:highlight>
                <a:latin typeface="Consolas"/>
                <a:ea typeface="Consolas"/>
              </a:rPr>
              <a:t>, </a:t>
            </a:r>
            <a:r>
              <a:rPr b="0" lang="el" sz="1050" spc="-1" strike="noStrike">
                <a:solidFill>
                  <a:srgbClr val="a31515"/>
                </a:solidFill>
                <a:highlight>
                  <a:srgbClr val="ffffff"/>
                </a:highlight>
                <a:latin typeface="Consolas"/>
                <a:ea typeface="Consolas"/>
              </a:rPr>
              <a:t>"ls"</a:t>
            </a:r>
            <a:r>
              <a:rPr b="0" lang="el" sz="1050" spc="-1" strike="noStrike">
                <a:solidFill>
                  <a:srgbClr val="000000"/>
                </a:solidFill>
                <a:highlight>
                  <a:srgbClr val="ffffff"/>
                </a:highlight>
                <a:latin typeface="Consolas"/>
                <a:ea typeface="Consolas"/>
              </a:rPr>
              <a:t>, </a:t>
            </a:r>
            <a:r>
              <a:rPr b="0" lang="el" sz="1050" spc="-1" strike="noStrike">
                <a:solidFill>
                  <a:srgbClr val="a31515"/>
                </a:solidFill>
                <a:highlight>
                  <a:srgbClr val="ffffff"/>
                </a:highlight>
                <a:latin typeface="Consolas"/>
                <a:ea typeface="Consolas"/>
              </a:rPr>
              <a:t>"-la"</a:t>
            </a:r>
            <a:r>
              <a:rPr b="0" lang="el" sz="1050" spc="-1" strike="noStrike">
                <a:solidFill>
                  <a:srgbClr val="000000"/>
                </a:solidFill>
                <a:highlight>
                  <a:srgbClr val="ffffff"/>
                </a:highlight>
                <a:latin typeface="Consolas"/>
                <a:ea typeface="Consolas"/>
              </a:rPr>
              <a:t>, </a:t>
            </a:r>
            <a:r>
              <a:rPr b="0" lang="el" sz="1050" spc="-1" strike="noStrike">
                <a:solidFill>
                  <a:srgbClr val="0000ff"/>
                </a:solidFill>
                <a:highlight>
                  <a:srgbClr val="ffffff"/>
                </a:highlight>
                <a:latin typeface="Consolas"/>
                <a:ea typeface="Consolas"/>
              </a:rPr>
              <a:t>NULL</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perror</a:t>
            </a:r>
            <a:r>
              <a:rPr b="0" lang="el" sz="1050" spc="-1" strike="noStrike">
                <a:solidFill>
                  <a:srgbClr val="000000"/>
                </a:solidFill>
                <a:highlight>
                  <a:srgbClr val="ffffff"/>
                </a:highlight>
                <a:latin typeface="Consolas"/>
                <a:ea typeface="Consolas"/>
              </a:rPr>
              <a:t>(</a:t>
            </a:r>
            <a:r>
              <a:rPr b="0" lang="el" sz="1050" spc="-1" strike="noStrike">
                <a:solidFill>
                  <a:srgbClr val="a31515"/>
                </a:solidFill>
                <a:highlight>
                  <a:srgbClr val="ffffff"/>
                </a:highlight>
                <a:latin typeface="Consolas"/>
                <a:ea typeface="Consolas"/>
              </a:rPr>
              <a:t>"execlp"</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exit</a:t>
            </a:r>
            <a:r>
              <a:rPr b="0" lang="el" sz="1050" spc="-1" strike="noStrike">
                <a:solidFill>
                  <a:srgbClr val="000000"/>
                </a:solidFill>
                <a:highlight>
                  <a:srgbClr val="ffffff"/>
                </a:highlight>
                <a:latin typeface="Consolas"/>
                <a:ea typeface="Consolas"/>
              </a:rPr>
              <a:t>(</a:t>
            </a:r>
            <a:r>
              <a:rPr b="0" lang="el" sz="1050" spc="-1" strike="noStrike">
                <a:solidFill>
                  <a:srgbClr val="098658"/>
                </a:solidFill>
                <a:highlight>
                  <a:srgbClr val="ffffff"/>
                </a:highlight>
                <a:latin typeface="Consolas"/>
                <a:ea typeface="Consolas"/>
              </a:rPr>
              <a:t>1</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else</a:t>
            </a:r>
            <a:r>
              <a:rPr b="0" lang="el" sz="1050" spc="-1" strike="noStrike">
                <a:solidFill>
                  <a:srgbClr val="000000"/>
                </a:solidFill>
                <a:highlight>
                  <a:srgbClr val="ffffff"/>
                </a:highlight>
                <a:latin typeface="Consolas"/>
                <a:ea typeface="Consolas"/>
              </a:rPr>
              <a:t> {</a:t>
            </a:r>
            <a:r>
              <a:rPr b="0" lang="el" sz="1050" spc="-1" strike="noStrike">
                <a:solidFill>
                  <a:srgbClr val="008000"/>
                </a:solidFill>
                <a:highlight>
                  <a:srgbClr val="ffffff"/>
                </a:highlight>
                <a:latin typeface="Consolas"/>
                <a:ea typeface="Consolas"/>
              </a:rPr>
              <a:t> // Parent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wait</a:t>
            </a:r>
            <a:r>
              <a:rPr b="0" lang="el" sz="1050" spc="-1" strike="noStrike">
                <a:solidFill>
                  <a:srgbClr val="000000"/>
                </a:solidFill>
                <a:highlight>
                  <a:srgbClr val="ffffff"/>
                </a:highlight>
                <a:latin typeface="Consolas"/>
                <a:ea typeface="Consolas"/>
              </a:rPr>
              <a:t>(</a:t>
            </a:r>
            <a:r>
              <a:rPr b="0" lang="el" sz="1050" spc="-1" strike="noStrike">
                <a:solidFill>
                  <a:srgbClr val="0000ff"/>
                </a:solidFill>
                <a:highlight>
                  <a:srgbClr val="ffffff"/>
                </a:highlight>
                <a:latin typeface="Consolas"/>
                <a:ea typeface="Consolas"/>
              </a:rPr>
              <a:t>NULL</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795e26"/>
                </a:solidFill>
                <a:highlight>
                  <a:srgbClr val="ffffff"/>
                </a:highlight>
                <a:latin typeface="Consolas"/>
                <a:ea typeface="Consolas"/>
              </a:rPr>
              <a:t>printf</a:t>
            </a:r>
            <a:r>
              <a:rPr b="0" lang="el" sz="1050" spc="-1" strike="noStrike">
                <a:solidFill>
                  <a:srgbClr val="000000"/>
                </a:solidFill>
                <a:highlight>
                  <a:srgbClr val="ffffff"/>
                </a:highlight>
                <a:latin typeface="Consolas"/>
                <a:ea typeface="Consolas"/>
              </a:rPr>
              <a:t>(</a:t>
            </a:r>
            <a:r>
              <a:rPr b="0" lang="el" sz="1050" spc="-1" strike="noStrike">
                <a:solidFill>
                  <a:srgbClr val="a31515"/>
                </a:solidFill>
                <a:highlight>
                  <a:srgbClr val="ffffff"/>
                </a:highlight>
                <a:latin typeface="Consolas"/>
                <a:ea typeface="Consolas"/>
              </a:rPr>
              <a:t>"Child process finished.</a:t>
            </a:r>
            <a:r>
              <a:rPr b="0" lang="el" sz="1050" spc="-1" strike="noStrike">
                <a:solidFill>
                  <a:srgbClr val="ee0000"/>
                </a:solidFill>
                <a:highlight>
                  <a:srgbClr val="ffffff"/>
                </a:highlight>
                <a:latin typeface="Consolas"/>
                <a:ea typeface="Consolas"/>
              </a:rPr>
              <a:t>\n</a:t>
            </a:r>
            <a:r>
              <a:rPr b="0" lang="el" sz="1050" spc="-1" strike="noStrike">
                <a:solidFill>
                  <a:srgbClr val="a31515"/>
                </a:solidFill>
                <a:highlight>
                  <a:srgbClr val="ffffff"/>
                </a:highlight>
                <a:latin typeface="Consolas"/>
                <a:ea typeface="Consolas"/>
              </a:rPr>
              <a:t>"</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af00db"/>
                </a:solidFill>
                <a:highlight>
                  <a:srgbClr val="ffffff"/>
                </a:highlight>
                <a:latin typeface="Consolas"/>
                <a:ea typeface="Consolas"/>
              </a:rPr>
              <a:t>return</a:t>
            </a:r>
            <a:r>
              <a:rPr b="0" lang="el" sz="1050" spc="-1" strike="noStrike">
                <a:solidFill>
                  <a:srgbClr val="000000"/>
                </a:solidFill>
                <a:highlight>
                  <a:srgbClr val="ffffff"/>
                </a:highlight>
                <a:latin typeface="Consolas"/>
                <a:ea typeface="Consolas"/>
              </a:rPr>
              <a:t> </a:t>
            </a:r>
            <a:r>
              <a:rPr b="0" lang="el" sz="1050" spc="-1" strike="noStrike">
                <a:solidFill>
                  <a:srgbClr val="098658"/>
                </a:solidFill>
                <a:highlight>
                  <a:srgbClr val="ffffff"/>
                </a:highlight>
                <a:latin typeface="Consolas"/>
                <a:ea typeface="Consolas"/>
              </a:rPr>
              <a:t>0</a:t>
            </a: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p:txBody>
      </p:sp>
      <p:sp>
        <p:nvSpPr>
          <p:cNvPr id="250" name="PlaceHolder 3"/>
          <p:cNvSpPr>
            <a:spLocks noGrp="1"/>
          </p:cNvSpPr>
          <p:nvPr>
            <p:ph type="sldNum" idx="2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CAAF554-0593-4929-A249-EADC2654DDF3}" type="slidenum">
              <a:rPr b="0" lang="el" sz="1000" spc="-1" strike="noStrike">
                <a:solidFill>
                  <a:schemeClr val="accent1"/>
                </a:solidFill>
                <a:latin typeface="Lato"/>
                <a:ea typeface="Lato"/>
              </a:rPr>
              <a:t>26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Consolas"/>
                <a:ea typeface="Consolas"/>
              </a:rPr>
              <a:t>execlp()</a:t>
            </a:r>
            <a:endParaRPr b="0" lang="en-US" sz="2600" spc="-1" strike="noStrike">
              <a:solidFill>
                <a:srgbClr val="000000"/>
              </a:solidFill>
              <a:latin typeface="Arial"/>
            </a:endParaRPr>
          </a:p>
        </p:txBody>
      </p:sp>
      <p:sp>
        <p:nvSpPr>
          <p:cNvPr id="252"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0" lang="el" sz="1600" spc="-1" strike="noStrike">
                <a:solidFill>
                  <a:schemeClr val="accent1"/>
                </a:solidFill>
                <a:latin typeface="Lato"/>
                <a:ea typeface="Lato"/>
              </a:rPr>
              <a:t>execlp() essentially executes a certain command with as many arguments as we want to.</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The first argument is always the file we want to execute — most of the time this is a file with the same name as the command we are looking to execute.</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The next argument is the name of the command we want to execute.</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Typically, as you might have guessed from thee above, the first two arguments share the same name.</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The next arguments are the actual arguments we want to pass to the system command we are calling.</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The last argument is always NULL to denote the end of the argument list.</a:t>
            </a:r>
            <a:endParaRPr b="0" lang="en-US" sz="1600" spc="-1" strike="noStrike">
              <a:solidFill>
                <a:srgbClr val="000000"/>
              </a:solidFill>
              <a:latin typeface="Arial"/>
            </a:endParaRPr>
          </a:p>
        </p:txBody>
      </p:sp>
      <p:sp>
        <p:nvSpPr>
          <p:cNvPr id="253" name="PlaceHolder 3"/>
          <p:cNvSpPr>
            <a:spLocks noGrp="1"/>
          </p:cNvSpPr>
          <p:nvPr>
            <p:ph type="sldNum" idx="3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7029A9C-282F-4D56-89D5-E72033363154}" type="slidenum">
              <a:rPr b="0" lang="el" sz="1000" spc="-1" strike="noStrike">
                <a:solidFill>
                  <a:schemeClr val="accent1"/>
                </a:solidFill>
                <a:latin typeface="Lato"/>
                <a:ea typeface="Lato"/>
              </a:rPr>
              <a:t>27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File I/O</a:t>
            </a:r>
            <a:endParaRPr b="0" lang="en-US" sz="2600" spc="-1" strike="noStrike">
              <a:solidFill>
                <a:srgbClr val="000000"/>
              </a:solidFill>
              <a:latin typeface="Arial"/>
            </a:endParaRPr>
          </a:p>
        </p:txBody>
      </p:sp>
      <p:sp>
        <p:nvSpPr>
          <p:cNvPr id="255" name="PlaceHolder 2"/>
          <p:cNvSpPr>
            <a:spLocks noGrp="1"/>
          </p:cNvSpPr>
          <p:nvPr>
            <p:ph/>
          </p:nvPr>
        </p:nvSpPr>
        <p:spPr>
          <a:xfrm>
            <a:off x="729360" y="1378080"/>
            <a:ext cx="7688520" cy="3765240"/>
          </a:xfrm>
          <a:prstGeom prst="rect">
            <a:avLst/>
          </a:prstGeom>
          <a:noFill/>
          <a:ln w="0">
            <a:noFill/>
          </a:ln>
        </p:spPr>
        <p:txBody>
          <a:bodyPr tIns="91440" bIns="91440" anchor="t">
            <a:normAutofit fontScale="62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source/ipc_004.c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&lt;fcntl.h&gt;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fd_in</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fd_out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char</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buffer</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1024</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bytes_read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fd_in</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open</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"input.txt"</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O_RDONLY</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fd_in</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"open"</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fd_out</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open</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"output.txt"</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O_WRONLY</a:t>
            </a:r>
            <a:r>
              <a:rPr b="0" lang="el" sz="1050" spc="-1" strike="noStrike">
                <a:solidFill>
                  <a:srgbClr val="000000"/>
                </a:solidFill>
                <a:highlight>
                  <a:srgbClr val="ffffff"/>
                </a:highlight>
                <a:latin typeface="Courier New"/>
                <a:ea typeface="Courier New"/>
              </a:rPr>
              <a:t> | </a:t>
            </a:r>
            <a:r>
              <a:rPr b="0" lang="el" sz="1050" spc="-1" strike="noStrike">
                <a:solidFill>
                  <a:srgbClr val="0000ff"/>
                </a:solidFill>
                <a:highlight>
                  <a:srgbClr val="ffffff"/>
                </a:highlight>
                <a:latin typeface="Courier New"/>
                <a:ea typeface="Courier New"/>
              </a:rPr>
              <a:t>O_CREAT</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0644</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fd_out</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"open"</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while</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bytes_read</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read</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fd_in</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buffer</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sizeof</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buffer</a:t>
            </a:r>
            <a:r>
              <a:rPr b="0" lang="el" sz="1050" spc="-1" strike="noStrike">
                <a:solidFill>
                  <a:srgbClr val="000000"/>
                </a:solidFill>
                <a:highlight>
                  <a:srgbClr val="ffffff"/>
                </a:highlight>
                <a:latin typeface="Courier New"/>
                <a:ea typeface="Courier New"/>
              </a:rPr>
              <a:t>))) &gt;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write</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fd_out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buffer</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bytes_read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close</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fd_in</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close</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fd_out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56" name="PlaceHolder 3"/>
          <p:cNvSpPr>
            <a:spLocks noGrp="1"/>
          </p:cNvSpPr>
          <p:nvPr>
            <p:ph type="sldNum" idx="3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22F4815-570F-4119-95AB-0FD878ACFA42}" type="slidenum">
              <a:rPr b="0" lang="el" sz="1000" spc="-1" strike="noStrike">
                <a:solidFill>
                  <a:schemeClr val="accent1"/>
                </a:solidFill>
                <a:latin typeface="Lato"/>
                <a:ea typeface="Lato"/>
              </a:rPr>
              <a:t>28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File I/O</a:t>
            </a:r>
            <a:endParaRPr b="0" lang="en-US" sz="2600" spc="-1" strike="noStrike">
              <a:solidFill>
                <a:srgbClr val="000000"/>
              </a:solidFill>
              <a:latin typeface="Arial"/>
            </a:endParaRPr>
          </a:p>
        </p:txBody>
      </p:sp>
      <p:sp>
        <p:nvSpPr>
          <p:cNvPr id="258"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open() opens a file handler with certain rights: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O_RDONLY → read only;</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O_WRONLY → write only;</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O_CREAT → create a file;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read() accepts by default three arguments: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fd → the file descriptor corresponding to the file we want to read;</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buf → the char buffer where the bytes read are kept;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count → a size_t type argument corresponding to the size of the buffer (typically).</a:t>
            </a:r>
            <a:endParaRPr b="0" lang="en-US" sz="1600" spc="-1" strike="noStrike">
              <a:solidFill>
                <a:srgbClr val="000000"/>
              </a:solidFill>
              <a:latin typeface="Arial"/>
            </a:endParaRPr>
          </a:p>
        </p:txBody>
      </p:sp>
      <p:sp>
        <p:nvSpPr>
          <p:cNvPr id="259" name="PlaceHolder 3"/>
          <p:cNvSpPr>
            <a:spLocks noGrp="1"/>
          </p:cNvSpPr>
          <p:nvPr>
            <p:ph type="sldNum" idx="3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0A5A7C5-CD47-4C91-B16D-D40115B2277D}" type="slidenum">
              <a:rPr b="0" lang="el" sz="1000" spc="-1" strike="noStrike">
                <a:solidFill>
                  <a:schemeClr val="accent1"/>
                </a:solidFill>
                <a:latin typeface="Lato"/>
                <a:ea typeface="Lato"/>
              </a:rPr>
              <a:t>29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Fun Time!</a:t>
            </a:r>
            <a:endParaRPr b="0" lang="en-US" sz="3600" spc="-1" strike="noStrike">
              <a:solidFill>
                <a:srgbClr val="000000"/>
              </a:solidFill>
              <a:latin typeface="Arial"/>
            </a:endParaRPr>
          </a:p>
        </p:txBody>
      </p:sp>
      <p:sp>
        <p:nvSpPr>
          <p:cNvPr id="261" name="PlaceHolder 2"/>
          <p:cNvSpPr>
            <a:spLocks noGrp="1"/>
          </p:cNvSpPr>
          <p:nvPr>
            <p:ph type="sldNum" idx="3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C0C101A6-83FC-4286-8A71-643299C347F0}" type="slidenum">
              <a:rPr b="0" lang="el" sz="1000" spc="-1" strike="noStrike">
                <a:solidFill>
                  <a:schemeClr val="lt1"/>
                </a:solidFill>
                <a:latin typeface="Lato"/>
                <a:ea typeface="Lato"/>
              </a:rPr>
              <a:t>30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Lab Exercise #001</a:t>
            </a:r>
            <a:endParaRPr b="0" lang="en-US" sz="2600" spc="-1" strike="noStrike">
              <a:solidFill>
                <a:srgbClr val="000000"/>
              </a:solidFill>
              <a:latin typeface="Arial"/>
            </a:endParaRPr>
          </a:p>
        </p:txBody>
      </p:sp>
      <p:sp>
        <p:nvSpPr>
          <p:cNvPr id="263" name="PlaceHolder 2"/>
          <p:cNvSpPr>
            <a:spLocks noGrp="1"/>
          </p:cNvSpPr>
          <p:nvPr>
            <p:ph/>
          </p:nvPr>
        </p:nvSpPr>
        <p:spPr>
          <a:xfrm>
            <a:off x="729360" y="1378080"/>
            <a:ext cx="7688520" cy="351000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Recall the dummy shell emulator we created last time: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This is available in source/dummy_sys.c</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Try to improve its functionality by allowing it to make use of more complex commands, that also accept arguments.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Demonstrate your shell’s behaviour in at least five distinct cases.</a:t>
            </a:r>
            <a:endParaRPr b="0" lang="en-US" sz="1600" spc="-1" strike="noStrike">
              <a:solidFill>
                <a:srgbClr val="000000"/>
              </a:solidFill>
              <a:latin typeface="Arial"/>
            </a:endParaRPr>
          </a:p>
        </p:txBody>
      </p:sp>
      <p:sp>
        <p:nvSpPr>
          <p:cNvPr id="264" name="PlaceHolder 3"/>
          <p:cNvSpPr>
            <a:spLocks noGrp="1"/>
          </p:cNvSpPr>
          <p:nvPr>
            <p:ph type="sldNum" idx="3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F1C8F86-6D1A-4B37-BB7A-B7EB1CEFE4E4}"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Lab Exercise #002</a:t>
            </a:r>
            <a:endParaRPr b="0" lang="en-US" sz="2600" spc="-1" strike="noStrike">
              <a:solidFill>
                <a:srgbClr val="000000"/>
              </a:solidFill>
              <a:latin typeface="Arial"/>
            </a:endParaRPr>
          </a:p>
        </p:txBody>
      </p:sp>
      <p:sp>
        <p:nvSpPr>
          <p:cNvPr id="266"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Write a Bash script that takes a filename as input.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Use a pipe to pass the contents of the file to the wc command to count the number of lines, words, and characters.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Create some dummy files to demonstrate your script’s behaviour.</a:t>
            </a:r>
            <a:endParaRPr b="0" lang="en-US" sz="1600" spc="-1" strike="noStrike">
              <a:solidFill>
                <a:srgbClr val="000000"/>
              </a:solidFill>
              <a:latin typeface="Arial"/>
            </a:endParaRPr>
          </a:p>
        </p:txBody>
      </p:sp>
      <p:sp>
        <p:nvSpPr>
          <p:cNvPr id="267" name="PlaceHolder 3"/>
          <p:cNvSpPr>
            <a:spLocks noGrp="1"/>
          </p:cNvSpPr>
          <p:nvPr>
            <p:ph type="sldNum" idx="3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17623AF-D7C7-4B6C-9E59-061F1E20633A}"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lnSpc>
                <a:spcPct val="100000"/>
              </a:lnSpc>
              <a:buNone/>
              <a:tabLst>
                <a:tab algn="l" pos="0"/>
              </a:tabLst>
            </a:pPr>
            <a:r>
              <a:rPr b="1" lang="el" sz="2600" spc="-1" strike="noStrike">
                <a:solidFill>
                  <a:schemeClr val="dk2"/>
                </a:solidFill>
                <a:latin typeface="Lato"/>
                <a:ea typeface="Lato"/>
              </a:rPr>
              <a:t>Any Questions?</a:t>
            </a:r>
            <a:endParaRPr b="0" lang="en-US" sz="2600" spc="-1" strike="noStrike">
              <a:solidFill>
                <a:srgbClr val="000000"/>
              </a:solidFill>
              <a:latin typeface="Arial"/>
            </a:endParaRPr>
          </a:p>
        </p:txBody>
      </p:sp>
      <p:sp>
        <p:nvSpPr>
          <p:cNvPr id="269" name="PlaceHolder 2"/>
          <p:cNvSpPr>
            <a:spLocks noGrp="1"/>
          </p:cNvSpPr>
          <p:nvPr>
            <p:ph type="subTitle"/>
          </p:nvPr>
        </p:nvSpPr>
        <p:spPr>
          <a:xfrm>
            <a:off x="725040" y="3161520"/>
            <a:ext cx="3300480" cy="7585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Don’t forget to fill-in the questionnaire (check right)</a:t>
            </a:r>
            <a:endParaRPr b="0" lang="en-US" sz="1600" spc="-1" strike="noStrike">
              <a:solidFill>
                <a:srgbClr val="000000"/>
              </a:solidFill>
              <a:latin typeface="Arial"/>
            </a:endParaRPr>
          </a:p>
        </p:txBody>
      </p:sp>
      <p:sp>
        <p:nvSpPr>
          <p:cNvPr id="270" name="PlaceHolder 3"/>
          <p:cNvSpPr>
            <a:spLocks noGrp="1"/>
          </p:cNvSpPr>
          <p:nvPr>
            <p:ph/>
          </p:nvPr>
        </p:nvSpPr>
        <p:spPr>
          <a:xfrm>
            <a:off x="4672800" y="4080240"/>
            <a:ext cx="4381920" cy="453960"/>
          </a:xfrm>
          <a:prstGeom prst="rect">
            <a:avLst/>
          </a:prstGeom>
          <a:noFill/>
          <a:ln w="0">
            <a:noFill/>
          </a:ln>
        </p:spPr>
        <p:txBody>
          <a:bodyPr tIns="91440" bIns="91440" anchor="t">
            <a:normAutofit fontScale="86000"/>
          </a:bodyPr>
          <a:p>
            <a:pPr indent="0" algn="ctr">
              <a:lnSpc>
                <a:spcPct val="115000"/>
              </a:lnSpc>
              <a:spcAft>
                <a:spcPts val="1199"/>
              </a:spcAft>
              <a:buNone/>
              <a:tabLst>
                <a:tab algn="l" pos="0"/>
              </a:tabLst>
            </a:pPr>
            <a:r>
              <a:rPr b="0" lang="el" sz="1600" spc="-1" strike="noStrike" u="sng">
                <a:solidFill>
                  <a:schemeClr val="hlink"/>
                </a:solidFill>
                <a:uFillTx/>
                <a:latin typeface="Consolas"/>
                <a:ea typeface="Consolas"/>
                <a:hlinkClick r:id="rId1"/>
              </a:rPr>
              <a:t>https://forms.gle/aj7pYsK1ksufD6xYA</a:t>
            </a:r>
            <a:endParaRPr b="0" lang="en-US" sz="1600" spc="-1" strike="noStrike">
              <a:solidFill>
                <a:srgbClr val="000000"/>
              </a:solidFill>
              <a:latin typeface="Arial"/>
            </a:endParaRPr>
          </a:p>
        </p:txBody>
      </p:sp>
      <p:pic>
        <p:nvPicPr>
          <p:cNvPr id="271" name="Google Shape;350;p34" descr="">
            <a:hlinkClick r:id="rId2"/>
          </p:cNvPr>
          <p:cNvPicPr/>
          <p:nvPr/>
        </p:nvPicPr>
        <p:blipFill>
          <a:blip r:embed="rId3"/>
          <a:stretch/>
        </p:blipFill>
        <p:spPr>
          <a:xfrm>
            <a:off x="5434920" y="1063080"/>
            <a:ext cx="2857320" cy="2857320"/>
          </a:xfrm>
          <a:prstGeom prst="rect">
            <a:avLst/>
          </a:prstGeom>
          <a:ln w="0">
            <a:noFill/>
          </a:ln>
        </p:spPr>
      </p:pic>
      <p:sp>
        <p:nvSpPr>
          <p:cNvPr id="272" name="PlaceHolder 4"/>
          <p:cNvSpPr>
            <a:spLocks noGrp="1"/>
          </p:cNvSpPr>
          <p:nvPr>
            <p:ph type="sldNum" idx="3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046875D-D345-4975-9196-1DA6C86576EC}" type="slidenum">
              <a:rPr b="0" lang="el" sz="1000" spc="-1" strike="noStrike">
                <a:solidFill>
                  <a:schemeClr val="accent1"/>
                </a:solidFill>
                <a:latin typeface="Lato"/>
                <a:ea typeface="Lato"/>
              </a:rPr>
              <a:t>33</a:t>
            </a:fld>
            <a:endParaRPr b="0" lang="en-US" sz="1000" spc="-1" strike="noStrike">
              <a:solidFill>
                <a:srgbClr val="000000"/>
              </a:solidFill>
              <a:latin typeface="Times New Roman"/>
            </a:endParaRPr>
          </a:p>
        </p:txBody>
      </p:sp>
      <p:sp>
        <p:nvSpPr>
          <p:cNvPr id="273" name="PlaceHolder 5"/>
          <p:cNvSpPr>
            <a:spLocks noGrp="1"/>
          </p:cNvSpPr>
          <p:nvPr>
            <p:ph type="subTitle"/>
          </p:nvPr>
        </p:nvSpPr>
        <p:spPr>
          <a:xfrm>
            <a:off x="768600" y="2112120"/>
            <a:ext cx="3300480" cy="893520"/>
          </a:xfrm>
          <a:prstGeom prst="rect">
            <a:avLst/>
          </a:prstGeom>
          <a:noFill/>
          <a:ln w="0">
            <a:noFill/>
          </a:ln>
        </p:spPr>
        <p:txBody>
          <a:bodyPr tIns="91440" bIns="91440" anchor="t">
            <a:normAutofit/>
          </a:bodyPr>
          <a:p>
            <a:pPr indent="0">
              <a:lnSpc>
                <a:spcPct val="90000"/>
              </a:lnSpc>
              <a:buNone/>
              <a:tabLst>
                <a:tab algn="l" pos="0"/>
              </a:tabLst>
            </a:pPr>
            <a:r>
              <a:rPr b="0" lang="el" sz="1300" spc="-1" strike="noStrike">
                <a:solidFill>
                  <a:schemeClr val="accent1"/>
                </a:solidFill>
                <a:latin typeface="Lato"/>
                <a:ea typeface="Lato"/>
              </a:rPr>
              <a:t>Office Hours:</a:t>
            </a:r>
            <a:endParaRPr b="0" lang="en-US" sz="1300" spc="-1" strike="noStrike">
              <a:solidFill>
                <a:srgbClr val="000000"/>
              </a:solidFill>
              <a:latin typeface="Arial"/>
            </a:endParaRPr>
          </a:p>
          <a:p>
            <a:pPr indent="0">
              <a:lnSpc>
                <a:spcPct val="90000"/>
              </a:lnSpc>
              <a:buNone/>
              <a:tabLst>
                <a:tab algn="l" pos="0"/>
              </a:tabLst>
            </a:pP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LibreOffice/7.4.7.2$Linux_X86_64 LibreOffice_project/40$Build-2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2025-12-05T11:45:09Z</dcterms:modified>
  <cp:revision>3</cp:revision>
  <dc:subject/>
  <dc:title/>
</cp:coreProperties>
</file>