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_rels/slide23.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6.xml.rels" ContentType="application/vnd.openxmlformats-package.relationships+xml"/>
  <Override PartName="/ppt/slides/_rels/slide34.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25.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4.xml.rels" ContentType="application/vnd.openxmlformats-package.relationships+xml"/>
  <Override PartName="/ppt/slides/_rels/slide33.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2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3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6B658D38-E45B-4939-9C1F-C55F9E7DF7FC}"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BDD1F8E8-C3C5-4591-9819-FCE62F9880C9}"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494C6FAB-CAA3-4DF6-BB83-88F71338E4EB}"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BF111579-4A8A-455E-999F-6249A5A4C75C}"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D3476BC4-364E-403C-BCB0-7A3BEB5743D5}"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77CEF346-294D-4690-967B-8841F3875748}"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95BDC493-EF7B-4B1D-9811-2C0D031FE5A6}"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68029428-14B4-4CE6-B689-E7607C0573C7}"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6260742F-F20E-43F2-AA55-AF48961B1F06}"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11030B6A-ED46-4237-9DA6-4D49D94C39C2}"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C253EBA6-1644-408E-8C95-B133BA73AEA6}"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72943E24-557E-4463-8F7D-510607A62802}"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CDD92A23-FE05-480A-889B-319D0C5FC482}"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8287F623-FE88-48DC-98A2-FD1DF4A43E10}"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B24D6958-60CB-43CB-A2DD-647A082B8172}"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BD5EDF90-9B2F-40E7-BA40-7B3759A5B623}"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74DA7A70-1AB2-4848-A6F9-ADD6BFCDD3D1}"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ABB3C707-2F6F-4A33-91C4-DE15FE549288}"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CD838BD6-E1A6-44E4-8CE9-4E183083AFE1}"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2C2C34CF-0B45-4022-AA42-FB94483E50D4}"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7910B8E-81CB-41F4-8EBA-D9FE5CDF2944}"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3F544501-AAC6-4AB4-96F1-5162A82A0756}"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8D34B4C9-EE93-4AC9-9535-380D44E2F143}"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A56AEBEB-70F5-46DD-952E-B3E9F48378FD}"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F223DFD8-1ECC-4CB4-8205-4F2ACE510FE2}"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4559C521-7D3F-44D0-A34C-A92231989CE2}"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359F6C86-5402-488E-8C6A-57DA7A2B7BBF}"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AA0CDAFC-7A42-4E08-8BDD-41CB942AEB3B}"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6A655BF0-BDDC-424F-A815-0DBFC9102348}"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9CC3699C-7199-4DC2-AFEC-7BD9D6749291}"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426CAB46-A21A-4019-918F-CBE4FD3C34CE}"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533DBEB2-D39E-4773-A2DA-A1960B00663D}"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BC1AAC54-E5DA-4B87-8124-4115D2A849E4}"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927F8C38-A9B5-4A08-8A18-6A7C99B29FB7}"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351FCC08-0A5F-4A5B-B4C1-F08955349285}"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6E574ADF-8D06-4C54-BFB2-11A84A0F621F}"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BE4E260E-495A-478D-9C21-9A4B78B62CC4}"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4B6A8144-2103-4E16-938E-064DD3ABC969}"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59040BA7-DBF8-4ED4-B502-5DD808988A5A}"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AB5A5BC3-9A69-4ABB-9FBD-C6C412C0BBCA}"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E73BDE85-422F-43EC-8B5A-3DD00EA7F6DF}"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44B91AEB-587B-446F-B56A-BAA5B8C764BD}"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16040EDB-A9E3-463D-B6CB-4CD3D8CC78A5}"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A91F7E7E-44C2-4A2E-9E0C-04D7B56462C5}"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4A081603-7F69-43AD-9EDC-7585C75165EA}"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F084FA21-A1C5-46AF-A16C-7FDB6B201302}"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3030ED00-A76B-4D9E-9C28-28DB3D92C51D}"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5806B89F-7D55-41E7-BF08-6374BD40A6E7}"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1;p37"/>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2;p37"/>
          <p:cNvGrpSpPr/>
          <p:nvPr/>
        </p:nvGrpSpPr>
        <p:grpSpPr>
          <a:xfrm>
            <a:off x="530280" y="1205640"/>
            <a:ext cx="1342800" cy="17280"/>
            <a:chOff x="530280" y="1205640"/>
            <a:chExt cx="1342800" cy="17280"/>
          </a:xfrm>
        </p:grpSpPr>
        <p:sp>
          <p:nvSpPr>
            <p:cNvPr id="2" name="Google Shape;13;p37"/>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4;p37"/>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48286D9-7B7A-41DB-975A-B8896B91404C}"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8;p37"/>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1;p38"/>
          <p:cNvGrpSpPr/>
          <p:nvPr/>
        </p:nvGrpSpPr>
        <p:grpSpPr>
          <a:xfrm>
            <a:off x="530280" y="1205640"/>
            <a:ext cx="1342800" cy="17280"/>
            <a:chOff x="530280" y="1205640"/>
            <a:chExt cx="1342800" cy="17280"/>
          </a:xfrm>
        </p:grpSpPr>
        <p:sp>
          <p:nvSpPr>
            <p:cNvPr id="45" name="Google Shape;22;p38"/>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3;p38"/>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2120FD3E-38EC-4AFB-84B4-D21A6F6B5875}"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7;p39"/>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gn="r">
              <a:lnSpc>
                <a:spcPct val="100000"/>
              </a:lnSpc>
              <a:tabLst>
                <a:tab algn="l" pos="0"/>
              </a:tabLst>
            </a:pPr>
            <a:endParaRPr b="0" lang="en-US" sz="1400" spc="-1" strike="noStrike">
              <a:solidFill>
                <a:srgbClr val="000000"/>
              </a:solidFill>
              <a:latin typeface="Arial"/>
            </a:endParaRPr>
          </a:p>
        </p:txBody>
      </p:sp>
      <p:grpSp>
        <p:nvGrpSpPr>
          <p:cNvPr id="87" name="Google Shape;28;p39"/>
          <p:cNvGrpSpPr/>
          <p:nvPr/>
        </p:nvGrpSpPr>
        <p:grpSpPr>
          <a:xfrm>
            <a:off x="530280" y="1205640"/>
            <a:ext cx="1342800" cy="17280"/>
            <a:chOff x="530280" y="1205640"/>
            <a:chExt cx="1342800" cy="17280"/>
          </a:xfrm>
        </p:grpSpPr>
        <p:sp>
          <p:nvSpPr>
            <p:cNvPr id="88" name="Google Shape;29;p39"/>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30;p39"/>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B8A0E8E-ECDC-405C-A923-55E7E3E494D2}"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35;p40"/>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36;p40"/>
          <p:cNvGrpSpPr/>
          <p:nvPr/>
        </p:nvGrpSpPr>
        <p:grpSpPr>
          <a:xfrm>
            <a:off x="530280" y="1205640"/>
            <a:ext cx="1342800" cy="17280"/>
            <a:chOff x="530280" y="1205640"/>
            <a:chExt cx="1342800" cy="17280"/>
          </a:xfrm>
        </p:grpSpPr>
        <p:sp>
          <p:nvSpPr>
            <p:cNvPr id="131" name="Google Shape;37;p40"/>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38;p40"/>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687B8A5-8166-417D-8551-ACE0915DC78A}"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2.xml.rels><?xml version="1.0" encoding="UTF-8"?>
<Relationships xmlns="http://schemas.openxmlformats.org/package/2006/relationships"><Relationship Id="rId1" Type="http://schemas.openxmlformats.org/officeDocument/2006/relationships/hyperlink" Target="https://greenteapress.com/thinkos/html/thinkos009.html" TargetMode="External"/><Relationship Id="rId2" Type="http://schemas.openxmlformats.org/officeDocument/2006/relationships/hyperlink" Target="https://github.com/AllenDowney/ThinkOS/tree/master/code/cache" TargetMode="External"/><Relationship Id="rId3" Type="http://schemas.openxmlformats.org/officeDocument/2006/relationships/slideLayout" Target="../slideLayouts/slideLayout27.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35.xml.rels><?xml version="1.0" encoding="UTF-8"?>
<Relationships xmlns="http://schemas.openxmlformats.org/package/2006/relationships"><Relationship Id="rId1" Type="http://schemas.openxmlformats.org/officeDocument/2006/relationships/hyperlink" Target="https://forms.gle/aj7pYsK1ksufD6xYA" TargetMode="External"/><Relationship Id="rId2" Type="http://schemas.openxmlformats.org/officeDocument/2006/relationships/hyperlink" Target="https://forms.gle/aj7pYsK1ksufD6xYA" TargetMode="External"/><Relationship Id="rId3" Type="http://schemas.openxmlformats.org/officeDocument/2006/relationships/image" Target="../media/image1.png"/><Relationship Id="rId4"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Operating Systems</a:t>
            </a:r>
            <a:br>
              <a:rPr sz="4200"/>
            </a:br>
            <a:r>
              <a:rPr b="0" lang="el" sz="1600" spc="-1" strike="noStrike">
                <a:solidFill>
                  <a:schemeClr val="accent1"/>
                </a:solidFill>
                <a:latin typeface="Lato"/>
                <a:ea typeface="Lato"/>
              </a:rPr>
              <a:t>IPC: Inter-processes Communication</a:t>
            </a:r>
            <a:endParaRPr b="0" lang="en-US" sz="1600" spc="-1" strike="noStrike">
              <a:solidFill>
                <a:srgbClr val="000000"/>
              </a:solidFill>
              <a:latin typeface="Arial"/>
            </a:endParaRPr>
          </a:p>
        </p:txBody>
      </p:sp>
      <p:sp>
        <p:nvSpPr>
          <p:cNvPr id="173" name="PlaceHolder 2"/>
          <p:cNvSpPr>
            <a:spLocks noGrp="1"/>
          </p:cNvSpPr>
          <p:nvPr>
            <p:ph type="subTitle"/>
          </p:nvPr>
        </p:nvSpPr>
        <p:spPr>
          <a:xfrm>
            <a:off x="729720" y="3173040"/>
            <a:ext cx="7687800" cy="7387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br>
              <a:rPr sz="1600"/>
            </a:b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174" name="Google Shape;118;p1"/>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175"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08</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IPC</a:t>
            </a:r>
            <a:endParaRPr b="0" lang="en-US" sz="3600" spc="-1" strike="noStrike">
              <a:solidFill>
                <a:srgbClr val="000000"/>
              </a:solidFill>
              <a:latin typeface="Arial"/>
            </a:endParaRPr>
          </a:p>
        </p:txBody>
      </p:sp>
      <p:sp>
        <p:nvSpPr>
          <p:cNvPr id="177" name="PlaceHolder 2"/>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1D45554D-EC0A-4DF2-9575-C148AF47FC85}"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Is IPC? (TL;DR)</a:t>
            </a:r>
            <a:endParaRPr b="0" lang="en-US" sz="2600" spc="-1" strike="noStrike">
              <a:solidFill>
                <a:srgbClr val="000000"/>
              </a:solidFill>
              <a:latin typeface="Arial"/>
            </a:endParaRPr>
          </a:p>
        </p:txBody>
      </p:sp>
      <p:sp>
        <p:nvSpPr>
          <p:cNvPr id="179"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Definition:</a:t>
            </a:r>
            <a:r>
              <a:rPr b="0" lang="el" sz="1600" spc="-1" strike="noStrike">
                <a:solidFill>
                  <a:schemeClr val="accent1"/>
                </a:solidFill>
                <a:latin typeface="Lato"/>
                <a:ea typeface="Lato"/>
              </a:rPr>
              <a:t> A mechanism that allows processes to interact and synchronize with each other.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Why is it important?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Resource sharing</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Data exchange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Task coordination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Types of IPC Mechanisms: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Pipes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Sockets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Signals</a:t>
            </a:r>
            <a:endParaRPr b="0" lang="en-US" sz="1600" spc="-1" strike="noStrike">
              <a:solidFill>
                <a:srgbClr val="000000"/>
              </a:solidFill>
              <a:latin typeface="Arial"/>
            </a:endParaRPr>
          </a:p>
        </p:txBody>
      </p:sp>
      <p:sp>
        <p:nvSpPr>
          <p:cNvPr id="180"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2F7C15B-4E25-4BCA-9590-1FD570DA1C06}"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1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1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17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17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179">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IPC?</a:t>
            </a:r>
            <a:endParaRPr b="0" lang="en-US" sz="2600" spc="-1" strike="noStrike">
              <a:solidFill>
                <a:srgbClr val="000000"/>
              </a:solidFill>
              <a:latin typeface="Arial"/>
            </a:endParaRPr>
          </a:p>
        </p:txBody>
      </p:sp>
      <p:sp>
        <p:nvSpPr>
          <p:cNvPr id="182" name="PlaceHolder 2"/>
          <p:cNvSpPr>
            <a:spLocks noGrp="1"/>
          </p:cNvSpPr>
          <p:nvPr>
            <p:ph/>
          </p:nvPr>
        </p:nvSpPr>
        <p:spPr>
          <a:xfrm>
            <a:off x="729360" y="1378080"/>
            <a:ext cx="7688520" cy="3764880"/>
          </a:xfrm>
          <a:prstGeom prst="rect">
            <a:avLst/>
          </a:prstGeom>
          <a:noFill/>
          <a:ln w="0">
            <a:noFill/>
          </a:ln>
        </p:spPr>
        <p:txBody>
          <a:bodyPr tIns="91440" bIns="91440" anchor="t">
            <a:normAutofit fontScale="98000"/>
          </a:bodyPr>
          <a:p>
            <a:pPr marL="447840" indent="-323280">
              <a:lnSpc>
                <a:spcPct val="115000"/>
              </a:lnSpc>
              <a:buClr>
                <a:srgbClr val="595959"/>
              </a:buClr>
              <a:buFont typeface="Lato"/>
              <a:buChar char="●"/>
            </a:pPr>
            <a:r>
              <a:rPr b="1" lang="el" sz="1600" spc="-1" strike="noStrike">
                <a:solidFill>
                  <a:schemeClr val="accent1"/>
                </a:solidFill>
                <a:latin typeface="Lato"/>
                <a:ea typeface="Lato"/>
              </a:rPr>
              <a:t>Resource Sharing:</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Multiple processes can access and share the same resources, such as files, databases, or hardware devices.</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This improves resource utilization and system efficiency.</a:t>
            </a:r>
            <a:endParaRPr b="0" lang="en-US" sz="1600" spc="-1" strike="noStrike">
              <a:solidFill>
                <a:srgbClr val="000000"/>
              </a:solidFill>
              <a:latin typeface="Arial"/>
            </a:endParaRPr>
          </a:p>
          <a:p>
            <a:pPr marL="447840" indent="-323280">
              <a:lnSpc>
                <a:spcPct val="115000"/>
              </a:lnSpc>
              <a:buClr>
                <a:srgbClr val="595959"/>
              </a:buClr>
              <a:buFont typeface="Lato"/>
              <a:buChar char="●"/>
            </a:pPr>
            <a:r>
              <a:rPr b="1" lang="el" sz="1600" spc="-1" strike="noStrike">
                <a:solidFill>
                  <a:schemeClr val="accent1"/>
                </a:solidFill>
                <a:latin typeface="Lato"/>
                <a:ea typeface="Lato"/>
              </a:rPr>
              <a:t>Data Exchange:</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Processes can exchange data and information, allowing them to collaborate and coordinate their activities.</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This is crucial for distributed systems and client-server architectures.</a:t>
            </a:r>
            <a:endParaRPr b="0" lang="en-US" sz="1600" spc="-1" strike="noStrike">
              <a:solidFill>
                <a:srgbClr val="000000"/>
              </a:solidFill>
              <a:latin typeface="Arial"/>
            </a:endParaRPr>
          </a:p>
          <a:p>
            <a:pPr marL="447840" indent="-323280">
              <a:lnSpc>
                <a:spcPct val="115000"/>
              </a:lnSpc>
              <a:buClr>
                <a:srgbClr val="595959"/>
              </a:buClr>
              <a:buFont typeface="Lato"/>
              <a:buChar char="●"/>
            </a:pPr>
            <a:r>
              <a:rPr b="1" lang="el" sz="1600" spc="-1" strike="noStrike">
                <a:solidFill>
                  <a:schemeClr val="accent1"/>
                </a:solidFill>
                <a:latin typeface="Lato"/>
                <a:ea typeface="Lato"/>
              </a:rPr>
              <a:t>Task Coordination:</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Processes can synchronize their actions, ensuring that they execute in a specific order or at specific times.</a:t>
            </a:r>
            <a:endParaRPr b="0" lang="en-US" sz="1600" spc="-1" strike="noStrike">
              <a:solidFill>
                <a:srgbClr val="000000"/>
              </a:solidFill>
              <a:latin typeface="Arial"/>
            </a:endParaRPr>
          </a:p>
          <a:p>
            <a:pPr lvl="1" marL="896040" indent="-323280">
              <a:lnSpc>
                <a:spcPct val="115000"/>
              </a:lnSpc>
              <a:buClr>
                <a:srgbClr val="595959"/>
              </a:buClr>
              <a:buFont typeface="Lato"/>
              <a:buChar char="○"/>
            </a:pPr>
            <a:r>
              <a:rPr b="0" lang="el" sz="1600" spc="-1" strike="noStrike">
                <a:solidFill>
                  <a:schemeClr val="accent1"/>
                </a:solidFill>
                <a:latin typeface="Lato"/>
                <a:ea typeface="Lato"/>
              </a:rPr>
              <a:t>This is essential for complex applications with multiple threads or processes.</a:t>
            </a:r>
            <a:endParaRPr b="0" lang="en-US" sz="1600" spc="-1" strike="noStrike">
              <a:solidFill>
                <a:srgbClr val="000000"/>
              </a:solidFill>
              <a:latin typeface="Arial"/>
            </a:endParaRPr>
          </a:p>
        </p:txBody>
      </p:sp>
      <p:sp>
        <p:nvSpPr>
          <p:cNvPr id="183" name="PlaceHolder 3"/>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B2A6229-7E71-4E06-B01A-AADA3BE38891}"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182">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82">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182">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182">
                                            <p:txEl>
                                              <p:pRg st="3" end="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182">
                                            <p:txEl>
                                              <p:pRg st="4" end="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182">
                                            <p:txEl>
                                              <p:pRg st="5" end="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0"/>
                                          </p:stCondLst>
                                        </p:cTn>
                                        <p:tgtEl>
                                          <p:spTgt spid="182">
                                            <p:txEl>
                                              <p:pRg st="6" end="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182">
                                            <p:txEl>
                                              <p:pRg st="7" end="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182">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Mechanisms</a:t>
            </a:r>
            <a:endParaRPr b="0" lang="en-US" sz="2600" spc="-1" strike="noStrike">
              <a:solidFill>
                <a:srgbClr val="000000"/>
              </a:solidFill>
              <a:latin typeface="Arial"/>
            </a:endParaRPr>
          </a:p>
        </p:txBody>
      </p:sp>
      <p:sp>
        <p:nvSpPr>
          <p:cNvPr id="185"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region of memory that is shared by multiple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Processes can read from and write to this shared memory to exchange data.</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Advantages: Fast, efficient, and suitable for large data transfers.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Disadvantages: Requires careful synchronization to avoid race conditions and data corruption.</a:t>
            </a:r>
            <a:endParaRPr b="0" lang="en-US" sz="1600" spc="-1" strike="noStrike">
              <a:solidFill>
                <a:srgbClr val="000000"/>
              </a:solidFill>
              <a:latin typeface="Arial"/>
            </a:endParaRPr>
          </a:p>
        </p:txBody>
      </p:sp>
      <p:sp>
        <p:nvSpPr>
          <p:cNvPr id="186"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D39F813-5407-4151-8A64-44A62F6ECA56}"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85" dur="indefinite" restart="never" nodeType="tmRoot">
          <p:childTnLst>
            <p:seq>
              <p:cTn id="86" dur="indefinite" nodeType="mainSeq">
                <p:childTnLst>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185">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185">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nodeType="clickEffect" fill="hold" presetClass="entr" presetID="1">
                                  <p:stCondLst>
                                    <p:cond delay="0"/>
                                  </p:stCondLst>
                                  <p:childTnLst>
                                    <p:set>
                                      <p:cBhvr>
                                        <p:cTn id="98" dur="1" fill="hold">
                                          <p:stCondLst>
                                            <p:cond delay="0"/>
                                          </p:stCondLst>
                                        </p:cTn>
                                        <p:tgtEl>
                                          <p:spTgt spid="185">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nodeType="clickEffect" fill="hold" presetClass="entr" presetID="1">
                                  <p:stCondLst>
                                    <p:cond delay="0"/>
                                  </p:stCondLst>
                                  <p:childTnLst>
                                    <p:set>
                                      <p:cBhvr>
                                        <p:cTn id="102" dur="1" fill="hold">
                                          <p:stCondLst>
                                            <p:cond delay="0"/>
                                          </p:stCondLst>
                                        </p:cTn>
                                        <p:tgtEl>
                                          <p:spTgt spid="185">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185">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Mechanisms</a:t>
            </a:r>
            <a:endParaRPr b="0" lang="en-US" sz="2600" spc="-1" strike="noStrike">
              <a:solidFill>
                <a:srgbClr val="000000"/>
              </a:solidFill>
              <a:latin typeface="Arial"/>
            </a:endParaRPr>
          </a:p>
        </p:txBody>
      </p:sp>
      <p:sp>
        <p:nvSpPr>
          <p:cNvPr id="188"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queue that stores messages sent by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Processes can send messages to a queue and receive messages from it.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Advantages: Provides asynchronous communication, decoupling the sender and receiver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Disadvantages: Less efficient than shared memory for large data transfers.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Pipes: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unidirectional communication channel between two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Data is written to one end of the pipe and read from the other end.</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Advantages: Simple to implement and use.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Disadvantages: Limited to communication between two processes.</a:t>
            </a:r>
            <a:endParaRPr b="0" lang="en-US" sz="1600" spc="-1" strike="noStrike">
              <a:solidFill>
                <a:srgbClr val="000000"/>
              </a:solidFill>
              <a:latin typeface="Arial"/>
            </a:endParaRPr>
          </a:p>
        </p:txBody>
      </p:sp>
      <p:sp>
        <p:nvSpPr>
          <p:cNvPr id="189"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B316F32-AADC-4F60-B45B-7ED34F70F2F8}"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07" dur="indefinite" restart="never" nodeType="tmRoot">
          <p:childTnLst>
            <p:seq>
              <p:cTn id="108" dur="indefinite" nodeType="mainSeq">
                <p:childTnLst>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188">
                                            <p:txEl>
                                              <p:pRg st="0" end="0"/>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188">
                                            <p:txEl>
                                              <p:pRg st="1" end="1"/>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188">
                                            <p:txEl>
                                              <p:pRg st="2" end="2"/>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188">
                                            <p:txEl>
                                              <p:pRg st="3" end="3"/>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188">
                                            <p:txEl>
                                              <p:pRg st="4" end="4"/>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188">
                                            <p:txEl>
                                              <p:pRg st="5" end="5"/>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nodeType="clickEffect" fill="hold" presetClass="entr" presetID="1">
                                  <p:stCondLst>
                                    <p:cond delay="0"/>
                                  </p:stCondLst>
                                  <p:childTnLst>
                                    <p:set>
                                      <p:cBhvr>
                                        <p:cTn id="136" dur="1" fill="hold">
                                          <p:stCondLst>
                                            <p:cond delay="0"/>
                                          </p:stCondLst>
                                        </p:cTn>
                                        <p:tgtEl>
                                          <p:spTgt spid="188">
                                            <p:txEl>
                                              <p:pRg st="6" end="6"/>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188">
                                            <p:txEl>
                                              <p:pRg st="7" end="7"/>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1">
                                  <p:stCondLst>
                                    <p:cond delay="0"/>
                                  </p:stCondLst>
                                  <p:childTnLst>
                                    <p:set>
                                      <p:cBhvr>
                                        <p:cTn id="144" dur="1" fill="hold">
                                          <p:stCondLst>
                                            <p:cond delay="0"/>
                                          </p:stCondLst>
                                        </p:cTn>
                                        <p:tgtEl>
                                          <p:spTgt spid="188">
                                            <p:txEl>
                                              <p:pRg st="8" end="8"/>
                                            </p:txEl>
                                          </p:spTgt>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1">
                                  <p:stCondLst>
                                    <p:cond delay="0"/>
                                  </p:stCondLst>
                                  <p:childTnLst>
                                    <p:set>
                                      <p:cBhvr>
                                        <p:cTn id="148" dur="1" fill="hold">
                                          <p:stCondLst>
                                            <p:cond delay="0"/>
                                          </p:stCondLst>
                                        </p:cTn>
                                        <p:tgtEl>
                                          <p:spTgt spid="188">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Mechanisms</a:t>
            </a:r>
            <a:endParaRPr b="0" lang="en-US" sz="2600" spc="-1" strike="noStrike">
              <a:solidFill>
                <a:srgbClr val="000000"/>
              </a:solidFill>
              <a:latin typeface="Arial"/>
            </a:endParaRPr>
          </a:p>
        </p:txBody>
      </p:sp>
      <p:sp>
        <p:nvSpPr>
          <p:cNvPr id="191"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Sockets: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bidirectional communication channel between two processes, which can be on the same machine or on different machines.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Sockets allow for network communication.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Advantages: Flexible and powerful, suitable for network programming.</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Disadvantages: More complex to implement than other IPC mechanisms.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Signals: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way for one process to send a signal to another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Signals can be used to interrupt a process, terminate a process, or trigger a specific action.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Advantages: Lightweight and efficient.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Disadvantages: Limited to simple notifications.</a:t>
            </a:r>
            <a:endParaRPr b="0" lang="en-US" sz="1600" spc="-1" strike="noStrike">
              <a:solidFill>
                <a:srgbClr val="000000"/>
              </a:solidFill>
              <a:latin typeface="Arial"/>
            </a:endParaRPr>
          </a:p>
        </p:txBody>
      </p:sp>
      <p:sp>
        <p:nvSpPr>
          <p:cNvPr id="192"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B8A13AD-E6D8-46B9-9317-B031611EAD30}"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49" dur="indefinite" restart="never" nodeType="tmRoot">
          <p:childTnLst>
            <p:seq>
              <p:cTn id="150" dur="indefinite" nodeType="mainSeq">
                <p:childTnLst>
                  <p:par>
                    <p:cTn id="151" fill="hold">
                      <p:stCondLst>
                        <p:cond delay="indefinite"/>
                      </p:stCondLst>
                      <p:childTnLst>
                        <p:par>
                          <p:cTn id="152" fill="hold">
                            <p:stCondLst>
                              <p:cond delay="0"/>
                            </p:stCondLst>
                            <p:childTnLst>
                              <p:par>
                                <p:cTn id="153" nodeType="clickEffect" fill="hold" presetClass="entr" presetID="1">
                                  <p:stCondLst>
                                    <p:cond delay="0"/>
                                  </p:stCondLst>
                                  <p:childTnLst>
                                    <p:set>
                                      <p:cBhvr>
                                        <p:cTn id="154"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191">
                                            <p:txEl>
                                              <p:pRg st="1" end="1"/>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191">
                                            <p:txEl>
                                              <p:pRg st="3" end="3"/>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nodeType="clickEffect" fill="hold" presetClass="entr" presetID="1">
                                  <p:stCondLst>
                                    <p:cond delay="0"/>
                                  </p:stCondLst>
                                  <p:childTnLst>
                                    <p:set>
                                      <p:cBhvr>
                                        <p:cTn id="170" dur="1" fill="hold">
                                          <p:stCondLst>
                                            <p:cond delay="0"/>
                                          </p:stCondLst>
                                        </p:cTn>
                                        <p:tgtEl>
                                          <p:spTgt spid="191">
                                            <p:txEl>
                                              <p:pRg st="4" end="4"/>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nodeType="clickEffect" fill="hold" presetClass="entr" presetID="1">
                                  <p:stCondLst>
                                    <p:cond delay="0"/>
                                  </p:stCondLst>
                                  <p:childTnLst>
                                    <p:set>
                                      <p:cBhvr>
                                        <p:cTn id="174" dur="1" fill="hold">
                                          <p:stCondLst>
                                            <p:cond delay="0"/>
                                          </p:stCondLst>
                                        </p:cTn>
                                        <p:tgtEl>
                                          <p:spTgt spid="191">
                                            <p:txEl>
                                              <p:pRg st="5" end="5"/>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
                                  <p:stCondLst>
                                    <p:cond delay="0"/>
                                  </p:stCondLst>
                                  <p:childTnLst>
                                    <p:set>
                                      <p:cBhvr>
                                        <p:cTn id="178" dur="1" fill="hold">
                                          <p:stCondLst>
                                            <p:cond delay="0"/>
                                          </p:stCondLst>
                                        </p:cTn>
                                        <p:tgtEl>
                                          <p:spTgt spid="191">
                                            <p:txEl>
                                              <p:pRg st="6" end="6"/>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nodeType="clickEffect" fill="hold" presetClass="entr" presetID="1">
                                  <p:stCondLst>
                                    <p:cond delay="0"/>
                                  </p:stCondLst>
                                  <p:childTnLst>
                                    <p:set>
                                      <p:cBhvr>
                                        <p:cTn id="182" dur="1" fill="hold">
                                          <p:stCondLst>
                                            <p:cond delay="0"/>
                                          </p:stCondLst>
                                        </p:cTn>
                                        <p:tgtEl>
                                          <p:spTgt spid="191">
                                            <p:txEl>
                                              <p:pRg st="7" end="7"/>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nodeType="clickEffect" fill="hold" presetClass="entr" presetID="1">
                                  <p:stCondLst>
                                    <p:cond delay="0"/>
                                  </p:stCondLst>
                                  <p:childTnLst>
                                    <p:set>
                                      <p:cBhvr>
                                        <p:cTn id="186" dur="1" fill="hold">
                                          <p:stCondLst>
                                            <p:cond delay="0"/>
                                          </p:stCondLst>
                                        </p:cTn>
                                        <p:tgtEl>
                                          <p:spTgt spid="191">
                                            <p:txEl>
                                              <p:pRg st="8" end="8"/>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nodeType="clickEffect" fill="hold" presetClass="entr" presetID="1">
                                  <p:stCondLst>
                                    <p:cond delay="0"/>
                                  </p:stCondLst>
                                  <p:childTnLst>
                                    <p:set>
                                      <p:cBhvr>
                                        <p:cTn id="190" dur="1" fill="hold">
                                          <p:stCondLst>
                                            <p:cond delay="0"/>
                                          </p:stCondLst>
                                        </p:cTn>
                                        <p:tgtEl>
                                          <p:spTgt spid="191">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Linux + IPC (System V)</a:t>
            </a:r>
            <a:endParaRPr b="0" lang="en-US" sz="2600" spc="-1" strike="noStrike">
              <a:solidFill>
                <a:srgbClr val="000000"/>
              </a:solidFill>
              <a:latin typeface="Arial"/>
            </a:endParaRPr>
          </a:p>
        </p:txBody>
      </p:sp>
      <p:sp>
        <p:nvSpPr>
          <p:cNvPr id="194"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Origin:</a:t>
            </a:r>
            <a:r>
              <a:rPr b="0" lang="el" sz="1600" spc="-1" strike="noStrike">
                <a:solidFill>
                  <a:schemeClr val="accent1"/>
                </a:solidFill>
                <a:latin typeface="Lato"/>
                <a:ea typeface="Lato"/>
              </a:rPr>
              <a:t> Derived from the System V operating system.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Key Features: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Semaphores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API:</a:t>
            </a:r>
            <a:r>
              <a:rPr b="0" lang="el" sz="1600" spc="-1" strike="noStrike">
                <a:solidFill>
                  <a:schemeClr val="accent1"/>
                </a:solidFill>
                <a:latin typeface="Lato"/>
                <a:ea typeface="Lato"/>
              </a:rPr>
              <a:t> Older and less standardized than POSIX IPC.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Portability:</a:t>
            </a:r>
            <a:r>
              <a:rPr b="0" lang="el" sz="1600" spc="-1" strike="noStrike">
                <a:solidFill>
                  <a:schemeClr val="accent1"/>
                </a:solidFill>
                <a:latin typeface="Lato"/>
                <a:ea typeface="Lato"/>
              </a:rPr>
              <a:t> Less portable across different Unix-like systems.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Key Points: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Uses integer keys to identify IPC objects.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Offers more flexibility in terms of semaphore operations.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Can be less portable and less standardized than POSIX IPC.</a:t>
            </a:r>
            <a:endParaRPr b="0" lang="en-US" sz="1600" spc="-1" strike="noStrike">
              <a:solidFill>
                <a:srgbClr val="000000"/>
              </a:solidFill>
              <a:latin typeface="Arial"/>
            </a:endParaRPr>
          </a:p>
        </p:txBody>
      </p:sp>
      <p:sp>
        <p:nvSpPr>
          <p:cNvPr id="195"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042ECAF-C1F8-48F8-A2FB-F0D3BADE71E1}"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1" dur="indefinite" restart="never" nodeType="tmRoot">
          <p:childTnLst>
            <p:seq>
              <p:cTn id="192" dur="indefinite" nodeType="mainSeq">
                <p:childTnLst>
                  <p:par>
                    <p:cTn id="193" fill="hold">
                      <p:stCondLst>
                        <p:cond delay="indefinite"/>
                      </p:stCondLst>
                      <p:childTnLst>
                        <p:par>
                          <p:cTn id="194" fill="hold">
                            <p:stCondLst>
                              <p:cond delay="0"/>
                            </p:stCondLst>
                            <p:childTnLst>
                              <p:par>
                                <p:cTn id="195" nodeType="clickEffect" fill="hold" presetClass="entr" presetID="1">
                                  <p:stCondLst>
                                    <p:cond delay="0"/>
                                  </p:stCondLst>
                                  <p:childTnLst>
                                    <p:set>
                                      <p:cBhvr>
                                        <p:cTn id="196" dur="1" fill="hold">
                                          <p:stCondLst>
                                            <p:cond delay="0"/>
                                          </p:stCondLst>
                                        </p:cTn>
                                        <p:tgtEl>
                                          <p:spTgt spid="194">
                                            <p:txEl>
                                              <p:pRg st="0" end="0"/>
                                            </p:txEl>
                                          </p:spTgt>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194">
                                            <p:txEl>
                                              <p:pRg st="1" end="1"/>
                                            </p:txEl>
                                          </p:spTgt>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
                                  <p:stCondLst>
                                    <p:cond delay="0"/>
                                  </p:stCondLst>
                                  <p:childTnLst>
                                    <p:set>
                                      <p:cBhvr>
                                        <p:cTn id="204" dur="1" fill="hold">
                                          <p:stCondLst>
                                            <p:cond delay="0"/>
                                          </p:stCondLst>
                                        </p:cTn>
                                        <p:tgtEl>
                                          <p:spTgt spid="194">
                                            <p:txEl>
                                              <p:pRg st="2" end="2"/>
                                            </p:txEl>
                                          </p:spTgt>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1">
                                  <p:stCondLst>
                                    <p:cond delay="0"/>
                                  </p:stCondLst>
                                  <p:childTnLst>
                                    <p:set>
                                      <p:cBhvr>
                                        <p:cTn id="208" dur="1" fill="hold">
                                          <p:stCondLst>
                                            <p:cond delay="0"/>
                                          </p:stCondLst>
                                        </p:cTn>
                                        <p:tgtEl>
                                          <p:spTgt spid="194">
                                            <p:txEl>
                                              <p:pRg st="3" end="3"/>
                                            </p:txEl>
                                          </p:spTgt>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nodeType="clickEffect" fill="hold" presetClass="entr" presetID="1">
                                  <p:stCondLst>
                                    <p:cond delay="0"/>
                                  </p:stCondLst>
                                  <p:childTnLst>
                                    <p:set>
                                      <p:cBhvr>
                                        <p:cTn id="212" dur="1" fill="hold">
                                          <p:stCondLst>
                                            <p:cond delay="0"/>
                                          </p:stCondLst>
                                        </p:cTn>
                                        <p:tgtEl>
                                          <p:spTgt spid="194">
                                            <p:txEl>
                                              <p:pRg st="4" end="4"/>
                                            </p:txEl>
                                          </p:spTgt>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nodeType="clickEffect" fill="hold" presetClass="entr" presetID="1">
                                  <p:stCondLst>
                                    <p:cond delay="0"/>
                                  </p:stCondLst>
                                  <p:childTnLst>
                                    <p:set>
                                      <p:cBhvr>
                                        <p:cTn id="216" dur="1" fill="hold">
                                          <p:stCondLst>
                                            <p:cond delay="0"/>
                                          </p:stCondLst>
                                        </p:cTn>
                                        <p:tgtEl>
                                          <p:spTgt spid="194">
                                            <p:txEl>
                                              <p:pRg st="5" end="5"/>
                                            </p:txEl>
                                          </p:spTgt>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1">
                                  <p:stCondLst>
                                    <p:cond delay="0"/>
                                  </p:stCondLst>
                                  <p:childTnLst>
                                    <p:set>
                                      <p:cBhvr>
                                        <p:cTn id="220" dur="1" fill="hold">
                                          <p:stCondLst>
                                            <p:cond delay="0"/>
                                          </p:stCondLst>
                                        </p:cTn>
                                        <p:tgtEl>
                                          <p:spTgt spid="194">
                                            <p:txEl>
                                              <p:pRg st="6" end="6"/>
                                            </p:txEl>
                                          </p:spTgt>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nodeType="clickEffect" fill="hold" presetClass="entr" presetID="1">
                                  <p:stCondLst>
                                    <p:cond delay="0"/>
                                  </p:stCondLst>
                                  <p:childTnLst>
                                    <p:set>
                                      <p:cBhvr>
                                        <p:cTn id="224" dur="1" fill="hold">
                                          <p:stCondLst>
                                            <p:cond delay="0"/>
                                          </p:stCondLst>
                                        </p:cTn>
                                        <p:tgtEl>
                                          <p:spTgt spid="194">
                                            <p:txEl>
                                              <p:pRg st="7" end="7"/>
                                            </p:txEl>
                                          </p:spTgt>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nodeType="clickEffect" fill="hold" presetClass="entr" presetID="1">
                                  <p:stCondLst>
                                    <p:cond delay="0"/>
                                  </p:stCondLst>
                                  <p:childTnLst>
                                    <p:set>
                                      <p:cBhvr>
                                        <p:cTn id="228" dur="1" fill="hold">
                                          <p:stCondLst>
                                            <p:cond delay="0"/>
                                          </p:stCondLst>
                                        </p:cTn>
                                        <p:tgtEl>
                                          <p:spTgt spid="194">
                                            <p:txEl>
                                              <p:pRg st="8" end="8"/>
                                            </p:txEl>
                                          </p:spTgt>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nodeType="clickEffect" fill="hold" presetClass="entr" presetID="1">
                                  <p:stCondLst>
                                    <p:cond delay="0"/>
                                  </p:stCondLst>
                                  <p:childTnLst>
                                    <p:set>
                                      <p:cBhvr>
                                        <p:cTn id="232" dur="1" fill="hold">
                                          <p:stCondLst>
                                            <p:cond delay="0"/>
                                          </p:stCondLst>
                                        </p:cTn>
                                        <p:tgtEl>
                                          <p:spTgt spid="194">
                                            <p:txEl>
                                              <p:pRg st="9" end="9"/>
                                            </p:txEl>
                                          </p:spTgt>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1">
                                  <p:stCondLst>
                                    <p:cond delay="0"/>
                                  </p:stCondLst>
                                  <p:childTnLst>
                                    <p:set>
                                      <p:cBhvr>
                                        <p:cTn id="236" dur="1" fill="hold">
                                          <p:stCondLst>
                                            <p:cond delay="0"/>
                                          </p:stCondLst>
                                        </p:cTn>
                                        <p:tgtEl>
                                          <p:spTgt spid="194">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Linux + IPC (POSIX)</a:t>
            </a:r>
            <a:endParaRPr b="0" lang="en-US" sz="2600" spc="-1" strike="noStrike">
              <a:solidFill>
                <a:srgbClr val="000000"/>
              </a:solidFill>
              <a:latin typeface="Arial"/>
            </a:endParaRPr>
          </a:p>
        </p:txBody>
      </p:sp>
      <p:sp>
        <p:nvSpPr>
          <p:cNvPr id="197" name="PlaceHolder 2"/>
          <p:cNvSpPr>
            <a:spLocks noGrp="1"/>
          </p:cNvSpPr>
          <p:nvPr>
            <p:ph/>
          </p:nvPr>
        </p:nvSpPr>
        <p:spPr>
          <a:xfrm>
            <a:off x="729360" y="1378080"/>
            <a:ext cx="7688520" cy="3765240"/>
          </a:xfrm>
          <a:prstGeom prst="rect">
            <a:avLst/>
          </a:prstGeom>
          <a:noFill/>
          <a:ln w="0">
            <a:noFill/>
          </a:ln>
        </p:spPr>
        <p:txBody>
          <a:bodyPr tIns="91440" bIns="91440" anchor="t">
            <a:normAutofit fontScale="91000"/>
          </a:bodyPr>
          <a:p>
            <a:pPr marL="415800" indent="-300240">
              <a:lnSpc>
                <a:spcPct val="115000"/>
              </a:lnSpc>
              <a:buClr>
                <a:srgbClr val="595959"/>
              </a:buClr>
              <a:buFont typeface="Lato"/>
              <a:buChar char="●"/>
            </a:pPr>
            <a:r>
              <a:rPr b="1" lang="el" sz="1600" spc="-1" strike="noStrike">
                <a:solidFill>
                  <a:schemeClr val="accent1"/>
                </a:solidFill>
                <a:latin typeface="Lato"/>
                <a:ea typeface="Lato"/>
              </a:rPr>
              <a:t>Origin:</a:t>
            </a:r>
            <a:r>
              <a:rPr b="0" lang="el" sz="1600" spc="-1" strike="noStrike">
                <a:solidFill>
                  <a:schemeClr val="accent1"/>
                </a:solidFill>
                <a:latin typeface="Lato"/>
                <a:ea typeface="Lato"/>
              </a:rPr>
              <a:t> Standardized by the IEEE Portable Operating System Interface (POSIX) standards.</a:t>
            </a:r>
            <a:endParaRPr b="0" lang="en-US" sz="1600" spc="-1" strike="noStrike">
              <a:solidFill>
                <a:srgbClr val="000000"/>
              </a:solidFill>
              <a:latin typeface="Arial"/>
            </a:endParaRPr>
          </a:p>
          <a:p>
            <a:pPr marL="415800" indent="-300240">
              <a:lnSpc>
                <a:spcPct val="115000"/>
              </a:lnSpc>
              <a:buClr>
                <a:srgbClr val="595959"/>
              </a:buClr>
              <a:buFont typeface="Lato"/>
              <a:buChar char="●"/>
            </a:pPr>
            <a:r>
              <a:rPr b="1" lang="el" sz="1600" spc="-1" strike="noStrike">
                <a:solidFill>
                  <a:schemeClr val="accent1"/>
                </a:solidFill>
                <a:latin typeface="Lato"/>
                <a:ea typeface="Lato"/>
              </a:rPr>
              <a:t>Key Features: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Semaphores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Pipes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Signals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Timers</a:t>
            </a:r>
            <a:endParaRPr b="0" lang="en-US" sz="1600" spc="-1" strike="noStrike">
              <a:solidFill>
                <a:srgbClr val="000000"/>
              </a:solidFill>
              <a:latin typeface="Arial"/>
            </a:endParaRPr>
          </a:p>
          <a:p>
            <a:pPr marL="415800" indent="-300240">
              <a:lnSpc>
                <a:spcPct val="115000"/>
              </a:lnSpc>
              <a:buClr>
                <a:srgbClr val="595959"/>
              </a:buClr>
              <a:buFont typeface="Lato"/>
              <a:buChar char="●"/>
            </a:pPr>
            <a:r>
              <a:rPr b="1" lang="el" sz="1600" spc="-1" strike="noStrike">
                <a:solidFill>
                  <a:schemeClr val="accent1"/>
                </a:solidFill>
                <a:latin typeface="Lato"/>
                <a:ea typeface="Lato"/>
              </a:rPr>
              <a:t>API:</a:t>
            </a:r>
            <a:r>
              <a:rPr b="0" lang="el" sz="1600" spc="-1" strike="noStrike">
                <a:solidFill>
                  <a:schemeClr val="accent1"/>
                </a:solidFill>
                <a:latin typeface="Lato"/>
                <a:ea typeface="Lato"/>
              </a:rPr>
              <a:t> More standardized and portable than System V IPC.</a:t>
            </a:r>
            <a:endParaRPr b="0" lang="en-US" sz="1600" spc="-1" strike="noStrike">
              <a:solidFill>
                <a:srgbClr val="000000"/>
              </a:solidFill>
              <a:latin typeface="Arial"/>
            </a:endParaRPr>
          </a:p>
          <a:p>
            <a:pPr marL="415800" indent="-300240">
              <a:lnSpc>
                <a:spcPct val="115000"/>
              </a:lnSpc>
              <a:buClr>
                <a:srgbClr val="595959"/>
              </a:buClr>
              <a:buFont typeface="Lato"/>
              <a:buChar char="●"/>
            </a:pPr>
            <a:r>
              <a:rPr b="1" lang="el" sz="1600" spc="-1" strike="noStrike">
                <a:solidFill>
                  <a:schemeClr val="accent1"/>
                </a:solidFill>
                <a:latin typeface="Lato"/>
                <a:ea typeface="Lato"/>
              </a:rPr>
              <a:t>Portability:</a:t>
            </a:r>
            <a:r>
              <a:rPr b="0" lang="el" sz="1600" spc="-1" strike="noStrike">
                <a:solidFill>
                  <a:schemeClr val="accent1"/>
                </a:solidFill>
                <a:latin typeface="Lato"/>
                <a:ea typeface="Lato"/>
              </a:rPr>
              <a:t> More portable across different Unix-like systems.</a:t>
            </a:r>
            <a:endParaRPr b="0" lang="en-US" sz="1600" spc="-1" strike="noStrike">
              <a:solidFill>
                <a:srgbClr val="000000"/>
              </a:solidFill>
              <a:latin typeface="Arial"/>
            </a:endParaRPr>
          </a:p>
          <a:p>
            <a:pPr marL="415800" indent="-300240">
              <a:lnSpc>
                <a:spcPct val="115000"/>
              </a:lnSpc>
              <a:buClr>
                <a:srgbClr val="595959"/>
              </a:buClr>
              <a:buFont typeface="Lato"/>
              <a:buChar char="●"/>
            </a:pPr>
            <a:r>
              <a:rPr b="1" lang="el" sz="1600" spc="-1" strike="noStrike">
                <a:solidFill>
                  <a:schemeClr val="accent1"/>
                </a:solidFill>
                <a:latin typeface="Lato"/>
                <a:ea typeface="Lato"/>
              </a:rPr>
              <a:t>Key Points: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Uses character strings to identify IPC objects.</a:t>
            </a:r>
            <a:endParaRPr b="0" lang="en-US" sz="1600" spc="-1" strike="noStrike">
              <a:solidFill>
                <a:srgbClr val="000000"/>
              </a:solidFill>
              <a:latin typeface="Arial"/>
            </a:endParaRPr>
          </a:p>
          <a:p>
            <a:pPr lvl="1" marL="831960" indent="-300240">
              <a:lnSpc>
                <a:spcPct val="115000"/>
              </a:lnSpc>
              <a:buClr>
                <a:srgbClr val="595959"/>
              </a:buClr>
              <a:buFont typeface="Lato"/>
              <a:buChar char="○"/>
            </a:pPr>
            <a:r>
              <a:rPr b="0" lang="el" sz="1600" spc="-1" strike="noStrike">
                <a:solidFill>
                  <a:schemeClr val="accent1"/>
                </a:solidFill>
                <a:latin typeface="Lato"/>
                <a:ea typeface="Lato"/>
              </a:rPr>
              <a:t>Provides a more consistent and portable API.</a:t>
            </a:r>
            <a:endParaRPr b="0" lang="en-US" sz="1600" spc="-1" strike="noStrike">
              <a:solidFill>
                <a:srgbClr val="000000"/>
              </a:solidFill>
              <a:latin typeface="Arial"/>
            </a:endParaRPr>
          </a:p>
        </p:txBody>
      </p:sp>
      <p:sp>
        <p:nvSpPr>
          <p:cNvPr id="198"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C0A8236-54DA-4563-A9F3-698C97FB1472}"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37" dur="indefinite" restart="never" nodeType="tmRoot">
          <p:childTnLst>
            <p:seq>
              <p:cTn id="238" dur="indefinite" nodeType="mainSeq">
                <p:childTnLst>
                  <p:par>
                    <p:cTn id="239" fill="hold">
                      <p:stCondLst>
                        <p:cond delay="indefinite"/>
                      </p:stCondLst>
                      <p:childTnLst>
                        <p:par>
                          <p:cTn id="240" fill="hold">
                            <p:stCondLst>
                              <p:cond delay="0"/>
                            </p:stCondLst>
                            <p:childTnLst>
                              <p:par>
                                <p:cTn id="241" nodeType="clickEffect" fill="hold" presetClass="entr" presetID="1">
                                  <p:stCondLst>
                                    <p:cond delay="0"/>
                                  </p:stCondLst>
                                  <p:childTnLst>
                                    <p:set>
                                      <p:cBhvr>
                                        <p:cTn id="242" dur="1" fill="hold">
                                          <p:stCondLst>
                                            <p:cond delay="0"/>
                                          </p:stCondLst>
                                        </p:cTn>
                                        <p:tgtEl>
                                          <p:spTgt spid="197">
                                            <p:txEl>
                                              <p:pRg st="0" end="0"/>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nodeType="clickEffect" fill="hold" presetClass="entr" presetID="1">
                                  <p:stCondLst>
                                    <p:cond delay="0"/>
                                  </p:stCondLst>
                                  <p:childTnLst>
                                    <p:set>
                                      <p:cBhvr>
                                        <p:cTn id="246" dur="1" fill="hold">
                                          <p:stCondLst>
                                            <p:cond delay="0"/>
                                          </p:stCondLst>
                                        </p:cTn>
                                        <p:tgtEl>
                                          <p:spTgt spid="197">
                                            <p:txEl>
                                              <p:pRg st="1" end="1"/>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nodeType="clickEffect" fill="hold" presetClass="entr" presetID="1">
                                  <p:stCondLst>
                                    <p:cond delay="0"/>
                                  </p:stCondLst>
                                  <p:childTnLst>
                                    <p:set>
                                      <p:cBhvr>
                                        <p:cTn id="250" dur="1" fill="hold">
                                          <p:stCondLst>
                                            <p:cond delay="0"/>
                                          </p:stCondLst>
                                        </p:cTn>
                                        <p:tgtEl>
                                          <p:spTgt spid="197">
                                            <p:txEl>
                                              <p:pRg st="2" end="2"/>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
                                  <p:stCondLst>
                                    <p:cond delay="0"/>
                                  </p:stCondLst>
                                  <p:childTnLst>
                                    <p:set>
                                      <p:cBhvr>
                                        <p:cTn id="254" dur="1" fill="hold">
                                          <p:stCondLst>
                                            <p:cond delay="0"/>
                                          </p:stCondLst>
                                        </p:cTn>
                                        <p:tgtEl>
                                          <p:spTgt spid="197">
                                            <p:txEl>
                                              <p:pRg st="3" end="3"/>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nodeType="clickEffect" fill="hold" presetClass="entr" presetID="1">
                                  <p:stCondLst>
                                    <p:cond delay="0"/>
                                  </p:stCondLst>
                                  <p:childTnLst>
                                    <p:set>
                                      <p:cBhvr>
                                        <p:cTn id="258" dur="1" fill="hold">
                                          <p:stCondLst>
                                            <p:cond delay="0"/>
                                          </p:stCondLst>
                                        </p:cTn>
                                        <p:tgtEl>
                                          <p:spTgt spid="197">
                                            <p:txEl>
                                              <p:pRg st="4" end="4"/>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1">
                                  <p:stCondLst>
                                    <p:cond delay="0"/>
                                  </p:stCondLst>
                                  <p:childTnLst>
                                    <p:set>
                                      <p:cBhvr>
                                        <p:cTn id="262" dur="1" fill="hold">
                                          <p:stCondLst>
                                            <p:cond delay="0"/>
                                          </p:stCondLst>
                                        </p:cTn>
                                        <p:tgtEl>
                                          <p:spTgt spid="197">
                                            <p:txEl>
                                              <p:pRg st="5" end="5"/>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1">
                                  <p:stCondLst>
                                    <p:cond delay="0"/>
                                  </p:stCondLst>
                                  <p:childTnLst>
                                    <p:set>
                                      <p:cBhvr>
                                        <p:cTn id="266" dur="1" fill="hold">
                                          <p:stCondLst>
                                            <p:cond delay="0"/>
                                          </p:stCondLst>
                                        </p:cTn>
                                        <p:tgtEl>
                                          <p:spTgt spid="197">
                                            <p:txEl>
                                              <p:pRg st="6" end="6"/>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nodeType="clickEffect" fill="hold" presetClass="entr" presetID="1">
                                  <p:stCondLst>
                                    <p:cond delay="0"/>
                                  </p:stCondLst>
                                  <p:childTnLst>
                                    <p:set>
                                      <p:cBhvr>
                                        <p:cTn id="270" dur="1" fill="hold">
                                          <p:stCondLst>
                                            <p:cond delay="0"/>
                                          </p:stCondLst>
                                        </p:cTn>
                                        <p:tgtEl>
                                          <p:spTgt spid="197">
                                            <p:txEl>
                                              <p:pRg st="7" end="7"/>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nodeType="clickEffect" fill="hold" presetClass="entr" presetID="1">
                                  <p:stCondLst>
                                    <p:cond delay="0"/>
                                  </p:stCondLst>
                                  <p:childTnLst>
                                    <p:set>
                                      <p:cBhvr>
                                        <p:cTn id="274" dur="1" fill="hold">
                                          <p:stCondLst>
                                            <p:cond delay="0"/>
                                          </p:stCondLst>
                                        </p:cTn>
                                        <p:tgtEl>
                                          <p:spTgt spid="197">
                                            <p:txEl>
                                              <p:pRg st="8" end="8"/>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nodeType="clickEffect" fill="hold" presetClass="entr" presetID="1">
                                  <p:stCondLst>
                                    <p:cond delay="0"/>
                                  </p:stCondLst>
                                  <p:childTnLst>
                                    <p:set>
                                      <p:cBhvr>
                                        <p:cTn id="278" dur="1" fill="hold">
                                          <p:stCondLst>
                                            <p:cond delay="0"/>
                                          </p:stCondLst>
                                        </p:cTn>
                                        <p:tgtEl>
                                          <p:spTgt spid="197">
                                            <p:txEl>
                                              <p:pRg st="9" end="9"/>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nodeType="clickEffect" fill="hold" presetClass="entr" presetID="1">
                                  <p:stCondLst>
                                    <p:cond delay="0"/>
                                  </p:stCondLst>
                                  <p:childTnLst>
                                    <p:set>
                                      <p:cBhvr>
                                        <p:cTn id="282" dur="1" fill="hold">
                                          <p:stCondLst>
                                            <p:cond delay="0"/>
                                          </p:stCondLst>
                                        </p:cTn>
                                        <p:tgtEl>
                                          <p:spTgt spid="197">
                                            <p:txEl>
                                              <p:pRg st="10" end="10"/>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nodeType="clickEffect" fill="hold" presetClass="entr" presetID="1">
                                  <p:stCondLst>
                                    <p:cond delay="0"/>
                                  </p:stCondLst>
                                  <p:childTnLst>
                                    <p:set>
                                      <p:cBhvr>
                                        <p:cTn id="286" dur="1" fill="hold">
                                          <p:stCondLst>
                                            <p:cond delay="0"/>
                                          </p:stCondLst>
                                        </p:cTn>
                                        <p:tgtEl>
                                          <p:spTgt spid="197">
                                            <p:txEl>
                                              <p:pRg st="11" end="11"/>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nodeType="clickEffect" fill="hold" presetClass="entr" presetID="1">
                                  <p:stCondLst>
                                    <p:cond delay="0"/>
                                  </p:stCondLst>
                                  <p:childTnLst>
                                    <p:set>
                                      <p:cBhvr>
                                        <p:cTn id="290" dur="1" fill="hold">
                                          <p:stCondLst>
                                            <p:cond delay="0"/>
                                          </p:stCondLst>
                                        </p:cTn>
                                        <p:tgtEl>
                                          <p:spTgt spid="197">
                                            <p:txEl>
                                              <p:pRg st="12" end="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On Linux (System V)</a:t>
            </a:r>
            <a:endParaRPr b="0" lang="en-US" sz="2600" spc="-1" strike="noStrike">
              <a:solidFill>
                <a:srgbClr val="000000"/>
              </a:solidFill>
              <a:latin typeface="Arial"/>
            </a:endParaRPr>
          </a:p>
        </p:txBody>
      </p:sp>
      <p:sp>
        <p:nvSpPr>
          <p:cNvPr id="20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region of memory that is shared by multiple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Used for efficient data transfer between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Requires careful synchronization to avoid race conditions.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queue of messages that can be sent and received by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Provides asynchronous communication.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Suitable for applications where processes need to exchange messages without immediate synchronization.</a:t>
            </a:r>
            <a:endParaRPr b="0" lang="en-US" sz="1600" spc="-1" strike="noStrike">
              <a:solidFill>
                <a:srgbClr val="000000"/>
              </a:solidFill>
              <a:latin typeface="Arial"/>
            </a:endParaRPr>
          </a:p>
        </p:txBody>
      </p:sp>
      <p:sp>
        <p:nvSpPr>
          <p:cNvPr id="201"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E09A8F1-C848-4FCA-98A6-936C4A3C7156}"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91" dur="indefinite" restart="never" nodeType="tmRoot">
          <p:childTnLst>
            <p:seq>
              <p:cTn id="292" dur="indefinite" nodeType="mainSeq">
                <p:childTnLst>
                  <p:par>
                    <p:cTn id="293" fill="hold">
                      <p:stCondLst>
                        <p:cond delay="indefinite"/>
                      </p:stCondLst>
                      <p:childTnLst>
                        <p:par>
                          <p:cTn id="294" fill="hold">
                            <p:stCondLst>
                              <p:cond delay="0"/>
                            </p:stCondLst>
                            <p:childTnLst>
                              <p:par>
                                <p:cTn id="295" nodeType="clickEffect" fill="hold" presetClass="entr" presetID="1">
                                  <p:stCondLst>
                                    <p:cond delay="0"/>
                                  </p:stCondLst>
                                  <p:childTnLst>
                                    <p:set>
                                      <p:cBhvr>
                                        <p:cTn id="296" dur="1" fill="hold">
                                          <p:stCondLst>
                                            <p:cond delay="0"/>
                                          </p:stCondLst>
                                        </p:cTn>
                                        <p:tgtEl>
                                          <p:spTgt spid="200">
                                            <p:txEl>
                                              <p:pRg st="0" end="0"/>
                                            </p:txEl>
                                          </p:spTgt>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nodeType="clickEffect" fill="hold" presetClass="entr" presetID="1">
                                  <p:stCondLst>
                                    <p:cond delay="0"/>
                                  </p:stCondLst>
                                  <p:childTnLst>
                                    <p:set>
                                      <p:cBhvr>
                                        <p:cTn id="300" dur="1" fill="hold">
                                          <p:stCondLst>
                                            <p:cond delay="0"/>
                                          </p:stCondLst>
                                        </p:cTn>
                                        <p:tgtEl>
                                          <p:spTgt spid="200">
                                            <p:txEl>
                                              <p:pRg st="1" end="1"/>
                                            </p:txEl>
                                          </p:spTgt>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nodeType="clickEffect" fill="hold" presetClass="entr" presetID="1">
                                  <p:stCondLst>
                                    <p:cond delay="0"/>
                                  </p:stCondLst>
                                  <p:childTnLst>
                                    <p:set>
                                      <p:cBhvr>
                                        <p:cTn id="304" dur="1" fill="hold">
                                          <p:stCondLst>
                                            <p:cond delay="0"/>
                                          </p:stCondLst>
                                        </p:cTn>
                                        <p:tgtEl>
                                          <p:spTgt spid="200">
                                            <p:txEl>
                                              <p:pRg st="2" end="2"/>
                                            </p:txEl>
                                          </p:spTgt>
                                        </p:tgtEl>
                                        <p:attrNameLst>
                                          <p:attrName>style.visibility</p:attrName>
                                        </p:attrNameLst>
                                      </p:cBhvr>
                                      <p:to>
                                        <p:strVal val="visible"/>
                                      </p:to>
                                    </p:set>
                                  </p:childTnLst>
                                </p:cTn>
                              </p:par>
                            </p:childTnLst>
                          </p:cTn>
                        </p:par>
                      </p:childTnLst>
                    </p:cTn>
                  </p:par>
                  <p:par>
                    <p:cTn id="305" fill="hold">
                      <p:stCondLst>
                        <p:cond delay="indefinite"/>
                      </p:stCondLst>
                      <p:childTnLst>
                        <p:par>
                          <p:cTn id="306" fill="hold">
                            <p:stCondLst>
                              <p:cond delay="0"/>
                            </p:stCondLst>
                            <p:childTnLst>
                              <p:par>
                                <p:cTn id="307" nodeType="clickEffect" fill="hold" presetClass="entr" presetID="1">
                                  <p:stCondLst>
                                    <p:cond delay="0"/>
                                  </p:stCondLst>
                                  <p:childTnLst>
                                    <p:set>
                                      <p:cBhvr>
                                        <p:cTn id="308" dur="1" fill="hold">
                                          <p:stCondLst>
                                            <p:cond delay="0"/>
                                          </p:stCondLst>
                                        </p:cTn>
                                        <p:tgtEl>
                                          <p:spTgt spid="200">
                                            <p:txEl>
                                              <p:pRg st="3" end="3"/>
                                            </p:txEl>
                                          </p:spTgt>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nodeType="clickEffect" fill="hold" presetClass="entr" presetID="1">
                                  <p:stCondLst>
                                    <p:cond delay="0"/>
                                  </p:stCondLst>
                                  <p:childTnLst>
                                    <p:set>
                                      <p:cBhvr>
                                        <p:cTn id="312" dur="1" fill="hold">
                                          <p:stCondLst>
                                            <p:cond delay="0"/>
                                          </p:stCondLst>
                                        </p:cTn>
                                        <p:tgtEl>
                                          <p:spTgt spid="200">
                                            <p:txEl>
                                              <p:pRg st="4" end="4"/>
                                            </p:txEl>
                                          </p:spTgt>
                                        </p:tgtEl>
                                        <p:attrNameLst>
                                          <p:attrName>style.visibility</p:attrName>
                                        </p:attrNameLst>
                                      </p:cBhvr>
                                      <p:to>
                                        <p:strVal val="visible"/>
                                      </p:to>
                                    </p:set>
                                  </p:childTnLst>
                                </p:cTn>
                              </p:par>
                            </p:childTnLst>
                          </p:cTn>
                        </p:par>
                      </p:childTnLst>
                    </p:cTn>
                  </p:par>
                  <p:par>
                    <p:cTn id="313" fill="hold">
                      <p:stCondLst>
                        <p:cond delay="indefinite"/>
                      </p:stCondLst>
                      <p:childTnLst>
                        <p:par>
                          <p:cTn id="314" fill="hold">
                            <p:stCondLst>
                              <p:cond delay="0"/>
                            </p:stCondLst>
                            <p:childTnLst>
                              <p:par>
                                <p:cTn id="315" nodeType="clickEffect" fill="hold" presetClass="entr" presetID="1">
                                  <p:stCondLst>
                                    <p:cond delay="0"/>
                                  </p:stCondLst>
                                  <p:childTnLst>
                                    <p:set>
                                      <p:cBhvr>
                                        <p:cTn id="316" dur="1" fill="hold">
                                          <p:stCondLst>
                                            <p:cond delay="0"/>
                                          </p:stCondLst>
                                        </p:cTn>
                                        <p:tgtEl>
                                          <p:spTgt spid="200">
                                            <p:txEl>
                                              <p:pRg st="5" end="5"/>
                                            </p:txEl>
                                          </p:spTgt>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nodeType="clickEffect" fill="hold" presetClass="entr" presetID="1">
                                  <p:stCondLst>
                                    <p:cond delay="0"/>
                                  </p:stCondLst>
                                  <p:childTnLst>
                                    <p:set>
                                      <p:cBhvr>
                                        <p:cTn id="320" dur="1" fill="hold">
                                          <p:stCondLst>
                                            <p:cond delay="0"/>
                                          </p:stCondLst>
                                        </p:cTn>
                                        <p:tgtEl>
                                          <p:spTgt spid="200">
                                            <p:txEl>
                                              <p:pRg st="6" end="6"/>
                                            </p:txEl>
                                          </p:spTgt>
                                        </p:tgtEl>
                                        <p:attrNameLst>
                                          <p:attrName>style.visibility</p:attrName>
                                        </p:attrNameLst>
                                      </p:cBhvr>
                                      <p:to>
                                        <p:strVal val="visible"/>
                                      </p:to>
                                    </p:set>
                                  </p:childTnLst>
                                </p:cTn>
                              </p:par>
                            </p:childTnLst>
                          </p:cTn>
                        </p:par>
                      </p:childTnLst>
                    </p:cTn>
                  </p:par>
                  <p:par>
                    <p:cTn id="321" fill="hold">
                      <p:stCondLst>
                        <p:cond delay="indefinite"/>
                      </p:stCondLst>
                      <p:childTnLst>
                        <p:par>
                          <p:cTn id="322" fill="hold">
                            <p:stCondLst>
                              <p:cond delay="0"/>
                            </p:stCondLst>
                            <p:childTnLst>
                              <p:par>
                                <p:cTn id="323" nodeType="clickEffect" fill="hold" presetClass="entr" presetID="1">
                                  <p:stCondLst>
                                    <p:cond delay="0"/>
                                  </p:stCondLst>
                                  <p:childTnLst>
                                    <p:set>
                                      <p:cBhvr>
                                        <p:cTn id="324" dur="1" fill="hold">
                                          <p:stCondLst>
                                            <p:cond delay="0"/>
                                          </p:stCondLst>
                                        </p:cTn>
                                        <p:tgtEl>
                                          <p:spTgt spid="200">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On Linux (System V)</a:t>
            </a:r>
            <a:endParaRPr b="0" lang="en-US" sz="2600" spc="-1" strike="noStrike">
              <a:solidFill>
                <a:srgbClr val="000000"/>
              </a:solidFill>
              <a:latin typeface="Arial"/>
            </a:endParaRPr>
          </a:p>
        </p:txBody>
      </p:sp>
      <p:sp>
        <p:nvSpPr>
          <p:cNvPr id="20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Semaphores: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Used to control access to shared resources.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semaphore is a counter that can be incremented or decremented.</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Processes can wait on a semaphore until its value becomes positive, and then decrement it.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Used to implement mutual exclusion and synchronization.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 general, System V semaphores are more cumbersome to use and program, however more flexible in terms of utilities offered.</a:t>
            </a:r>
            <a:endParaRPr b="0" lang="en-US" sz="1600" spc="-1" strike="noStrike">
              <a:solidFill>
                <a:srgbClr val="000000"/>
              </a:solidFill>
              <a:latin typeface="Arial"/>
            </a:endParaRPr>
          </a:p>
        </p:txBody>
      </p:sp>
      <p:sp>
        <p:nvSpPr>
          <p:cNvPr id="204"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A963F1B-4CCA-42C3-925F-AAA5478D411B}"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25" dur="indefinite" restart="never" nodeType="tmRoot">
          <p:childTnLst>
            <p:seq>
              <p:cTn id="326" dur="indefinite" nodeType="mainSeq">
                <p:childTnLst>
                  <p:par>
                    <p:cTn id="327" fill="hold">
                      <p:stCondLst>
                        <p:cond delay="indefinite"/>
                      </p:stCondLst>
                      <p:childTnLst>
                        <p:par>
                          <p:cTn id="328" fill="hold">
                            <p:stCondLst>
                              <p:cond delay="0"/>
                            </p:stCondLst>
                            <p:childTnLst>
                              <p:par>
                                <p:cTn id="329" nodeType="clickEffect" fill="hold" presetClass="entr" presetID="1">
                                  <p:stCondLst>
                                    <p:cond delay="0"/>
                                  </p:stCondLst>
                                  <p:childTnLst>
                                    <p:set>
                                      <p:cBhvr>
                                        <p:cTn id="330"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nodeType="clickEffect" fill="hold" presetClass="entr" presetID="1">
                                  <p:stCondLst>
                                    <p:cond delay="0"/>
                                  </p:stCondLst>
                                  <p:childTnLst>
                                    <p:set>
                                      <p:cBhvr>
                                        <p:cTn id="334" dur="1" fill="hold">
                                          <p:stCondLst>
                                            <p:cond delay="0"/>
                                          </p:stCondLst>
                                        </p:cTn>
                                        <p:tgtEl>
                                          <p:spTgt spid="203">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nodeType="clickEffect" fill="hold" presetClass="entr" presetID="1">
                                  <p:stCondLst>
                                    <p:cond delay="0"/>
                                  </p:stCondLst>
                                  <p:childTnLst>
                                    <p:set>
                                      <p:cBhvr>
                                        <p:cTn id="338" dur="1" fill="hold">
                                          <p:stCondLst>
                                            <p:cond delay="0"/>
                                          </p:stCondLst>
                                        </p:cTn>
                                        <p:tgtEl>
                                          <p:spTgt spid="203">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nodeType="clickEffect" fill="hold" presetClass="entr" presetID="1">
                                  <p:stCondLst>
                                    <p:cond delay="0"/>
                                  </p:stCondLst>
                                  <p:childTnLst>
                                    <p:set>
                                      <p:cBhvr>
                                        <p:cTn id="342" dur="1" fill="hold">
                                          <p:stCondLst>
                                            <p:cond delay="0"/>
                                          </p:stCondLst>
                                        </p:cTn>
                                        <p:tgtEl>
                                          <p:spTgt spid="203">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nodeType="clickEffect" fill="hold" presetClass="entr" presetID="1">
                                  <p:stCondLst>
                                    <p:cond delay="0"/>
                                  </p:stCondLst>
                                  <p:childTnLst>
                                    <p:set>
                                      <p:cBhvr>
                                        <p:cTn id="346" dur="1" fill="hold">
                                          <p:stCondLst>
                                            <p:cond delay="0"/>
                                          </p:stCondLst>
                                        </p:cTn>
                                        <p:tgtEl>
                                          <p:spTgt spid="203">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nodeType="clickEffect" fill="hold" presetClass="entr" presetID="1">
                                  <p:stCondLst>
                                    <p:cond delay="0"/>
                                  </p:stCondLst>
                                  <p:childTnLst>
                                    <p:set>
                                      <p:cBhvr>
                                        <p:cTn id="350" dur="1" fill="hold">
                                          <p:stCondLst>
                                            <p:cond delay="0"/>
                                          </p:stCondLst>
                                        </p:cTn>
                                        <p:tgtEl>
                                          <p:spTgt spid="203">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On Linux (POSIX)</a:t>
            </a:r>
            <a:endParaRPr b="0" lang="en-US" sz="2600" spc="-1" strike="noStrike">
              <a:solidFill>
                <a:srgbClr val="000000"/>
              </a:solidFill>
              <a:latin typeface="Arial"/>
            </a:endParaRPr>
          </a:p>
        </p:txBody>
      </p:sp>
      <p:sp>
        <p:nvSpPr>
          <p:cNvPr id="206"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Message Queues: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Similar to System V message queues, but with some differences in API and semantics.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Semaphores: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Similar to System V semaphores, but with some differences in API and semantics.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Shared Memory: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Similar to System V shared memory, but with some differences in API and semantics.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Pipes: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Unidirectional communication channels between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Can be used for simple data transfer between parent and child processes.</a:t>
            </a:r>
            <a:endParaRPr b="0" lang="en-US" sz="1600" spc="-1" strike="noStrike">
              <a:solidFill>
                <a:srgbClr val="000000"/>
              </a:solidFill>
              <a:latin typeface="Arial"/>
            </a:endParaRPr>
          </a:p>
        </p:txBody>
      </p:sp>
      <p:sp>
        <p:nvSpPr>
          <p:cNvPr id="207"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12FA5CC-1BF9-4671-8F5F-6254D74B3C31}"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51" dur="indefinite" restart="never" nodeType="tmRoot">
          <p:childTnLst>
            <p:seq>
              <p:cTn id="352" dur="indefinite" nodeType="mainSeq">
                <p:childTnLst>
                  <p:par>
                    <p:cTn id="353" fill="hold">
                      <p:stCondLst>
                        <p:cond delay="indefinite"/>
                      </p:stCondLst>
                      <p:childTnLst>
                        <p:par>
                          <p:cTn id="354" fill="hold">
                            <p:stCondLst>
                              <p:cond delay="0"/>
                            </p:stCondLst>
                            <p:childTnLst>
                              <p:par>
                                <p:cTn id="355" nodeType="clickEffect" fill="hold" presetClass="entr" presetID="1">
                                  <p:stCondLst>
                                    <p:cond delay="0"/>
                                  </p:stCondLst>
                                  <p:childTnLst>
                                    <p:set>
                                      <p:cBhvr>
                                        <p:cTn id="356" dur="1" fill="hold">
                                          <p:stCondLst>
                                            <p:cond delay="0"/>
                                          </p:stCondLst>
                                        </p:cTn>
                                        <p:tgtEl>
                                          <p:spTgt spid="206">
                                            <p:txEl>
                                              <p:pRg st="0" end="0"/>
                                            </p:txEl>
                                          </p:spTgt>
                                        </p:tgtEl>
                                        <p:attrNameLst>
                                          <p:attrName>style.visibility</p:attrName>
                                        </p:attrNameLst>
                                      </p:cBhvr>
                                      <p:to>
                                        <p:strVal val="visible"/>
                                      </p:to>
                                    </p:set>
                                  </p:childTnLst>
                                </p:cTn>
                              </p:par>
                            </p:childTnLst>
                          </p:cTn>
                        </p:par>
                      </p:childTnLst>
                    </p:cTn>
                  </p:par>
                  <p:par>
                    <p:cTn id="357" fill="hold">
                      <p:stCondLst>
                        <p:cond delay="indefinite"/>
                      </p:stCondLst>
                      <p:childTnLst>
                        <p:par>
                          <p:cTn id="358" fill="hold">
                            <p:stCondLst>
                              <p:cond delay="0"/>
                            </p:stCondLst>
                            <p:childTnLst>
                              <p:par>
                                <p:cTn id="359" nodeType="clickEffect" fill="hold" presetClass="entr" presetID="1">
                                  <p:stCondLst>
                                    <p:cond delay="0"/>
                                  </p:stCondLst>
                                  <p:childTnLst>
                                    <p:set>
                                      <p:cBhvr>
                                        <p:cTn id="360" dur="1" fill="hold">
                                          <p:stCondLst>
                                            <p:cond delay="0"/>
                                          </p:stCondLst>
                                        </p:cTn>
                                        <p:tgtEl>
                                          <p:spTgt spid="206">
                                            <p:txEl>
                                              <p:pRg st="1" end="1"/>
                                            </p:txEl>
                                          </p:spTgt>
                                        </p:tgtEl>
                                        <p:attrNameLst>
                                          <p:attrName>style.visibility</p:attrName>
                                        </p:attrNameLst>
                                      </p:cBhvr>
                                      <p:to>
                                        <p:strVal val="visible"/>
                                      </p:to>
                                    </p:set>
                                  </p:childTnLst>
                                </p:cTn>
                              </p:par>
                            </p:childTnLst>
                          </p:cTn>
                        </p:par>
                      </p:childTnLst>
                    </p:cTn>
                  </p:par>
                  <p:par>
                    <p:cTn id="361" fill="hold">
                      <p:stCondLst>
                        <p:cond delay="indefinite"/>
                      </p:stCondLst>
                      <p:childTnLst>
                        <p:par>
                          <p:cTn id="362" fill="hold">
                            <p:stCondLst>
                              <p:cond delay="0"/>
                            </p:stCondLst>
                            <p:childTnLst>
                              <p:par>
                                <p:cTn id="363" nodeType="clickEffect" fill="hold" presetClass="entr" presetID="1">
                                  <p:stCondLst>
                                    <p:cond delay="0"/>
                                  </p:stCondLst>
                                  <p:childTnLst>
                                    <p:set>
                                      <p:cBhvr>
                                        <p:cTn id="364" dur="1" fill="hold">
                                          <p:stCondLst>
                                            <p:cond delay="0"/>
                                          </p:stCondLst>
                                        </p:cTn>
                                        <p:tgtEl>
                                          <p:spTgt spid="206">
                                            <p:txEl>
                                              <p:pRg st="2" end="2"/>
                                            </p:txEl>
                                          </p:spTgt>
                                        </p:tgtEl>
                                        <p:attrNameLst>
                                          <p:attrName>style.visibility</p:attrName>
                                        </p:attrNameLst>
                                      </p:cBhvr>
                                      <p:to>
                                        <p:strVal val="visible"/>
                                      </p:to>
                                    </p:set>
                                  </p:childTnLst>
                                </p:cTn>
                              </p:par>
                            </p:childTnLst>
                          </p:cTn>
                        </p:par>
                      </p:childTnLst>
                    </p:cTn>
                  </p:par>
                  <p:par>
                    <p:cTn id="365" fill="hold">
                      <p:stCondLst>
                        <p:cond delay="indefinite"/>
                      </p:stCondLst>
                      <p:childTnLst>
                        <p:par>
                          <p:cTn id="366" fill="hold">
                            <p:stCondLst>
                              <p:cond delay="0"/>
                            </p:stCondLst>
                            <p:childTnLst>
                              <p:par>
                                <p:cTn id="367" nodeType="clickEffect" fill="hold" presetClass="entr" presetID="1">
                                  <p:stCondLst>
                                    <p:cond delay="0"/>
                                  </p:stCondLst>
                                  <p:childTnLst>
                                    <p:set>
                                      <p:cBhvr>
                                        <p:cTn id="368" dur="1" fill="hold">
                                          <p:stCondLst>
                                            <p:cond delay="0"/>
                                          </p:stCondLst>
                                        </p:cTn>
                                        <p:tgtEl>
                                          <p:spTgt spid="206">
                                            <p:txEl>
                                              <p:pRg st="3" end="3"/>
                                            </p:txEl>
                                          </p:spTgt>
                                        </p:tgtEl>
                                        <p:attrNameLst>
                                          <p:attrName>style.visibility</p:attrName>
                                        </p:attrNameLst>
                                      </p:cBhvr>
                                      <p:to>
                                        <p:strVal val="visible"/>
                                      </p:to>
                                    </p:set>
                                  </p:childTnLst>
                                </p:cTn>
                              </p:par>
                            </p:childTnLst>
                          </p:cTn>
                        </p:par>
                      </p:childTnLst>
                    </p:cTn>
                  </p:par>
                  <p:par>
                    <p:cTn id="369" fill="hold">
                      <p:stCondLst>
                        <p:cond delay="indefinite"/>
                      </p:stCondLst>
                      <p:childTnLst>
                        <p:par>
                          <p:cTn id="370" fill="hold">
                            <p:stCondLst>
                              <p:cond delay="0"/>
                            </p:stCondLst>
                            <p:childTnLst>
                              <p:par>
                                <p:cTn id="371" nodeType="clickEffect" fill="hold" presetClass="entr" presetID="1">
                                  <p:stCondLst>
                                    <p:cond delay="0"/>
                                  </p:stCondLst>
                                  <p:childTnLst>
                                    <p:set>
                                      <p:cBhvr>
                                        <p:cTn id="372" dur="1" fill="hold">
                                          <p:stCondLst>
                                            <p:cond delay="0"/>
                                          </p:stCondLst>
                                        </p:cTn>
                                        <p:tgtEl>
                                          <p:spTgt spid="206">
                                            <p:txEl>
                                              <p:pRg st="4" end="4"/>
                                            </p:txEl>
                                          </p:spTgt>
                                        </p:tgtEl>
                                        <p:attrNameLst>
                                          <p:attrName>style.visibility</p:attrName>
                                        </p:attrNameLst>
                                      </p:cBhvr>
                                      <p:to>
                                        <p:strVal val="visible"/>
                                      </p:to>
                                    </p:set>
                                  </p:childTnLst>
                                </p:cTn>
                              </p:par>
                            </p:childTnLst>
                          </p:cTn>
                        </p:par>
                      </p:childTnLst>
                    </p:cTn>
                  </p:par>
                  <p:par>
                    <p:cTn id="373" fill="hold">
                      <p:stCondLst>
                        <p:cond delay="indefinite"/>
                      </p:stCondLst>
                      <p:childTnLst>
                        <p:par>
                          <p:cTn id="374" fill="hold">
                            <p:stCondLst>
                              <p:cond delay="0"/>
                            </p:stCondLst>
                            <p:childTnLst>
                              <p:par>
                                <p:cTn id="375" nodeType="clickEffect" fill="hold" presetClass="entr" presetID="1">
                                  <p:stCondLst>
                                    <p:cond delay="0"/>
                                  </p:stCondLst>
                                  <p:childTnLst>
                                    <p:set>
                                      <p:cBhvr>
                                        <p:cTn id="376" dur="1" fill="hold">
                                          <p:stCondLst>
                                            <p:cond delay="0"/>
                                          </p:stCondLst>
                                        </p:cTn>
                                        <p:tgtEl>
                                          <p:spTgt spid="206">
                                            <p:txEl>
                                              <p:pRg st="5" end="5"/>
                                            </p:txEl>
                                          </p:spTgt>
                                        </p:tgtEl>
                                        <p:attrNameLst>
                                          <p:attrName>style.visibility</p:attrName>
                                        </p:attrNameLst>
                                      </p:cBhvr>
                                      <p:to>
                                        <p:strVal val="visible"/>
                                      </p:to>
                                    </p:set>
                                  </p:childTnLst>
                                </p:cTn>
                              </p:par>
                            </p:childTnLst>
                          </p:cTn>
                        </p:par>
                      </p:childTnLst>
                    </p:cTn>
                  </p:par>
                  <p:par>
                    <p:cTn id="377" fill="hold">
                      <p:stCondLst>
                        <p:cond delay="indefinite"/>
                      </p:stCondLst>
                      <p:childTnLst>
                        <p:par>
                          <p:cTn id="378" fill="hold">
                            <p:stCondLst>
                              <p:cond delay="0"/>
                            </p:stCondLst>
                            <p:childTnLst>
                              <p:par>
                                <p:cTn id="379" nodeType="clickEffect" fill="hold" presetClass="entr" presetID="1">
                                  <p:stCondLst>
                                    <p:cond delay="0"/>
                                  </p:stCondLst>
                                  <p:childTnLst>
                                    <p:set>
                                      <p:cBhvr>
                                        <p:cTn id="380" dur="1" fill="hold">
                                          <p:stCondLst>
                                            <p:cond delay="0"/>
                                          </p:stCondLst>
                                        </p:cTn>
                                        <p:tgtEl>
                                          <p:spTgt spid="206">
                                            <p:txEl>
                                              <p:pRg st="6" end="6"/>
                                            </p:txEl>
                                          </p:spTgt>
                                        </p:tgtEl>
                                        <p:attrNameLst>
                                          <p:attrName>style.visibility</p:attrName>
                                        </p:attrNameLst>
                                      </p:cBhvr>
                                      <p:to>
                                        <p:strVal val="visible"/>
                                      </p:to>
                                    </p:set>
                                  </p:childTnLst>
                                </p:cTn>
                              </p:par>
                            </p:childTnLst>
                          </p:cTn>
                        </p:par>
                      </p:childTnLst>
                    </p:cTn>
                  </p:par>
                  <p:par>
                    <p:cTn id="381" fill="hold">
                      <p:stCondLst>
                        <p:cond delay="indefinite"/>
                      </p:stCondLst>
                      <p:childTnLst>
                        <p:par>
                          <p:cTn id="382" fill="hold">
                            <p:stCondLst>
                              <p:cond delay="0"/>
                            </p:stCondLst>
                            <p:childTnLst>
                              <p:par>
                                <p:cTn id="383" nodeType="clickEffect" fill="hold" presetClass="entr" presetID="1">
                                  <p:stCondLst>
                                    <p:cond delay="0"/>
                                  </p:stCondLst>
                                  <p:childTnLst>
                                    <p:set>
                                      <p:cBhvr>
                                        <p:cTn id="384" dur="1" fill="hold">
                                          <p:stCondLst>
                                            <p:cond delay="0"/>
                                          </p:stCondLst>
                                        </p:cTn>
                                        <p:tgtEl>
                                          <p:spTgt spid="206">
                                            <p:txEl>
                                              <p:pRg st="7" end="7"/>
                                            </p:txEl>
                                          </p:spTgt>
                                        </p:tgtEl>
                                        <p:attrNameLst>
                                          <p:attrName>style.visibility</p:attrName>
                                        </p:attrNameLst>
                                      </p:cBhvr>
                                      <p:to>
                                        <p:strVal val="visible"/>
                                      </p:to>
                                    </p:set>
                                  </p:childTnLst>
                                </p:cTn>
                              </p:par>
                            </p:childTnLst>
                          </p:cTn>
                        </p:par>
                      </p:childTnLst>
                    </p:cTn>
                  </p:par>
                  <p:par>
                    <p:cTn id="385" fill="hold">
                      <p:stCondLst>
                        <p:cond delay="indefinite"/>
                      </p:stCondLst>
                      <p:childTnLst>
                        <p:par>
                          <p:cTn id="386" fill="hold">
                            <p:stCondLst>
                              <p:cond delay="0"/>
                            </p:stCondLst>
                            <p:childTnLst>
                              <p:par>
                                <p:cTn id="387" nodeType="clickEffect" fill="hold" presetClass="entr" presetID="1">
                                  <p:stCondLst>
                                    <p:cond delay="0"/>
                                  </p:stCondLst>
                                  <p:childTnLst>
                                    <p:set>
                                      <p:cBhvr>
                                        <p:cTn id="388" dur="1" fill="hold">
                                          <p:stCondLst>
                                            <p:cond delay="0"/>
                                          </p:stCondLst>
                                        </p:cTn>
                                        <p:tgtEl>
                                          <p:spTgt spid="206">
                                            <p:txEl>
                                              <p:pRg st="8" end="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IPC On Linux (POSIX)</a:t>
            </a:r>
            <a:endParaRPr b="0" lang="en-US" sz="2600" spc="-1" strike="noStrike">
              <a:solidFill>
                <a:srgbClr val="000000"/>
              </a:solidFill>
              <a:latin typeface="Arial"/>
            </a:endParaRPr>
          </a:p>
        </p:txBody>
      </p:sp>
      <p:sp>
        <p:nvSpPr>
          <p:cNvPr id="20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Signals: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Asynchronous notifications sent to processes.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Used to interrupt or terminate processes or to trigger specific actions.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Sockets: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general-purpose communication mechanism that can be used for network communication as well as inter-process communication.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File-Based IPC:</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Processes can communicate by reading and writing to files.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This is a simple but less efficient method of IPC.</a:t>
            </a:r>
            <a:endParaRPr b="0" lang="en-US" sz="1600" spc="-1" strike="noStrike">
              <a:solidFill>
                <a:srgbClr val="000000"/>
              </a:solidFill>
              <a:latin typeface="Arial"/>
            </a:endParaRPr>
          </a:p>
        </p:txBody>
      </p:sp>
      <p:sp>
        <p:nvSpPr>
          <p:cNvPr id="210"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8E73989-07D5-4427-8BE6-18356D2532E1}"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89" dur="indefinite" restart="never" nodeType="tmRoot">
          <p:childTnLst>
            <p:seq>
              <p:cTn id="390" dur="indefinite" nodeType="mainSeq">
                <p:childTnLst>
                  <p:par>
                    <p:cTn id="391" fill="hold">
                      <p:stCondLst>
                        <p:cond delay="indefinite"/>
                      </p:stCondLst>
                      <p:childTnLst>
                        <p:par>
                          <p:cTn id="392" fill="hold">
                            <p:stCondLst>
                              <p:cond delay="0"/>
                            </p:stCondLst>
                            <p:childTnLst>
                              <p:par>
                                <p:cTn id="393" nodeType="clickEffect" fill="hold" presetClass="entr" presetID="1">
                                  <p:stCondLst>
                                    <p:cond delay="0"/>
                                  </p:stCondLst>
                                  <p:childTnLst>
                                    <p:set>
                                      <p:cBhvr>
                                        <p:cTn id="394" dur="1" fill="hold">
                                          <p:stCondLst>
                                            <p:cond delay="0"/>
                                          </p:stCondLst>
                                        </p:cTn>
                                        <p:tgtEl>
                                          <p:spTgt spid="209">
                                            <p:txEl>
                                              <p:pRg st="0" end="0"/>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nodeType="clickEffect" fill="hold" presetClass="entr" presetID="1">
                                  <p:stCondLst>
                                    <p:cond delay="0"/>
                                  </p:stCondLst>
                                  <p:childTnLst>
                                    <p:set>
                                      <p:cBhvr>
                                        <p:cTn id="398" dur="1" fill="hold">
                                          <p:stCondLst>
                                            <p:cond delay="0"/>
                                          </p:stCondLst>
                                        </p:cTn>
                                        <p:tgtEl>
                                          <p:spTgt spid="209">
                                            <p:txEl>
                                              <p:pRg st="1" end="1"/>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nodeType="clickEffect" fill="hold" presetClass="entr" presetID="1">
                                  <p:stCondLst>
                                    <p:cond delay="0"/>
                                  </p:stCondLst>
                                  <p:childTnLst>
                                    <p:set>
                                      <p:cBhvr>
                                        <p:cTn id="402" dur="1" fill="hold">
                                          <p:stCondLst>
                                            <p:cond delay="0"/>
                                          </p:stCondLst>
                                        </p:cTn>
                                        <p:tgtEl>
                                          <p:spTgt spid="209">
                                            <p:txEl>
                                              <p:pRg st="2" end="2"/>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nodeType="clickEffect" fill="hold" presetClass="entr" presetID="1">
                                  <p:stCondLst>
                                    <p:cond delay="0"/>
                                  </p:stCondLst>
                                  <p:childTnLst>
                                    <p:set>
                                      <p:cBhvr>
                                        <p:cTn id="406" dur="1" fill="hold">
                                          <p:stCondLst>
                                            <p:cond delay="0"/>
                                          </p:stCondLst>
                                        </p:cTn>
                                        <p:tgtEl>
                                          <p:spTgt spid="209">
                                            <p:txEl>
                                              <p:pRg st="3" end="3"/>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
                                  <p:stCondLst>
                                    <p:cond delay="0"/>
                                  </p:stCondLst>
                                  <p:childTnLst>
                                    <p:set>
                                      <p:cBhvr>
                                        <p:cTn id="410" dur="1" fill="hold">
                                          <p:stCondLst>
                                            <p:cond delay="0"/>
                                          </p:stCondLst>
                                        </p:cTn>
                                        <p:tgtEl>
                                          <p:spTgt spid="209">
                                            <p:txEl>
                                              <p:pRg st="4" end="4"/>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nodeType="clickEffect" fill="hold" presetClass="entr" presetID="1">
                                  <p:stCondLst>
                                    <p:cond delay="0"/>
                                  </p:stCondLst>
                                  <p:childTnLst>
                                    <p:set>
                                      <p:cBhvr>
                                        <p:cTn id="414" dur="1" fill="hold">
                                          <p:stCondLst>
                                            <p:cond delay="0"/>
                                          </p:stCondLst>
                                        </p:cTn>
                                        <p:tgtEl>
                                          <p:spTgt spid="209">
                                            <p:txEl>
                                              <p:pRg st="5" end="5"/>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nodeType="clickEffect" fill="hold" presetClass="entr" presetID="1">
                                  <p:stCondLst>
                                    <p:cond delay="0"/>
                                  </p:stCondLst>
                                  <p:childTnLst>
                                    <p:set>
                                      <p:cBhvr>
                                        <p:cTn id="418" dur="1" fill="hold">
                                          <p:stCondLst>
                                            <p:cond delay="0"/>
                                          </p:stCondLst>
                                        </p:cTn>
                                        <p:tgtEl>
                                          <p:spTgt spid="209">
                                            <p:txEl>
                                              <p:pRg st="6" end="6"/>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nodeType="clickEffect" fill="hold" presetClass="entr" presetID="1">
                                  <p:stCondLst>
                                    <p:cond delay="0"/>
                                  </p:stCondLst>
                                  <p:childTnLst>
                                    <p:set>
                                      <p:cBhvr>
                                        <p:cTn id="422" dur="1" fill="hold">
                                          <p:stCondLst>
                                            <p:cond delay="0"/>
                                          </p:stCondLst>
                                        </p:cTn>
                                        <p:tgtEl>
                                          <p:spTgt spid="209">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 Which Is Better?</a:t>
            </a:r>
            <a:endParaRPr b="0" lang="en-US" sz="2600" spc="-1" strike="noStrike">
              <a:solidFill>
                <a:srgbClr val="000000"/>
              </a:solidFill>
              <a:latin typeface="Arial"/>
            </a:endParaRPr>
          </a:p>
        </p:txBody>
      </p:sp>
      <p:sp>
        <p:nvSpPr>
          <p:cNvPr id="21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choice of IPC mechanism depends on several factors: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Data Transfer:</a:t>
            </a:r>
            <a:r>
              <a:rPr b="0" lang="el" sz="1600" spc="-1" strike="noStrike">
                <a:solidFill>
                  <a:schemeClr val="accent1"/>
                </a:solidFill>
                <a:latin typeface="Lato"/>
                <a:ea typeface="Lato"/>
              </a:rPr>
              <a:t> For large data transfers, shared memory is often the most efficient choice.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Synchronization:</a:t>
            </a:r>
            <a:r>
              <a:rPr b="0" lang="el" sz="1600" spc="-1" strike="noStrike">
                <a:solidFill>
                  <a:schemeClr val="accent1"/>
                </a:solidFill>
                <a:latin typeface="Lato"/>
                <a:ea typeface="Lato"/>
              </a:rPr>
              <a:t> Semaphores are used to synchronize access to shared resources.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Asynchronous Communication:</a:t>
            </a:r>
            <a:r>
              <a:rPr b="0" lang="el" sz="1600" spc="-1" strike="noStrike">
                <a:solidFill>
                  <a:schemeClr val="accent1"/>
                </a:solidFill>
                <a:latin typeface="Lato"/>
                <a:ea typeface="Lato"/>
              </a:rPr>
              <a:t> Message queues are suitable for asynchronous communication.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Network Communication:</a:t>
            </a:r>
            <a:r>
              <a:rPr b="0" lang="el" sz="1600" spc="-1" strike="noStrike">
                <a:solidFill>
                  <a:schemeClr val="accent1"/>
                </a:solidFill>
                <a:latin typeface="Lato"/>
                <a:ea typeface="Lato"/>
              </a:rPr>
              <a:t> Sockets are used for network communication between processes on different machines.</a:t>
            </a:r>
            <a:endParaRPr b="0" lang="en-US" sz="1600" spc="-1" strike="noStrike">
              <a:solidFill>
                <a:srgbClr val="000000"/>
              </a:solidFill>
              <a:latin typeface="Arial"/>
            </a:endParaRPr>
          </a:p>
        </p:txBody>
      </p:sp>
      <p:sp>
        <p:nvSpPr>
          <p:cNvPr id="213"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74C068E-BDA6-4001-BF49-C7205F1DD387}"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23" dur="indefinite" restart="never" nodeType="tmRoot">
          <p:childTnLst>
            <p:seq>
              <p:cTn id="424" dur="indefinite" nodeType="mainSeq">
                <p:childTnLst>
                  <p:par>
                    <p:cTn id="425" fill="hold">
                      <p:stCondLst>
                        <p:cond delay="indefinite"/>
                      </p:stCondLst>
                      <p:childTnLst>
                        <p:par>
                          <p:cTn id="426" fill="hold">
                            <p:stCondLst>
                              <p:cond delay="0"/>
                            </p:stCondLst>
                            <p:childTnLst>
                              <p:par>
                                <p:cTn id="427" nodeType="clickEffect" fill="hold" presetClass="entr" presetID="1">
                                  <p:stCondLst>
                                    <p:cond delay="0"/>
                                  </p:stCondLst>
                                  <p:childTnLst>
                                    <p:set>
                                      <p:cBhvr>
                                        <p:cTn id="428" dur="1" fill="hold">
                                          <p:stCondLst>
                                            <p:cond delay="0"/>
                                          </p:stCondLst>
                                        </p:cTn>
                                        <p:tgtEl>
                                          <p:spTgt spid="212">
                                            <p:txEl>
                                              <p:pRg st="0" end="0"/>
                                            </p:txEl>
                                          </p:spTgt>
                                        </p:tgtEl>
                                        <p:attrNameLst>
                                          <p:attrName>style.visibility</p:attrName>
                                        </p:attrNameLst>
                                      </p:cBhvr>
                                      <p:to>
                                        <p:strVal val="visible"/>
                                      </p:to>
                                    </p:set>
                                  </p:childTnLst>
                                </p:cTn>
                              </p:par>
                            </p:childTnLst>
                          </p:cTn>
                        </p:par>
                      </p:childTnLst>
                    </p:cTn>
                  </p:par>
                  <p:par>
                    <p:cTn id="429" fill="hold">
                      <p:stCondLst>
                        <p:cond delay="indefinite"/>
                      </p:stCondLst>
                      <p:childTnLst>
                        <p:par>
                          <p:cTn id="430" fill="hold">
                            <p:stCondLst>
                              <p:cond delay="0"/>
                            </p:stCondLst>
                            <p:childTnLst>
                              <p:par>
                                <p:cTn id="431" nodeType="clickEffect" fill="hold" presetClass="entr" presetID="1">
                                  <p:stCondLst>
                                    <p:cond delay="0"/>
                                  </p:stCondLst>
                                  <p:childTnLst>
                                    <p:set>
                                      <p:cBhvr>
                                        <p:cTn id="432" dur="1" fill="hold">
                                          <p:stCondLst>
                                            <p:cond delay="0"/>
                                          </p:stCondLst>
                                        </p:cTn>
                                        <p:tgtEl>
                                          <p:spTgt spid="212">
                                            <p:txEl>
                                              <p:pRg st="1" end="1"/>
                                            </p:txEl>
                                          </p:spTgt>
                                        </p:tgtEl>
                                        <p:attrNameLst>
                                          <p:attrName>style.visibility</p:attrName>
                                        </p:attrNameLst>
                                      </p:cBhvr>
                                      <p:to>
                                        <p:strVal val="visible"/>
                                      </p:to>
                                    </p:set>
                                  </p:childTnLst>
                                </p:cTn>
                              </p:par>
                            </p:childTnLst>
                          </p:cTn>
                        </p:par>
                      </p:childTnLst>
                    </p:cTn>
                  </p:par>
                  <p:par>
                    <p:cTn id="433" fill="hold">
                      <p:stCondLst>
                        <p:cond delay="indefinite"/>
                      </p:stCondLst>
                      <p:childTnLst>
                        <p:par>
                          <p:cTn id="434" fill="hold">
                            <p:stCondLst>
                              <p:cond delay="0"/>
                            </p:stCondLst>
                            <p:childTnLst>
                              <p:par>
                                <p:cTn id="435" nodeType="clickEffect" fill="hold" presetClass="entr" presetID="1">
                                  <p:stCondLst>
                                    <p:cond delay="0"/>
                                  </p:stCondLst>
                                  <p:childTnLst>
                                    <p:set>
                                      <p:cBhvr>
                                        <p:cTn id="436" dur="1" fill="hold">
                                          <p:stCondLst>
                                            <p:cond delay="0"/>
                                          </p:stCondLst>
                                        </p:cTn>
                                        <p:tgtEl>
                                          <p:spTgt spid="212">
                                            <p:txEl>
                                              <p:pRg st="2" end="2"/>
                                            </p:txEl>
                                          </p:spTgt>
                                        </p:tgtEl>
                                        <p:attrNameLst>
                                          <p:attrName>style.visibility</p:attrName>
                                        </p:attrNameLst>
                                      </p:cBhvr>
                                      <p:to>
                                        <p:strVal val="visible"/>
                                      </p:to>
                                    </p:set>
                                  </p:childTnLst>
                                </p:cTn>
                              </p:par>
                            </p:childTnLst>
                          </p:cTn>
                        </p:par>
                      </p:childTnLst>
                    </p:cTn>
                  </p:par>
                  <p:par>
                    <p:cTn id="437" fill="hold">
                      <p:stCondLst>
                        <p:cond delay="indefinite"/>
                      </p:stCondLst>
                      <p:childTnLst>
                        <p:par>
                          <p:cTn id="438" fill="hold">
                            <p:stCondLst>
                              <p:cond delay="0"/>
                            </p:stCondLst>
                            <p:childTnLst>
                              <p:par>
                                <p:cTn id="439" nodeType="clickEffect" fill="hold" presetClass="entr" presetID="1">
                                  <p:stCondLst>
                                    <p:cond delay="0"/>
                                  </p:stCondLst>
                                  <p:childTnLst>
                                    <p:set>
                                      <p:cBhvr>
                                        <p:cTn id="440" dur="1" fill="hold">
                                          <p:stCondLst>
                                            <p:cond delay="0"/>
                                          </p:stCondLst>
                                        </p:cTn>
                                        <p:tgtEl>
                                          <p:spTgt spid="212">
                                            <p:txEl>
                                              <p:pRg st="3" end="3"/>
                                            </p:txEl>
                                          </p:spTgt>
                                        </p:tgtEl>
                                        <p:attrNameLst>
                                          <p:attrName>style.visibility</p:attrName>
                                        </p:attrNameLst>
                                      </p:cBhvr>
                                      <p:to>
                                        <p:strVal val="visible"/>
                                      </p:to>
                                    </p:set>
                                  </p:childTnLst>
                                </p:cTn>
                              </p:par>
                            </p:childTnLst>
                          </p:cTn>
                        </p:par>
                      </p:childTnLst>
                    </p:cTn>
                  </p:par>
                  <p:par>
                    <p:cTn id="441" fill="hold">
                      <p:stCondLst>
                        <p:cond delay="indefinite"/>
                      </p:stCondLst>
                      <p:childTnLst>
                        <p:par>
                          <p:cTn id="442" fill="hold">
                            <p:stCondLst>
                              <p:cond delay="0"/>
                            </p:stCondLst>
                            <p:childTnLst>
                              <p:par>
                                <p:cTn id="443" nodeType="clickEffect" fill="hold" presetClass="entr" presetID="1">
                                  <p:stCondLst>
                                    <p:cond delay="0"/>
                                  </p:stCondLst>
                                  <p:childTnLst>
                                    <p:set>
                                      <p:cBhvr>
                                        <p:cTn id="444" dur="1" fill="hold">
                                          <p:stCondLst>
                                            <p:cond delay="0"/>
                                          </p:stCondLst>
                                        </p:cTn>
                                        <p:tgtEl>
                                          <p:spTgt spid="212">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IPC + Bash + C = ?</a:t>
            </a:r>
            <a:endParaRPr b="0" lang="en-US" sz="3600" spc="-1" strike="noStrike">
              <a:solidFill>
                <a:srgbClr val="000000"/>
              </a:solidFill>
              <a:latin typeface="Arial"/>
            </a:endParaRPr>
          </a:p>
        </p:txBody>
      </p:sp>
      <p:sp>
        <p:nvSpPr>
          <p:cNvPr id="215" name="PlaceHolder 2"/>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5A344355-7035-4F1F-B60D-3C6E47624CAF}" type="slidenum">
              <a:rPr b="0" lang="el" sz="1000" spc="-1" strike="noStrike">
                <a:solidFill>
                  <a:schemeClr val="l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Simple “Shell Emulator” In C</a:t>
            </a:r>
            <a:endParaRPr b="0" lang="en-US" sz="2600" spc="-1" strike="noStrike">
              <a:solidFill>
                <a:srgbClr val="000000"/>
              </a:solidFill>
              <a:latin typeface="Arial"/>
            </a:endParaRPr>
          </a:p>
        </p:txBody>
      </p:sp>
      <p:sp>
        <p:nvSpPr>
          <p:cNvPr id="217" name="PlaceHolder 2"/>
          <p:cNvSpPr>
            <a:spLocks noGrp="1"/>
          </p:cNvSpPr>
          <p:nvPr>
            <p:ph/>
          </p:nvPr>
        </p:nvSpPr>
        <p:spPr>
          <a:xfrm>
            <a:off x="729360" y="1378080"/>
            <a:ext cx="3842280" cy="3764880"/>
          </a:xfrm>
          <a:prstGeom prst="rect">
            <a:avLst/>
          </a:prstGeom>
          <a:noFill/>
          <a:ln w="0">
            <a:noFill/>
          </a:ln>
        </p:spPr>
        <p:txBody>
          <a:bodyPr tIns="91440" bIns="91440" anchor="t">
            <a:normAutofit fontScale="97000"/>
          </a:bodyPr>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my_system</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const</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command</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256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execl</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SHELL</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SHELL</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command</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_exit</a:t>
            </a:r>
            <a:r>
              <a:rPr b="0" lang="el" sz="1050" spc="-1" strike="noStrike">
                <a:solidFill>
                  <a:srgbClr val="000000"/>
                </a:solidFill>
                <a:highlight>
                  <a:srgbClr val="ffffff"/>
                </a:highlight>
                <a:latin typeface="Courier New"/>
                <a:ea typeface="Courier New"/>
              </a:rPr>
              <a:t>(</a:t>
            </a:r>
            <a:r>
              <a:rPr b="0" lang="el" sz="1050" spc="-1" strike="noStrike">
                <a:solidFill>
                  <a:srgbClr val="0000ff"/>
                </a:solidFill>
                <a:highlight>
                  <a:srgbClr val="ffffff"/>
                </a:highlight>
                <a:latin typeface="Courier New"/>
                <a:ea typeface="Courier New"/>
              </a:rPr>
              <a:t>EXIT_FAILURE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waitpid</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&amp;</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 </a:t>
            </a:r>
            <a:r>
              <a:rPr b="0" lang="el" sz="1050" spc="-1" strike="noStrike">
                <a:solidFill>
                  <a:srgbClr val="001080"/>
                </a:solidFill>
                <a:highlight>
                  <a:srgbClr val="ffffff"/>
                </a:highlight>
                <a:latin typeface="Courier New"/>
                <a:ea typeface="Courier New"/>
              </a:rPr>
              <a:t>pid</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status</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18"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B459E0C-7751-483D-A7D8-F3E130729EF4}"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
        <p:nvSpPr>
          <p:cNvPr id="219" name="PlaceHolder 4"/>
          <p:cNvSpPr>
            <a:spLocks noGrp="1"/>
          </p:cNvSpPr>
          <p:nvPr>
            <p:ph/>
          </p:nvPr>
        </p:nvSpPr>
        <p:spPr>
          <a:xfrm>
            <a:off x="4572000" y="1378080"/>
            <a:ext cx="3842280" cy="3764880"/>
          </a:xfrm>
          <a:prstGeom prst="rect">
            <a:avLst/>
          </a:prstGeom>
          <a:noFill/>
          <a:ln w="0">
            <a:noFill/>
          </a:ln>
        </p:spPr>
        <p:txBody>
          <a:bodyPr tIns="91440" bIns="91440" anchor="t">
            <a:normAutofit fontScale="98000"/>
          </a:bodyPr>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&lt;stddef.h&gt;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&lt;sys/wait.h&gt;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#define</a:t>
            </a:r>
            <a:r>
              <a:rPr b="0" lang="el" sz="1050" spc="-1" strike="noStrike">
                <a:solidFill>
                  <a:srgbClr val="0000ff"/>
                </a:solidFill>
                <a:highlight>
                  <a:srgbClr val="ffffff"/>
                </a:highlight>
                <a:latin typeface="Courier New"/>
                <a:ea typeface="Courier New"/>
              </a:rPr>
              <a:t> SHELL </a:t>
            </a:r>
            <a:r>
              <a:rPr b="0" lang="el" sz="1050" spc="-1" strike="noStrike">
                <a:solidFill>
                  <a:srgbClr val="a31515"/>
                </a:solidFill>
                <a:highlight>
                  <a:srgbClr val="ffffff"/>
                </a:highlight>
                <a:latin typeface="Courier New"/>
                <a:ea typeface="Courier New"/>
              </a:rPr>
              <a:t>"/bin/sh"</a:t>
            </a:r>
            <a:br>
              <a:rPr sz="1050"/>
            </a:br>
            <a:br>
              <a:rPr sz="1050"/>
            </a:b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char</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256</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while</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"input command: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scanf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%s</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my_system</a:t>
            </a:r>
            <a:r>
              <a:rPr b="0" lang="el" sz="1050" spc="-1" strike="noStrike">
                <a:solidFill>
                  <a:srgbClr val="000000"/>
                </a:solidFill>
                <a:highlight>
                  <a:srgbClr val="ffffff"/>
                </a:highlight>
                <a:latin typeface="Courier New"/>
                <a:ea typeface="Courier New"/>
              </a:rPr>
              <a:t>(</a:t>
            </a:r>
            <a:r>
              <a:rPr b="0" lang="el" sz="1050" spc="-1" strike="noStrike">
                <a:solidFill>
                  <a:srgbClr val="001080"/>
                </a:solidFill>
                <a:highlight>
                  <a:srgbClr val="ffffff"/>
                </a:highlight>
                <a:latin typeface="Courier New"/>
                <a:ea typeface="Courier New"/>
              </a:rPr>
              <a:t>cmd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fork()</a:t>
            </a:r>
            <a:endParaRPr b="0" lang="en-US" sz="2600" spc="-1" strike="noStrike">
              <a:solidFill>
                <a:srgbClr val="000000"/>
              </a:solidFill>
              <a:latin typeface="Arial"/>
            </a:endParaRPr>
          </a:p>
        </p:txBody>
      </p:sp>
      <p:sp>
        <p:nvSpPr>
          <p:cNvPr id="22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7680">
              <a:lnSpc>
                <a:spcPct val="115000"/>
              </a:lnSpc>
              <a:buClr>
                <a:srgbClr val="595959"/>
              </a:buClr>
              <a:buFont typeface="Lato"/>
              <a:buChar char="●"/>
            </a:pPr>
            <a:r>
              <a:rPr b="0" lang="el" sz="1710" spc="-1" strike="noStrike">
                <a:solidFill>
                  <a:schemeClr val="accent1"/>
                </a:solidFill>
                <a:latin typeface="Lato"/>
                <a:ea typeface="Lato"/>
              </a:rPr>
              <a:t>The Fork system call is used for </a:t>
            </a:r>
            <a:r>
              <a:rPr b="1" lang="el" sz="1710" spc="-1" strike="noStrike">
                <a:solidFill>
                  <a:schemeClr val="accent1"/>
                </a:solidFill>
                <a:latin typeface="Lato"/>
                <a:ea typeface="Lato"/>
              </a:rPr>
              <a:t>creating a new process</a:t>
            </a:r>
            <a:r>
              <a:rPr b="0" lang="el" sz="1710" spc="-1" strike="noStrike">
                <a:solidFill>
                  <a:schemeClr val="accent1"/>
                </a:solidFill>
                <a:latin typeface="Lato"/>
                <a:ea typeface="Lato"/>
              </a:rPr>
              <a:t> in Linux, and Unix systems, which is called the child process.</a:t>
            </a:r>
            <a:endParaRPr b="0" lang="en-US" sz="1710" spc="-1" strike="noStrike">
              <a:solidFill>
                <a:srgbClr val="000000"/>
              </a:solidFill>
              <a:latin typeface="Arial"/>
            </a:endParaRPr>
          </a:p>
          <a:p>
            <a:pPr marL="457200" indent="-337680">
              <a:lnSpc>
                <a:spcPct val="115000"/>
              </a:lnSpc>
              <a:buClr>
                <a:srgbClr val="595959"/>
              </a:buClr>
              <a:buFont typeface="Lato"/>
              <a:buChar char="●"/>
            </a:pPr>
            <a:r>
              <a:rPr b="0" lang="el" sz="1710" spc="-1" strike="noStrike">
                <a:solidFill>
                  <a:schemeClr val="accent1"/>
                </a:solidFill>
                <a:latin typeface="Lato"/>
                <a:ea typeface="Lato"/>
              </a:rPr>
              <a:t>The child process runs </a:t>
            </a:r>
            <a:r>
              <a:rPr b="1" lang="el" sz="1710" spc="-1" strike="noStrike">
                <a:solidFill>
                  <a:schemeClr val="accent1"/>
                </a:solidFill>
                <a:latin typeface="Lato"/>
                <a:ea typeface="Lato"/>
              </a:rPr>
              <a:t>concurrently</a:t>
            </a:r>
            <a:r>
              <a:rPr b="0" lang="el" sz="1710" spc="-1" strike="noStrike">
                <a:solidFill>
                  <a:schemeClr val="accent1"/>
                </a:solidFill>
                <a:latin typeface="Lato"/>
                <a:ea typeface="Lato"/>
              </a:rPr>
              <a:t> with the process that makes the fork() call (parent process).</a:t>
            </a:r>
            <a:endParaRPr b="0" lang="en-US" sz="1710" spc="-1" strike="noStrike">
              <a:solidFill>
                <a:srgbClr val="000000"/>
              </a:solidFill>
              <a:latin typeface="Arial"/>
            </a:endParaRPr>
          </a:p>
          <a:p>
            <a:pPr marL="457200" indent="-337680">
              <a:lnSpc>
                <a:spcPct val="115000"/>
              </a:lnSpc>
              <a:buClr>
                <a:srgbClr val="595959"/>
              </a:buClr>
              <a:buFont typeface="Lato"/>
              <a:buChar char="●"/>
            </a:pPr>
            <a:r>
              <a:rPr b="0" lang="el" sz="1710" spc="-1" strike="noStrike">
                <a:solidFill>
                  <a:schemeClr val="accent1"/>
                </a:solidFill>
                <a:latin typeface="Lato"/>
                <a:ea typeface="Lato"/>
              </a:rPr>
              <a:t>After a new child process is created, </a:t>
            </a:r>
            <a:r>
              <a:rPr b="1" lang="el" sz="1710" spc="-1" strike="noStrike">
                <a:solidFill>
                  <a:schemeClr val="accent1"/>
                </a:solidFill>
                <a:latin typeface="Lato"/>
                <a:ea typeface="Lato"/>
              </a:rPr>
              <a:t>both processes will execute the next instruction</a:t>
            </a:r>
            <a:r>
              <a:rPr b="0" lang="el" sz="1710" spc="-1" strike="noStrike">
                <a:solidFill>
                  <a:schemeClr val="accent1"/>
                </a:solidFill>
                <a:latin typeface="Lato"/>
                <a:ea typeface="Lato"/>
              </a:rPr>
              <a:t> following the fork() system call.</a:t>
            </a:r>
            <a:endParaRPr b="0" lang="en-US" sz="1710" spc="-1" strike="noStrike">
              <a:solidFill>
                <a:srgbClr val="000000"/>
              </a:solidFill>
              <a:latin typeface="Arial"/>
            </a:endParaRPr>
          </a:p>
          <a:p>
            <a:pPr marL="457200" indent="-337680">
              <a:lnSpc>
                <a:spcPct val="115000"/>
              </a:lnSpc>
              <a:buClr>
                <a:srgbClr val="595959"/>
              </a:buClr>
              <a:buFont typeface="Lato"/>
              <a:buChar char="●"/>
            </a:pPr>
            <a:r>
              <a:rPr b="0" lang="el" sz="1710" spc="-1" strike="noStrike">
                <a:solidFill>
                  <a:schemeClr val="accent1"/>
                </a:solidFill>
                <a:latin typeface="Lato"/>
                <a:ea typeface="Lato"/>
              </a:rPr>
              <a:t>The child process uses the </a:t>
            </a:r>
            <a:r>
              <a:rPr b="1" lang="el" sz="1710" spc="-1" strike="noStrike">
                <a:solidFill>
                  <a:schemeClr val="accent1"/>
                </a:solidFill>
                <a:latin typeface="Lato"/>
                <a:ea typeface="Lato"/>
              </a:rPr>
              <a:t>same pc</a:t>
            </a:r>
            <a:r>
              <a:rPr b="0" lang="el" sz="1710" spc="-1" strike="noStrike">
                <a:solidFill>
                  <a:schemeClr val="accent1"/>
                </a:solidFill>
                <a:latin typeface="Lato"/>
                <a:ea typeface="Lato"/>
              </a:rPr>
              <a:t> (program counter), </a:t>
            </a:r>
            <a:r>
              <a:rPr b="1" lang="el" sz="1710" spc="-1" strike="noStrike">
                <a:solidFill>
                  <a:schemeClr val="accent1"/>
                </a:solidFill>
                <a:latin typeface="Lato"/>
                <a:ea typeface="Lato"/>
              </a:rPr>
              <a:t>same CPU registers</a:t>
            </a:r>
            <a:r>
              <a:rPr b="0" lang="el" sz="1710" spc="-1" strike="noStrike">
                <a:solidFill>
                  <a:schemeClr val="accent1"/>
                </a:solidFill>
                <a:latin typeface="Lato"/>
                <a:ea typeface="Lato"/>
              </a:rPr>
              <a:t>, and </a:t>
            </a:r>
            <a:r>
              <a:rPr b="1" lang="el" sz="1710" spc="-1" strike="noStrike">
                <a:solidFill>
                  <a:schemeClr val="accent1"/>
                </a:solidFill>
                <a:latin typeface="Lato"/>
                <a:ea typeface="Lato"/>
              </a:rPr>
              <a:t>same open files</a:t>
            </a:r>
            <a:r>
              <a:rPr b="0" lang="el" sz="1710" spc="-1" strike="noStrike">
                <a:solidFill>
                  <a:schemeClr val="accent1"/>
                </a:solidFill>
                <a:latin typeface="Lato"/>
                <a:ea typeface="Lato"/>
              </a:rPr>
              <a:t> which use in the parent process. It takes no parameters and returns an integer value.</a:t>
            </a:r>
            <a:endParaRPr b="0" lang="en-US" sz="1710" spc="-1" strike="noStrike">
              <a:solidFill>
                <a:srgbClr val="000000"/>
              </a:solidFill>
              <a:latin typeface="Arial"/>
            </a:endParaRPr>
          </a:p>
        </p:txBody>
      </p:sp>
      <p:sp>
        <p:nvSpPr>
          <p:cNvPr id="222"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46FA798-A8AD-4DD5-BC6A-E0903FD4E271}"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45" dur="indefinite" restart="never" nodeType="tmRoot">
          <p:childTnLst>
            <p:seq>
              <p:cTn id="446" dur="indefinite" nodeType="mainSeq">
                <p:childTnLst>
                  <p:par>
                    <p:cTn id="447" fill="hold">
                      <p:stCondLst>
                        <p:cond delay="indefinite"/>
                      </p:stCondLst>
                      <p:childTnLst>
                        <p:par>
                          <p:cTn id="448" fill="hold">
                            <p:stCondLst>
                              <p:cond delay="0"/>
                            </p:stCondLst>
                            <p:childTnLst>
                              <p:par>
                                <p:cTn id="449" nodeType="clickEffect" fill="hold" presetClass="entr" presetID="1">
                                  <p:stCondLst>
                                    <p:cond delay="0"/>
                                  </p:stCondLst>
                                  <p:childTnLst>
                                    <p:set>
                                      <p:cBhvr>
                                        <p:cTn id="450" dur="1" fill="hold">
                                          <p:stCondLst>
                                            <p:cond delay="0"/>
                                          </p:stCondLst>
                                        </p:cTn>
                                        <p:tgtEl>
                                          <p:spTgt spid="221">
                                            <p:txEl>
                                              <p:pRg st="0" end="0"/>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nodeType="clickEffect" fill="hold" presetClass="entr" presetID="1">
                                  <p:stCondLst>
                                    <p:cond delay="0"/>
                                  </p:stCondLst>
                                  <p:childTnLst>
                                    <p:set>
                                      <p:cBhvr>
                                        <p:cTn id="454" dur="1" fill="hold">
                                          <p:stCondLst>
                                            <p:cond delay="0"/>
                                          </p:stCondLst>
                                        </p:cTn>
                                        <p:tgtEl>
                                          <p:spTgt spid="221">
                                            <p:txEl>
                                              <p:pRg st="1" end="1"/>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nodeType="clickEffect" fill="hold" presetClass="entr" presetID="1">
                                  <p:stCondLst>
                                    <p:cond delay="0"/>
                                  </p:stCondLst>
                                  <p:childTnLst>
                                    <p:set>
                                      <p:cBhvr>
                                        <p:cTn id="458" dur="1" fill="hold">
                                          <p:stCondLst>
                                            <p:cond delay="0"/>
                                          </p:stCondLst>
                                        </p:cTn>
                                        <p:tgtEl>
                                          <p:spTgt spid="221">
                                            <p:txEl>
                                              <p:pRg st="2" end="2"/>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nodeType="clickEffect" fill="hold" presetClass="entr" presetID="1">
                                  <p:stCondLst>
                                    <p:cond delay="0"/>
                                  </p:stCondLst>
                                  <p:childTnLst>
                                    <p:set>
                                      <p:cBhvr>
                                        <p:cTn id="462" dur="1" fill="hold">
                                          <p:stCondLst>
                                            <p:cond delay="0"/>
                                          </p:stCondLst>
                                        </p:cTn>
                                        <p:tgtEl>
                                          <p:spTgt spid="221">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 Simple Fork / What Will This Print?</a:t>
            </a:r>
            <a:endParaRPr b="0" lang="en-US" sz="2600" spc="-1" strike="noStrike">
              <a:solidFill>
                <a:srgbClr val="000000"/>
              </a:solidFill>
              <a:latin typeface="Arial"/>
            </a:endParaRPr>
          </a:p>
        </p:txBody>
      </p:sp>
      <p:sp>
        <p:nvSpPr>
          <p:cNvPr id="224" name="PlaceHolder 2"/>
          <p:cNvSpPr>
            <a:spLocks noGrp="1"/>
          </p:cNvSpPr>
          <p:nvPr>
            <p:ph/>
          </p:nvPr>
        </p:nvSpPr>
        <p:spPr>
          <a:xfrm>
            <a:off x="729360" y="1378080"/>
            <a:ext cx="7688520" cy="3512880"/>
          </a:xfrm>
          <a:prstGeom prst="rect">
            <a:avLst/>
          </a:prstGeom>
          <a:noFill/>
          <a:ln w="0">
            <a:noFill/>
          </a:ln>
        </p:spPr>
        <p:txBody>
          <a:bodyPr tIns="91440" bIns="91440" anchor="t">
            <a:normAutofit fontScale="97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fork this process</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&lt;</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 In case of failure..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"fork fail"</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print an error</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r>
              <a:rPr b="0" lang="el" sz="1050" spc="-1" strike="noStrike">
                <a:solidFill>
                  <a:srgbClr val="008000"/>
                </a:solidFill>
                <a:highlight>
                  <a:srgbClr val="ffffff"/>
                </a:highlight>
                <a:latin typeface="Courier New"/>
                <a:ea typeface="Courier New"/>
              </a:rPr>
              <a:t> // and exit with statuscode == 1</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Otherwise print a relevant message</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"process_id(pid) = </a:t>
            </a:r>
            <a:r>
              <a:rPr b="0" lang="el" sz="1050" spc="-1" strike="noStrike">
                <a:solidFill>
                  <a:srgbClr val="001080"/>
                </a:solidFill>
                <a:highlight>
                  <a:srgbClr val="ffffff"/>
                </a:highlight>
                <a:latin typeface="Courier New"/>
                <a:ea typeface="Courier New"/>
              </a:rPr>
              <a:t>%d</a:t>
            </a:r>
            <a:r>
              <a:rPr b="0" lang="el" sz="1050" spc="-1" strike="noStrike">
                <a:solidFill>
                  <a:srgbClr val="a31515"/>
                </a:solidFill>
                <a:highlight>
                  <a:srgbClr val="ffffff"/>
                </a:highlight>
                <a:latin typeface="Courier New"/>
                <a:ea typeface="Courier New"/>
              </a:rPr>
              <a:t> </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getpid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25"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EB65972-EA37-4DE4-9FE1-5293EE56F17C}"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2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source/fork_002.c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"Linux are awesome!</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28"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47A85AA-10E0-4A97-838F-D94B94EEC7DC}"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3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source/fork_003.c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"Linux are awesome!</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31"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2352F65-C6CC-4F61-8A04-B7CCA968DED3}"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33" name="PlaceHolder 2"/>
          <p:cNvSpPr>
            <a:spLocks noGrp="1"/>
          </p:cNvSpPr>
          <p:nvPr>
            <p:ph/>
          </p:nvPr>
        </p:nvSpPr>
        <p:spPr>
          <a:xfrm>
            <a:off x="729360" y="1378080"/>
            <a:ext cx="7688520" cy="352008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source/fork_004.c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34"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4184C28-3EA3-4EA5-91E3-3314705A0E01}" type="slidenum">
              <a:rPr b="0" lang="el" sz="1000" spc="-1" strike="noStrike">
                <a:solidFill>
                  <a:schemeClr val="accen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Copy–On–Write (COW)</a:t>
            </a:r>
            <a:endParaRPr b="0" lang="en-US" sz="2600" spc="-1" strike="noStrike">
              <a:solidFill>
                <a:srgbClr val="000000"/>
              </a:solidFill>
              <a:latin typeface="Arial"/>
            </a:endParaRPr>
          </a:p>
        </p:txBody>
      </p:sp>
      <p:sp>
        <p:nvSpPr>
          <p:cNvPr id="236" name="PlaceHolder 2"/>
          <p:cNvSpPr>
            <a:spLocks noGrp="1"/>
          </p:cNvSpPr>
          <p:nvPr>
            <p:ph/>
          </p:nvPr>
        </p:nvSpPr>
        <p:spPr>
          <a:xfrm>
            <a:off x="729360" y="1378080"/>
            <a:ext cx="7688520" cy="34480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This should print something like:</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c == 0</a:t>
            </a:r>
            <a:br>
              <a:rPr sz="1600"/>
            </a:br>
            <a:r>
              <a:rPr b="0" lang="el" sz="1600" spc="-1" strike="noStrike">
                <a:solidFill>
                  <a:schemeClr val="accent1"/>
                </a:solidFill>
                <a:latin typeface="Lato"/>
                <a:ea typeface="Lato"/>
              </a:rPr>
              <a:t>c == 1</a:t>
            </a:r>
            <a:br>
              <a:rPr sz="1600"/>
            </a:br>
            <a:r>
              <a:rPr b="0" lang="el" sz="1600" spc="-1" strike="noStrike">
                <a:solidFill>
                  <a:schemeClr val="accent1"/>
                </a:solidFill>
                <a:latin typeface="Lato"/>
                <a:ea typeface="Lato"/>
              </a:rPr>
              <a:t>c == 1</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Forked processes share resources under the Copy–On–Write (COW) semantics.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That is, any already existing resources are copied to the forked processes </a:t>
            </a:r>
            <a:r>
              <a:rPr b="1" lang="el" sz="1600" spc="-1" strike="noStrike">
                <a:solidFill>
                  <a:schemeClr val="accent1"/>
                </a:solidFill>
                <a:latin typeface="Lato"/>
                <a:ea typeface="Lato"/>
              </a:rPr>
              <a:t>when needed</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So, in the above example, c is copied to the forked process when we need to process it, i.e., when we need to compute c++.</a:t>
            </a:r>
            <a:endParaRPr b="0" lang="en-US" sz="1600" spc="-1" strike="noStrike">
              <a:solidFill>
                <a:srgbClr val="000000"/>
              </a:solidFill>
              <a:latin typeface="Arial"/>
            </a:endParaRPr>
          </a:p>
        </p:txBody>
      </p:sp>
      <p:sp>
        <p:nvSpPr>
          <p:cNvPr id="237" name="PlaceHolder 3"/>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D8098A8-6334-45FD-B761-8410686925E2}" type="slidenum">
              <a:rPr b="0" lang="el" sz="1000" spc="-1" strike="noStrike">
                <a:solidFill>
                  <a:schemeClr val="accen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63" dur="indefinite" restart="never" nodeType="tmRoot">
          <p:childTnLst>
            <p:seq>
              <p:cTn id="464" dur="indefinite" nodeType="mainSeq">
                <p:childTnLst>
                  <p:par>
                    <p:cTn id="465" fill="hold">
                      <p:stCondLst>
                        <p:cond delay="indefinite"/>
                      </p:stCondLst>
                      <p:childTnLst>
                        <p:par>
                          <p:cTn id="466" fill="hold">
                            <p:stCondLst>
                              <p:cond delay="0"/>
                            </p:stCondLst>
                            <p:childTnLst>
                              <p:par>
                                <p:cTn id="467" nodeType="clickEffect" fill="hold" presetClass="entr" presetID="1">
                                  <p:stCondLst>
                                    <p:cond delay="0"/>
                                  </p:stCondLst>
                                  <p:childTnLst>
                                    <p:set>
                                      <p:cBhvr>
                                        <p:cTn id="468" dur="1" fill="hold">
                                          <p:stCondLst>
                                            <p:cond delay="0"/>
                                          </p:stCondLst>
                                        </p:cTn>
                                        <p:tgtEl>
                                          <p:spTgt spid="236">
                                            <p:txEl>
                                              <p:pRg st="0" end="0"/>
                                            </p:txEl>
                                          </p:spTgt>
                                        </p:tgtEl>
                                        <p:attrNameLst>
                                          <p:attrName>style.visibility</p:attrName>
                                        </p:attrNameLst>
                                      </p:cBhvr>
                                      <p:to>
                                        <p:strVal val="visible"/>
                                      </p:to>
                                    </p:set>
                                  </p:childTnLst>
                                </p:cTn>
                              </p:par>
                            </p:childTnLst>
                          </p:cTn>
                        </p:par>
                      </p:childTnLst>
                    </p:cTn>
                  </p:par>
                  <p:par>
                    <p:cTn id="469" fill="hold">
                      <p:stCondLst>
                        <p:cond delay="indefinite"/>
                      </p:stCondLst>
                      <p:childTnLst>
                        <p:par>
                          <p:cTn id="470" fill="hold">
                            <p:stCondLst>
                              <p:cond delay="0"/>
                            </p:stCondLst>
                            <p:childTnLst>
                              <p:par>
                                <p:cTn id="471" nodeType="clickEffect" fill="hold" presetClass="entr" presetID="1">
                                  <p:stCondLst>
                                    <p:cond delay="0"/>
                                  </p:stCondLst>
                                  <p:childTnLst>
                                    <p:set>
                                      <p:cBhvr>
                                        <p:cTn id="472" dur="1" fill="hold">
                                          <p:stCondLst>
                                            <p:cond delay="0"/>
                                          </p:stCondLst>
                                        </p:cTn>
                                        <p:tgtEl>
                                          <p:spTgt spid="236">
                                            <p:txEl>
                                              <p:pRg st="1" end="1"/>
                                            </p:txEl>
                                          </p:spTgt>
                                        </p:tgtEl>
                                        <p:attrNameLst>
                                          <p:attrName>style.visibility</p:attrName>
                                        </p:attrNameLst>
                                      </p:cBhvr>
                                      <p:to>
                                        <p:strVal val="visible"/>
                                      </p:to>
                                    </p:set>
                                  </p:childTnLst>
                                </p:cTn>
                              </p:par>
                            </p:childTnLst>
                          </p:cTn>
                        </p:par>
                      </p:childTnLst>
                    </p:cTn>
                  </p:par>
                  <p:par>
                    <p:cTn id="473" fill="hold">
                      <p:stCondLst>
                        <p:cond delay="indefinite"/>
                      </p:stCondLst>
                      <p:childTnLst>
                        <p:par>
                          <p:cTn id="474" fill="hold">
                            <p:stCondLst>
                              <p:cond delay="0"/>
                            </p:stCondLst>
                            <p:childTnLst>
                              <p:par>
                                <p:cTn id="475" nodeType="clickEffect" fill="hold" presetClass="entr" presetID="1">
                                  <p:stCondLst>
                                    <p:cond delay="0"/>
                                  </p:stCondLst>
                                  <p:childTnLst>
                                    <p:set>
                                      <p:cBhvr>
                                        <p:cTn id="476" dur="1" fill="hold">
                                          <p:stCondLst>
                                            <p:cond delay="0"/>
                                          </p:stCondLst>
                                        </p:cTn>
                                        <p:tgtEl>
                                          <p:spTgt spid="236">
                                            <p:txEl>
                                              <p:pRg st="2" end="2"/>
                                            </p:txEl>
                                          </p:spTgt>
                                        </p:tgtEl>
                                        <p:attrNameLst>
                                          <p:attrName>style.visibility</p:attrName>
                                        </p:attrNameLst>
                                      </p:cBhvr>
                                      <p:to>
                                        <p:strVal val="visible"/>
                                      </p:to>
                                    </p:set>
                                  </p:childTnLst>
                                </p:cTn>
                              </p:par>
                            </p:childTnLst>
                          </p:cTn>
                        </p:par>
                      </p:childTnLst>
                    </p:cTn>
                  </p:par>
                  <p:par>
                    <p:cTn id="477" fill="hold">
                      <p:stCondLst>
                        <p:cond delay="indefinite"/>
                      </p:stCondLst>
                      <p:childTnLst>
                        <p:par>
                          <p:cTn id="478" fill="hold">
                            <p:stCondLst>
                              <p:cond delay="0"/>
                            </p:stCondLst>
                            <p:childTnLst>
                              <p:par>
                                <p:cTn id="479" nodeType="clickEffect" fill="hold" presetClass="entr" presetID="1">
                                  <p:stCondLst>
                                    <p:cond delay="0"/>
                                  </p:stCondLst>
                                  <p:childTnLst>
                                    <p:set>
                                      <p:cBhvr>
                                        <p:cTn id="480" dur="1" fill="hold">
                                          <p:stCondLst>
                                            <p:cond delay="0"/>
                                          </p:stCondLst>
                                        </p:cTn>
                                        <p:tgtEl>
                                          <p:spTgt spid="236">
                                            <p:txEl>
                                              <p:pRg st="3" end="3"/>
                                            </p:txEl>
                                          </p:spTgt>
                                        </p:tgtEl>
                                        <p:attrNameLst>
                                          <p:attrName>style.visibility</p:attrName>
                                        </p:attrNameLst>
                                      </p:cBhvr>
                                      <p:to>
                                        <p:strVal val="visible"/>
                                      </p:to>
                                    </p:set>
                                  </p:childTnLst>
                                </p:cTn>
                              </p:par>
                            </p:childTnLst>
                          </p:cTn>
                        </p:par>
                      </p:childTnLst>
                    </p:cTn>
                  </p:par>
                  <p:par>
                    <p:cTn id="481" fill="hold">
                      <p:stCondLst>
                        <p:cond delay="indefinite"/>
                      </p:stCondLst>
                      <p:childTnLst>
                        <p:par>
                          <p:cTn id="482" fill="hold">
                            <p:stCondLst>
                              <p:cond delay="0"/>
                            </p:stCondLst>
                            <p:childTnLst>
                              <p:par>
                                <p:cTn id="483" nodeType="clickEffect" fill="hold" presetClass="entr" presetID="1">
                                  <p:stCondLst>
                                    <p:cond delay="0"/>
                                  </p:stCondLst>
                                  <p:childTnLst>
                                    <p:set>
                                      <p:cBhvr>
                                        <p:cTn id="484" dur="1" fill="hold">
                                          <p:stCondLst>
                                            <p:cond delay="0"/>
                                          </p:stCondLst>
                                        </p:cTn>
                                        <p:tgtEl>
                                          <p:spTgt spid="236">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39"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source/fork_005.c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c</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40"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1D98C8B-2AAF-44B0-9BB2-EB3B2DAEDE16}"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42" name="PlaceHolder 2"/>
          <p:cNvSpPr>
            <a:spLocks noGrp="1"/>
          </p:cNvSpPr>
          <p:nvPr>
            <p:ph/>
          </p:nvPr>
        </p:nvSpPr>
        <p:spPr>
          <a:xfrm>
            <a:off x="729360" y="1378080"/>
            <a:ext cx="7688520" cy="3764880"/>
          </a:xfrm>
          <a:prstGeom prst="rect">
            <a:avLst/>
          </a:prstGeom>
          <a:noFill/>
          <a:ln w="0">
            <a:noFill/>
          </a:ln>
        </p:spPr>
        <p:txBody>
          <a:bodyPr tIns="91440" bIns="91440" anchor="t">
            <a:normAutofit fontScale="79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source/fork_006.c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"Failure"</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"Parent!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43" name="PlaceHolder 3"/>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AE6FE9B-8C3D-4A5D-A971-534430700D35}"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45" name="PlaceHolder 2"/>
          <p:cNvSpPr>
            <a:spLocks noGrp="1"/>
          </p:cNvSpPr>
          <p:nvPr>
            <p:ph/>
          </p:nvPr>
        </p:nvSpPr>
        <p:spPr>
          <a:xfrm>
            <a:off x="729360" y="1378080"/>
            <a:ext cx="7688520" cy="3765240"/>
          </a:xfrm>
          <a:prstGeom prst="rect">
            <a:avLst/>
          </a:prstGeom>
          <a:noFill/>
          <a:ln w="0">
            <a:noFill/>
          </a:ln>
        </p:spPr>
        <p:txBody>
          <a:bodyPr tIns="91440" bIns="91440" anchor="t">
            <a:normAutofit fontScale="79000"/>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source/fork_007.c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&lt;sys/types.h&gt;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void</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267f99"/>
                </a:solidFill>
                <a:highlight>
                  <a:srgbClr val="ffffff"/>
                </a:highlight>
                <a:latin typeface="Courier New"/>
                <a:ea typeface="Courier New"/>
              </a:rPr>
              <a:t>pid_t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fork</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&lt;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perror</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"fork fail"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if</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p</a:t>
            </a:r>
            <a:r>
              <a:rPr b="0" lang="el" sz="1050" spc="-1" strike="noStrike">
                <a:solidFill>
                  <a:srgbClr val="000000"/>
                </a:solidFill>
                <a:highlight>
                  <a:srgbClr val="ffffff"/>
                </a:highlight>
                <a:latin typeface="Courier New"/>
                <a:ea typeface="Courier New"/>
              </a:rPr>
              <a:t> ==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"Child x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else</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"Parent x ==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x</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foo</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af00db"/>
                </a:solidFill>
                <a:highlight>
                  <a:srgbClr val="ffffff"/>
                </a:highlight>
                <a:latin typeface="Courier New"/>
                <a:ea typeface="Courier New"/>
              </a:rPr>
              <a:t>return</a:t>
            </a:r>
            <a:r>
              <a:rPr b="0" lang="el" sz="1050" spc="-1" strike="noStrike">
                <a:solidFill>
                  <a:srgbClr val="000000"/>
                </a:solidFill>
                <a:highlight>
                  <a:srgbClr val="ffffff"/>
                </a:highlight>
                <a:latin typeface="Courier New"/>
                <a:ea typeface="Courier New"/>
              </a:rPr>
              <a:t> </a:t>
            </a:r>
            <a:r>
              <a:rPr b="0" lang="el" sz="1050" spc="-1" strike="noStrike">
                <a:solidFill>
                  <a:srgbClr val="098658"/>
                </a:solidFill>
                <a:highlight>
                  <a:srgbClr val="ffffff"/>
                </a:highlight>
                <a:latin typeface="Courier New"/>
                <a:ea typeface="Courier New"/>
              </a:rPr>
              <a:t>0</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46"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74410BF-1849-4CF8-A618-4702C6A214B5}"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execl()</a:t>
            </a:r>
            <a:endParaRPr b="0" lang="en-US" sz="2600" spc="-1" strike="noStrike">
              <a:solidFill>
                <a:srgbClr val="000000"/>
              </a:solidFill>
              <a:latin typeface="Arial"/>
            </a:endParaRPr>
          </a:p>
        </p:txBody>
      </p:sp>
      <p:sp>
        <p:nvSpPr>
          <p:cNvPr id="24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The execl() function is used to replace the currently running process with     </a:t>
            </a:r>
            <a:r>
              <a:rPr b="0" lang="el" sz="1600" spc="-1" strike="noStrike">
                <a:solidFill>
                  <a:schemeClr val="accent1"/>
                </a:solidFill>
                <a:latin typeface="Lato"/>
                <a:ea typeface="Lato"/>
              </a:rPr>
              <a:t>	</a:t>
            </a:r>
            <a:r>
              <a:rPr b="0" lang="el" sz="1600" spc="-1" strike="noStrike">
                <a:solidFill>
                  <a:schemeClr val="accent1"/>
                </a:solidFill>
                <a:latin typeface="Lato"/>
                <a:ea typeface="Lato"/>
              </a:rPr>
              <a:t>another process.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When the running process calls the execl() function, its process image gets overwritten with the process specified within the execl() function.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a:t>
            </a:r>
            <a:endParaRPr b="0" lang="en-US" sz="16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l" sz="1600" spc="-1" strike="noStrike">
                <a:solidFill>
                  <a:schemeClr val="accent1"/>
                </a:solidFill>
                <a:latin typeface="Consolas"/>
                <a:ea typeface="Consolas"/>
              </a:rPr>
              <a:t>int execl (const char *Path, const char *Argument0, const char *Argument1, ... , NULL);</a:t>
            </a:r>
            <a:endParaRPr b="0" lang="en-US" sz="1600" spc="-1" strike="noStrike">
              <a:solidFill>
                <a:srgbClr val="000000"/>
              </a:solidFill>
              <a:latin typeface="Arial"/>
            </a:endParaRPr>
          </a:p>
        </p:txBody>
      </p:sp>
      <p:sp>
        <p:nvSpPr>
          <p:cNvPr id="249" name="PlaceHolder 3"/>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2E13B7D-8F90-45D4-B1F8-50073F08E9E0}" type="slidenum">
              <a:rPr b="0" lang="el" sz="1000" spc="-1" strike="noStrike">
                <a:solidFill>
                  <a:schemeClr val="accent1"/>
                </a:solidFill>
                <a:latin typeface="Lato"/>
                <a:ea typeface="Lato"/>
              </a:rPr>
              <a:t>26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85" dur="indefinite" restart="never" nodeType="tmRoot">
          <p:childTnLst>
            <p:seq>
              <p:cTn id="486" dur="indefinite" nodeType="mainSeq">
                <p:childTnLst>
                  <p:par>
                    <p:cTn id="487" fill="hold">
                      <p:stCondLst>
                        <p:cond delay="indefinite"/>
                      </p:stCondLst>
                      <p:childTnLst>
                        <p:par>
                          <p:cTn id="488" fill="hold">
                            <p:stCondLst>
                              <p:cond delay="0"/>
                            </p:stCondLst>
                            <p:childTnLst>
                              <p:par>
                                <p:cTn id="489" nodeType="clickEffect" fill="hold" presetClass="entr" presetID="1">
                                  <p:stCondLst>
                                    <p:cond delay="0"/>
                                  </p:stCondLst>
                                  <p:childTnLst>
                                    <p:set>
                                      <p:cBhvr>
                                        <p:cTn id="490" dur="1" fill="hold">
                                          <p:stCondLst>
                                            <p:cond delay="0"/>
                                          </p:stCondLst>
                                        </p:cTn>
                                        <p:tgtEl>
                                          <p:spTgt spid="248">
                                            <p:txEl>
                                              <p:pRg st="0" end="0"/>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nodeType="clickEffect" fill="hold" presetClass="entr" presetID="1">
                                  <p:stCondLst>
                                    <p:cond delay="0"/>
                                  </p:stCondLst>
                                  <p:childTnLst>
                                    <p:set>
                                      <p:cBhvr>
                                        <p:cTn id="494" dur="1" fill="hold">
                                          <p:stCondLst>
                                            <p:cond delay="0"/>
                                          </p:stCondLst>
                                        </p:cTn>
                                        <p:tgtEl>
                                          <p:spTgt spid="248">
                                            <p:txEl>
                                              <p:pRg st="1" end="1"/>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nodeType="clickEffect" fill="hold" presetClass="entr" presetID="1">
                                  <p:stCondLst>
                                    <p:cond delay="0"/>
                                  </p:stCondLst>
                                  <p:childTnLst>
                                    <p:set>
                                      <p:cBhvr>
                                        <p:cTn id="498" dur="1" fill="hold">
                                          <p:stCondLst>
                                            <p:cond delay="0"/>
                                          </p:stCondLst>
                                        </p:cTn>
                                        <p:tgtEl>
                                          <p:spTgt spid="248">
                                            <p:txEl>
                                              <p:pRg st="2" end="2"/>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nodeType="clickEffect" fill="hold" presetClass="entr" presetID="1">
                                  <p:stCondLst>
                                    <p:cond delay="0"/>
                                  </p:stCondLst>
                                  <p:childTnLst>
                                    <p:set>
                                      <p:cBhvr>
                                        <p:cTn id="502" dur="1" fill="hold">
                                          <p:stCondLst>
                                            <p:cond delay="0"/>
                                          </p:stCondLst>
                                        </p:cTn>
                                        <p:tgtEl>
                                          <p:spTgt spid="248">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execl() Arguments</a:t>
            </a:r>
            <a:endParaRPr b="0" lang="en-US" sz="2600" spc="-1" strike="noStrike">
              <a:solidFill>
                <a:srgbClr val="000000"/>
              </a:solidFill>
              <a:latin typeface="Arial"/>
            </a:endParaRPr>
          </a:p>
        </p:txBody>
      </p:sp>
      <p:sp>
        <p:nvSpPr>
          <p:cNvPr id="25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Path:</a:t>
            </a:r>
            <a:r>
              <a:rPr b="0" lang="el" sz="1600" spc="-1" strike="noStrike">
                <a:solidFill>
                  <a:schemeClr val="accent1"/>
                </a:solidFill>
                <a:latin typeface="Lato"/>
                <a:ea typeface="Lato"/>
              </a:rPr>
              <a:t> This represents the path to the binary file or program we want to run instead of the current process. The path to the program must be an absolute path instead of a relative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Argument list:</a:t>
            </a:r>
            <a:r>
              <a:rPr b="0" lang="el" sz="1600" spc="-1" strike="noStrike">
                <a:solidFill>
                  <a:schemeClr val="accent1"/>
                </a:solidFill>
                <a:latin typeface="Lato"/>
                <a:ea typeface="Lato"/>
              </a:rPr>
              <a:t> Any arguments we want to pass on to the program should be       included in the function as char pointers separated by commas. In the syntax, we only passed two arguments, Argument0 and Argument1. However, we can pass as many arguments as we deem necessary.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NULL:</a:t>
            </a:r>
            <a:r>
              <a:rPr b="0" lang="el" sz="1600" spc="-1" strike="noStrike">
                <a:solidFill>
                  <a:schemeClr val="accent1"/>
                </a:solidFill>
                <a:latin typeface="Lato"/>
                <a:ea typeface="Lato"/>
              </a:rPr>
              <a:t> At the end of the function, we will always use NULL to represent the end of the arguments.</a:t>
            </a:r>
            <a:endParaRPr b="0" lang="en-US" sz="1600" spc="-1" strike="noStrike">
              <a:solidFill>
                <a:srgbClr val="000000"/>
              </a:solidFill>
              <a:latin typeface="Arial"/>
            </a:endParaRPr>
          </a:p>
        </p:txBody>
      </p:sp>
      <p:sp>
        <p:nvSpPr>
          <p:cNvPr id="252" name="PlaceHolder 3"/>
          <p:cNvSpPr>
            <a:spLocks noGrp="1"/>
          </p:cNvSpPr>
          <p:nvPr>
            <p:ph type="sldNum" idx="3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7B5933A-2067-4F6E-86E3-F7179488B46F}" type="slidenum">
              <a:rPr b="0" lang="el" sz="1000" spc="-1" strike="noStrike">
                <a:solidFill>
                  <a:schemeClr val="accent1"/>
                </a:solidFill>
                <a:latin typeface="Lato"/>
                <a:ea typeface="Lato"/>
              </a:rPr>
              <a:t>27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03" dur="indefinite" restart="never" nodeType="tmRoot">
          <p:childTnLst>
            <p:seq>
              <p:cTn id="504" dur="indefinite" nodeType="mainSeq">
                <p:childTnLst>
                  <p:par>
                    <p:cTn id="505" fill="hold">
                      <p:stCondLst>
                        <p:cond delay="indefinite"/>
                      </p:stCondLst>
                      <p:childTnLst>
                        <p:par>
                          <p:cTn id="506" fill="hold">
                            <p:stCondLst>
                              <p:cond delay="0"/>
                            </p:stCondLst>
                            <p:childTnLst>
                              <p:par>
                                <p:cTn id="507" nodeType="clickEffect" fill="hold" presetClass="entr" presetID="1">
                                  <p:stCondLst>
                                    <p:cond delay="0"/>
                                  </p:stCondLst>
                                  <p:childTnLst>
                                    <p:set>
                                      <p:cBhvr>
                                        <p:cTn id="508" dur="1" fill="hold">
                                          <p:stCondLst>
                                            <p:cond delay="0"/>
                                          </p:stCondLst>
                                        </p:cTn>
                                        <p:tgtEl>
                                          <p:spTgt spid="251">
                                            <p:txEl>
                                              <p:pRg st="0" end="0"/>
                                            </p:txEl>
                                          </p:spTgt>
                                        </p:tgtEl>
                                        <p:attrNameLst>
                                          <p:attrName>style.visibility</p:attrName>
                                        </p:attrNameLst>
                                      </p:cBhvr>
                                      <p:to>
                                        <p:strVal val="visible"/>
                                      </p:to>
                                    </p:set>
                                  </p:childTnLst>
                                </p:cTn>
                              </p:par>
                            </p:childTnLst>
                          </p:cTn>
                        </p:par>
                      </p:childTnLst>
                    </p:cTn>
                  </p:par>
                  <p:par>
                    <p:cTn id="509" fill="hold">
                      <p:stCondLst>
                        <p:cond delay="indefinite"/>
                      </p:stCondLst>
                      <p:childTnLst>
                        <p:par>
                          <p:cTn id="510" fill="hold">
                            <p:stCondLst>
                              <p:cond delay="0"/>
                            </p:stCondLst>
                            <p:childTnLst>
                              <p:par>
                                <p:cTn id="511" nodeType="clickEffect" fill="hold" presetClass="entr" presetID="1">
                                  <p:stCondLst>
                                    <p:cond delay="0"/>
                                  </p:stCondLst>
                                  <p:childTnLst>
                                    <p:set>
                                      <p:cBhvr>
                                        <p:cTn id="512" dur="1" fill="hold">
                                          <p:stCondLst>
                                            <p:cond delay="0"/>
                                          </p:stCondLst>
                                        </p:cTn>
                                        <p:tgtEl>
                                          <p:spTgt spid="251">
                                            <p:txEl>
                                              <p:pRg st="1" end="1"/>
                                            </p:txEl>
                                          </p:spTgt>
                                        </p:tgtEl>
                                        <p:attrNameLst>
                                          <p:attrName>style.visibility</p:attrName>
                                        </p:attrNameLst>
                                      </p:cBhvr>
                                      <p:to>
                                        <p:strVal val="visible"/>
                                      </p:to>
                                    </p:set>
                                  </p:childTnLst>
                                </p:cTn>
                              </p:par>
                            </p:childTnLst>
                          </p:cTn>
                        </p:par>
                      </p:childTnLst>
                    </p:cTn>
                  </p:par>
                  <p:par>
                    <p:cTn id="513" fill="hold">
                      <p:stCondLst>
                        <p:cond delay="indefinite"/>
                      </p:stCondLst>
                      <p:childTnLst>
                        <p:par>
                          <p:cTn id="514" fill="hold">
                            <p:stCondLst>
                              <p:cond delay="0"/>
                            </p:stCondLst>
                            <p:childTnLst>
                              <p:par>
                                <p:cTn id="515" nodeType="clickEffect" fill="hold" presetClass="entr" presetID="1">
                                  <p:stCondLst>
                                    <p:cond delay="0"/>
                                  </p:stCondLst>
                                  <p:childTnLst>
                                    <p:set>
                                      <p:cBhvr>
                                        <p:cTn id="516" dur="1" fill="hold">
                                          <p:stCondLst>
                                            <p:cond delay="0"/>
                                          </p:stCondLst>
                                        </p:cTn>
                                        <p:tgtEl>
                                          <p:spTgt spid="251">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execl() Output</a:t>
            </a:r>
            <a:endParaRPr b="0" lang="en-US" sz="2600" spc="-1" strike="noStrike">
              <a:solidFill>
                <a:srgbClr val="000000"/>
              </a:solidFill>
              <a:latin typeface="Arial"/>
            </a:endParaRPr>
          </a:p>
        </p:txBody>
      </p:sp>
      <p:sp>
        <p:nvSpPr>
          <p:cNvPr id="254"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-1 → Failure.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nothing → The calling process has entirely been overwritten by the new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BEWARE!</a:t>
            </a:r>
            <a:r>
              <a:rPr b="0" lang="el" sz="1600" spc="-1" strike="noStrike">
                <a:solidFill>
                  <a:schemeClr val="accent1"/>
                </a:solidFill>
                <a:latin typeface="Lato"/>
                <a:ea typeface="Lato"/>
              </a:rPr>
              <a:t> In case execl() does not fail no lines below it will execute, as the new process has entirely replaced the calling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 our case we used the “-c” parameter which is used to (reading from man sh):</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i="1" lang="el" sz="1600" spc="-1" strike="noStrike">
                <a:solidFill>
                  <a:schemeClr val="accent1"/>
                </a:solidFill>
                <a:latin typeface="Lato"/>
                <a:ea typeface="Lato"/>
              </a:rPr>
              <a:t>Read commands from the command_string operand instead of from the standard input. Special parameter 0 will be set from the command_name operand and the positional parameters ($1, $2, etc.) set from the remaining argument operands.</a:t>
            </a:r>
            <a:endParaRPr b="0" lang="en-US" sz="1600" spc="-1" strike="noStrike">
              <a:solidFill>
                <a:srgbClr val="000000"/>
              </a:solidFill>
              <a:latin typeface="Arial"/>
            </a:endParaRPr>
          </a:p>
        </p:txBody>
      </p:sp>
      <p:sp>
        <p:nvSpPr>
          <p:cNvPr id="255" name="PlaceHolder 3"/>
          <p:cNvSpPr>
            <a:spLocks noGrp="1"/>
          </p:cNvSpPr>
          <p:nvPr>
            <p:ph type="sldNum" idx="3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F673F7F-4EE4-427A-BA7C-9AEBAB8D8107}" type="slidenum">
              <a:rPr b="0" lang="el" sz="1000" spc="-1" strike="noStrike">
                <a:solidFill>
                  <a:schemeClr val="accent1"/>
                </a:solidFill>
                <a:latin typeface="Lato"/>
                <a:ea typeface="Lato"/>
              </a:rPr>
              <a:t>28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17" dur="indefinite" restart="never" nodeType="tmRoot">
          <p:childTnLst>
            <p:seq>
              <p:cTn id="518" dur="indefinite" nodeType="mainSeq">
                <p:childTnLst>
                  <p:par>
                    <p:cTn id="519" fill="hold">
                      <p:stCondLst>
                        <p:cond delay="indefinite"/>
                      </p:stCondLst>
                      <p:childTnLst>
                        <p:par>
                          <p:cTn id="520" fill="hold">
                            <p:stCondLst>
                              <p:cond delay="0"/>
                            </p:stCondLst>
                            <p:childTnLst>
                              <p:par>
                                <p:cTn id="521" nodeType="clickEffect" fill="hold" presetClass="entr" presetID="1">
                                  <p:stCondLst>
                                    <p:cond delay="0"/>
                                  </p:stCondLst>
                                  <p:childTnLst>
                                    <p:set>
                                      <p:cBhvr>
                                        <p:cTn id="522" dur="1" fill="hold">
                                          <p:stCondLst>
                                            <p:cond delay="0"/>
                                          </p:stCondLst>
                                        </p:cTn>
                                        <p:tgtEl>
                                          <p:spTgt spid="254">
                                            <p:txEl>
                                              <p:pRg st="0" end="0"/>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nodeType="clickEffect" fill="hold" presetClass="entr" presetID="1">
                                  <p:stCondLst>
                                    <p:cond delay="0"/>
                                  </p:stCondLst>
                                  <p:childTnLst>
                                    <p:set>
                                      <p:cBhvr>
                                        <p:cTn id="526" dur="1" fill="hold">
                                          <p:stCondLst>
                                            <p:cond delay="0"/>
                                          </p:stCondLst>
                                        </p:cTn>
                                        <p:tgtEl>
                                          <p:spTgt spid="254">
                                            <p:txEl>
                                              <p:pRg st="1" end="1"/>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nodeType="clickEffect" fill="hold" presetClass="entr" presetID="1">
                                  <p:stCondLst>
                                    <p:cond delay="0"/>
                                  </p:stCondLst>
                                  <p:childTnLst>
                                    <p:set>
                                      <p:cBhvr>
                                        <p:cTn id="530" dur="1" fill="hold">
                                          <p:stCondLst>
                                            <p:cond delay="0"/>
                                          </p:stCondLst>
                                        </p:cTn>
                                        <p:tgtEl>
                                          <p:spTgt spid="254">
                                            <p:txEl>
                                              <p:pRg st="2" end="2"/>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nodeType="clickEffect" fill="hold" presetClass="entr" presetID="1">
                                  <p:stCondLst>
                                    <p:cond delay="0"/>
                                  </p:stCondLst>
                                  <p:childTnLst>
                                    <p:set>
                                      <p:cBhvr>
                                        <p:cTn id="534" dur="1" fill="hold">
                                          <p:stCondLst>
                                            <p:cond delay="0"/>
                                          </p:stCondLst>
                                        </p:cTn>
                                        <p:tgtEl>
                                          <p:spTgt spid="254">
                                            <p:txEl>
                                              <p:pRg st="3" end="3"/>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nodeType="clickEffect" fill="hold" presetClass="entr" presetID="1">
                                  <p:stCondLst>
                                    <p:cond delay="0"/>
                                  </p:stCondLst>
                                  <p:childTnLst>
                                    <p:set>
                                      <p:cBhvr>
                                        <p:cTn id="538" dur="1" fill="hold">
                                          <p:stCondLst>
                                            <p:cond delay="0"/>
                                          </p:stCondLst>
                                        </p:cTn>
                                        <p:tgtEl>
                                          <p:spTgt spid="254">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Will This Print?</a:t>
            </a:r>
            <a:endParaRPr b="0" lang="en-US" sz="2600" spc="-1" strike="noStrike">
              <a:solidFill>
                <a:srgbClr val="000000"/>
              </a:solidFill>
              <a:latin typeface="Arial"/>
            </a:endParaRPr>
          </a:p>
        </p:txBody>
      </p:sp>
      <p:sp>
        <p:nvSpPr>
          <p:cNvPr id="257" name="PlaceHolder 2"/>
          <p:cNvSpPr>
            <a:spLocks noGrp="1"/>
          </p:cNvSpPr>
          <p:nvPr>
            <p:ph/>
          </p:nvPr>
        </p:nvSpPr>
        <p:spPr>
          <a:xfrm>
            <a:off x="729360" y="1378080"/>
            <a:ext cx="7688520" cy="3527280"/>
          </a:xfrm>
          <a:prstGeom prst="rect">
            <a:avLst/>
          </a:prstGeom>
          <a:noFill/>
          <a:ln w="0">
            <a:noFill/>
          </a:ln>
        </p:spPr>
        <p:txBody>
          <a:bodyPr tIns="91440" bIns="91440" anchor="t">
            <a:normAutofit/>
          </a:bodyPr>
          <a:p>
            <a:pPr indent="0">
              <a:lnSpc>
                <a:spcPct val="135000"/>
              </a:lnSpc>
              <a:buNone/>
              <a:tabLst>
                <a:tab algn="l" pos="0"/>
              </a:tabLst>
            </a:pPr>
            <a:r>
              <a:rPr b="0" lang="el" sz="1050" spc="-1" strike="noStrike">
                <a:solidFill>
                  <a:srgbClr val="008000"/>
                </a:solidFill>
                <a:highlight>
                  <a:srgbClr val="ffffff"/>
                </a:highlight>
                <a:latin typeface="Courier New"/>
                <a:ea typeface="Courier New"/>
              </a:rPr>
              <a:t>// source/execl_001.c</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&lt;stdio.h&gt;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&lt;unistd.h&gt;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af00db"/>
                </a:solidFill>
                <a:highlight>
                  <a:srgbClr val="ffffff"/>
                </a:highlight>
                <a:latin typeface="Courier New"/>
                <a:ea typeface="Courier New"/>
              </a:rPr>
              <a:t>#include</a:t>
            </a:r>
            <a:r>
              <a:rPr b="0" lang="el" sz="1050" spc="-1" strike="noStrike">
                <a:solidFill>
                  <a:srgbClr val="0000ff"/>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&lt;stdlib.h&gt;</a:t>
            </a:r>
            <a:endParaRPr b="0" lang="en-US" sz="1050" spc="-1" strike="noStrike">
              <a:solidFill>
                <a:srgbClr val="000000"/>
              </a:solidFill>
              <a:latin typeface="Arial"/>
            </a:endParaRPr>
          </a:p>
          <a:p>
            <a:pPr indent="0">
              <a:lnSpc>
                <a:spcPct val="135000"/>
              </a:lnSpc>
              <a:buNone/>
              <a:tabLst>
                <a:tab algn="l" pos="0"/>
              </a:tabLst>
            </a:pP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main</a:t>
            </a:r>
            <a:r>
              <a:rPr b="0" lang="el" sz="1050" spc="-1" strike="noStrike">
                <a:solidFill>
                  <a:srgbClr val="000000"/>
                </a:solidFill>
                <a:highlight>
                  <a:srgbClr val="ffffff"/>
                </a:highlight>
                <a:latin typeface="Courier New"/>
                <a:ea typeface="Courier New"/>
              </a:rPr>
              <a:t>() {</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8000"/>
                </a:solidFill>
                <a:highlight>
                  <a:srgbClr val="ffffff"/>
                </a:highlight>
                <a:latin typeface="Courier New"/>
                <a:ea typeface="Courier New"/>
              </a:rPr>
              <a:t>// display current process id</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Currently running process has PID: </a:t>
            </a:r>
            <a:r>
              <a:rPr b="0" lang="el" sz="1050" spc="-1" strike="noStrike">
                <a:solidFill>
                  <a:srgbClr val="001080"/>
                </a:solidFill>
                <a:highlight>
                  <a:srgbClr val="ffffff"/>
                </a:highlight>
                <a:latin typeface="Courier New"/>
                <a:ea typeface="Courier New"/>
              </a:rPr>
              <a:t>%d</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getpid</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int</a:t>
            </a:r>
            <a:r>
              <a:rPr b="0" lang="el" sz="1050" spc="-1" strike="noStrike">
                <a:solidFill>
                  <a:srgbClr val="000000"/>
                </a:solidFill>
                <a:highlight>
                  <a:srgbClr val="ffffff"/>
                </a:highlight>
                <a:latin typeface="Courier New"/>
                <a:ea typeface="Courier New"/>
              </a:rPr>
              <a:t> </a:t>
            </a:r>
            <a:r>
              <a:rPr b="0" lang="el" sz="1050" spc="-1" strike="noStrike">
                <a:solidFill>
                  <a:srgbClr val="001080"/>
                </a:solidFill>
                <a:highlight>
                  <a:srgbClr val="ffffff"/>
                </a:highlight>
                <a:latin typeface="Courier New"/>
                <a:ea typeface="Courier New"/>
              </a:rPr>
              <a:t>error</a:t>
            </a:r>
            <a:r>
              <a:rPr b="0" lang="el" sz="1050" spc="-1" strike="noStrike">
                <a:solidFill>
                  <a:srgbClr val="000000"/>
                </a:solidFill>
                <a:highlight>
                  <a:srgbClr val="ffffff"/>
                </a:highlight>
                <a:latin typeface="Courier New"/>
                <a:ea typeface="Courier New"/>
              </a:rPr>
              <a:t> = </a:t>
            </a:r>
            <a:r>
              <a:rPr b="0" lang="el" sz="1050" spc="-1" strike="noStrike">
                <a:solidFill>
                  <a:srgbClr val="795e26"/>
                </a:solidFill>
                <a:highlight>
                  <a:srgbClr val="ffffff"/>
                </a:highlight>
                <a:latin typeface="Courier New"/>
                <a:ea typeface="Courier New"/>
              </a:rPr>
              <a:t>execl</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"/usr/bin/ps"</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"ps"</a:t>
            </a:r>
            <a:r>
              <a:rPr b="0" lang="el" sz="1050" spc="-1" strike="noStrike">
                <a:solidFill>
                  <a:srgbClr val="000000"/>
                </a:solidFill>
                <a:highlight>
                  <a:srgbClr val="ffffff"/>
                </a:highlight>
                <a:latin typeface="Courier New"/>
                <a:ea typeface="Courier New"/>
              </a:rPr>
              <a:t>, </a:t>
            </a:r>
            <a:r>
              <a:rPr b="0" lang="el" sz="1050" spc="-1" strike="noStrike">
                <a:solidFill>
                  <a:srgbClr val="a31515"/>
                </a:solidFill>
                <a:highlight>
                  <a:srgbClr val="ffffff"/>
                </a:highlight>
                <a:latin typeface="Courier New"/>
                <a:ea typeface="Courier New"/>
              </a:rPr>
              <a:t>"-l"</a:t>
            </a:r>
            <a:r>
              <a:rPr b="0" lang="el" sz="1050" spc="-1" strike="noStrike">
                <a:solidFill>
                  <a:srgbClr val="000000"/>
                </a:solidFill>
                <a:highlight>
                  <a:srgbClr val="ffffff"/>
                </a:highlight>
                <a:latin typeface="Courier New"/>
                <a:ea typeface="Courier New"/>
              </a:rPr>
              <a:t>, </a:t>
            </a:r>
            <a:r>
              <a:rPr b="0" lang="el" sz="1050" spc="-1" strike="noStrike">
                <a:solidFill>
                  <a:srgbClr val="0000ff"/>
                </a:solidFill>
                <a:highlight>
                  <a:srgbClr val="ffffff"/>
                </a:highlight>
                <a:latin typeface="Courier New"/>
                <a:ea typeface="Courier New"/>
              </a:rPr>
              <a:t>NULL</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printf</a:t>
            </a:r>
            <a:r>
              <a:rPr b="0" lang="el" sz="1050" spc="-1" strike="noStrike">
                <a:solidFill>
                  <a:srgbClr val="000000"/>
                </a:solidFill>
                <a:highlight>
                  <a:srgbClr val="ffffff"/>
                </a:highlight>
                <a:latin typeface="Courier New"/>
                <a:ea typeface="Courier New"/>
              </a:rPr>
              <a:t>(</a:t>
            </a:r>
            <a:r>
              <a:rPr b="0" lang="el" sz="1050" spc="-1" strike="noStrike">
                <a:solidFill>
                  <a:srgbClr val="a31515"/>
                </a:solidFill>
                <a:highlight>
                  <a:srgbClr val="ffffff"/>
                </a:highlight>
                <a:latin typeface="Courier New"/>
                <a:ea typeface="Courier New"/>
              </a:rPr>
              <a:t>"</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There was an error during the execl function!</a:t>
            </a:r>
            <a:r>
              <a:rPr b="0" lang="el" sz="1050" spc="-1" strike="noStrike">
                <a:solidFill>
                  <a:srgbClr val="ee0000"/>
                </a:solidFill>
                <a:highlight>
                  <a:srgbClr val="ffffff"/>
                </a:highlight>
                <a:latin typeface="Courier New"/>
                <a:ea typeface="Courier New"/>
              </a:rPr>
              <a:t>\n</a:t>
            </a:r>
            <a:r>
              <a:rPr b="0" lang="el" sz="1050" spc="-1" strike="noStrike">
                <a:solidFill>
                  <a:srgbClr val="a31515"/>
                </a:solidFill>
                <a:highlight>
                  <a:srgbClr val="ffffff"/>
                </a:highlight>
                <a:latin typeface="Courier New"/>
                <a:ea typeface="Courier New"/>
              </a:rPr>
              <a:t>"</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   </a:t>
            </a:r>
            <a:r>
              <a:rPr b="0" lang="el" sz="1050" spc="-1" strike="noStrike">
                <a:solidFill>
                  <a:srgbClr val="795e26"/>
                </a:solidFill>
                <a:highlight>
                  <a:srgbClr val="ffffff"/>
                </a:highlight>
                <a:latin typeface="Courier New"/>
                <a:ea typeface="Courier New"/>
              </a:rPr>
              <a:t>exit</a:t>
            </a:r>
            <a:r>
              <a:rPr b="0" lang="el" sz="1050" spc="-1" strike="noStrike">
                <a:solidFill>
                  <a:srgbClr val="000000"/>
                </a:solidFill>
                <a:highlight>
                  <a:srgbClr val="ffffff"/>
                </a:highlight>
                <a:latin typeface="Courier New"/>
                <a:ea typeface="Courier New"/>
              </a:rPr>
              <a:t>(-</a:t>
            </a:r>
            <a:r>
              <a:rPr b="0" lang="el" sz="1050" spc="-1" strike="noStrike">
                <a:solidFill>
                  <a:srgbClr val="098658"/>
                </a:solidFill>
                <a:highlight>
                  <a:srgbClr val="ffffff"/>
                </a:highlight>
                <a:latin typeface="Courier New"/>
                <a:ea typeface="Courier New"/>
              </a:rPr>
              <a:t>1</a:t>
            </a: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a:p>
            <a:pPr indent="0">
              <a:lnSpc>
                <a:spcPct val="135000"/>
              </a:lnSpc>
              <a:buNone/>
              <a:tabLst>
                <a:tab algn="l" pos="0"/>
              </a:tabLst>
            </a:pPr>
            <a:r>
              <a:rPr b="0" lang="el" sz="1050" spc="-1" strike="noStrike">
                <a:solidFill>
                  <a:srgbClr val="000000"/>
                </a:solidFill>
                <a:highlight>
                  <a:srgbClr val="ffffff"/>
                </a:highlight>
                <a:latin typeface="Courier New"/>
                <a:ea typeface="Courier New"/>
              </a:rPr>
              <a:t>}</a:t>
            </a:r>
            <a:endParaRPr b="0" lang="en-US" sz="1050" spc="-1" strike="noStrike">
              <a:solidFill>
                <a:srgbClr val="000000"/>
              </a:solidFill>
              <a:latin typeface="Arial"/>
            </a:endParaRPr>
          </a:p>
        </p:txBody>
      </p:sp>
      <p:sp>
        <p:nvSpPr>
          <p:cNvPr id="258" name="PlaceHolder 3"/>
          <p:cNvSpPr>
            <a:spLocks noGrp="1"/>
          </p:cNvSpPr>
          <p:nvPr>
            <p:ph type="sldNum" idx="3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09353D0-87B3-48FD-ADB8-608504E41B4D}" type="slidenum">
              <a:rPr b="0" lang="el" sz="1000" spc="-1" strike="noStrike">
                <a:solidFill>
                  <a:schemeClr val="accent1"/>
                </a:solidFill>
                <a:latin typeface="Lato"/>
                <a:ea typeface="Lato"/>
              </a:rPr>
              <a:t>29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waitpid()</a:t>
            </a:r>
            <a:endParaRPr b="0" lang="en-US" sz="2600" spc="-1" strike="noStrike">
              <a:solidFill>
                <a:srgbClr val="000000"/>
              </a:solidFill>
              <a:latin typeface="Arial"/>
            </a:endParaRPr>
          </a:p>
        </p:txBody>
      </p:sp>
      <p:sp>
        <p:nvSpPr>
          <p:cNvPr id="260"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The waitpid() system call suspends execution of the calling process until a     </a:t>
            </a:r>
            <a:r>
              <a:rPr b="0" lang="el" sz="1600" spc="-1" strike="noStrike">
                <a:solidFill>
                  <a:schemeClr val="accent1"/>
                </a:solidFill>
                <a:latin typeface="Lato"/>
                <a:ea typeface="Lato"/>
              </a:rPr>
              <a:t>	</a:t>
            </a:r>
            <a:r>
              <a:rPr b="0" lang="el" sz="1600" spc="-1" strike="noStrike">
                <a:solidFill>
                  <a:schemeClr val="accent1"/>
                </a:solidFill>
                <a:latin typeface="Lato"/>
                <a:ea typeface="Lato"/>
              </a:rPr>
              <a:t>child specified by pid argument has changed state.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By default, waitpid() </a:t>
            </a:r>
            <a:r>
              <a:rPr b="0" lang="el" sz="1600" spc="-1" strike="noStrike">
                <a:solidFill>
                  <a:schemeClr val="accent1"/>
                </a:solidFill>
                <a:latin typeface="Lato"/>
                <a:ea typeface="Lato"/>
              </a:rPr>
              <a:t>	</a:t>
            </a:r>
            <a:r>
              <a:rPr b="0" lang="el" sz="1600" spc="-1" strike="noStrike">
                <a:solidFill>
                  <a:schemeClr val="accent1"/>
                </a:solidFill>
                <a:latin typeface="Lato"/>
                <a:ea typeface="Lato"/>
              </a:rPr>
              <a:t>waits only for terminated children, but this behavior is modifiable via the options argument.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Syntax: pid_t waitpid(pid_t pid, int *status, int options);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pid can be: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&lt; -1: Wait for any child process whose process group ID is equal to the absolute value of pid.</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-1: Wait for any child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0: Wait for any child process whose process group ID is equal to that of the calling process.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&gt; 0: Wait for the child whose process ID is equal to the value of pid.</a:t>
            </a:r>
            <a:endParaRPr b="0" lang="en-US" sz="1600" spc="-1" strike="noStrike">
              <a:solidFill>
                <a:srgbClr val="000000"/>
              </a:solidFill>
              <a:latin typeface="Arial"/>
            </a:endParaRPr>
          </a:p>
        </p:txBody>
      </p:sp>
      <p:sp>
        <p:nvSpPr>
          <p:cNvPr id="261" name="PlaceHolder 3"/>
          <p:cNvSpPr>
            <a:spLocks noGrp="1"/>
          </p:cNvSpPr>
          <p:nvPr>
            <p:ph type="sldNum" idx="3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3EAB237-2F59-48E0-B90F-82A6BA9144B6}" type="slidenum">
              <a:rPr b="0" lang="el" sz="1000" spc="-1" strike="noStrike">
                <a:solidFill>
                  <a:schemeClr val="accent1"/>
                </a:solidFill>
                <a:latin typeface="Lato"/>
                <a:ea typeface="Lato"/>
              </a:rPr>
              <a:t>30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39" dur="indefinite" restart="never" nodeType="tmRoot">
          <p:childTnLst>
            <p:seq>
              <p:cTn id="540" dur="indefinite" nodeType="mainSeq">
                <p:childTnLst>
                  <p:par>
                    <p:cTn id="541" fill="hold">
                      <p:stCondLst>
                        <p:cond delay="indefinite"/>
                      </p:stCondLst>
                      <p:childTnLst>
                        <p:par>
                          <p:cTn id="542" fill="hold">
                            <p:stCondLst>
                              <p:cond delay="0"/>
                            </p:stCondLst>
                            <p:childTnLst>
                              <p:par>
                                <p:cTn id="543" nodeType="clickEffect" fill="hold" presetClass="entr" presetID="1">
                                  <p:stCondLst>
                                    <p:cond delay="0"/>
                                  </p:stCondLst>
                                  <p:childTnLst>
                                    <p:set>
                                      <p:cBhvr>
                                        <p:cTn id="544" dur="1" fill="hold">
                                          <p:stCondLst>
                                            <p:cond delay="0"/>
                                          </p:stCondLst>
                                        </p:cTn>
                                        <p:tgtEl>
                                          <p:spTgt spid="260">
                                            <p:txEl>
                                              <p:pRg st="0" end="0"/>
                                            </p:txEl>
                                          </p:spTgt>
                                        </p:tgtEl>
                                        <p:attrNameLst>
                                          <p:attrName>style.visibility</p:attrName>
                                        </p:attrNameLst>
                                      </p:cBhvr>
                                      <p:to>
                                        <p:strVal val="visible"/>
                                      </p:to>
                                    </p:set>
                                  </p:childTnLst>
                                </p:cTn>
                              </p:par>
                            </p:childTnLst>
                          </p:cTn>
                        </p:par>
                      </p:childTnLst>
                    </p:cTn>
                  </p:par>
                  <p:par>
                    <p:cTn id="545" fill="hold">
                      <p:stCondLst>
                        <p:cond delay="indefinite"/>
                      </p:stCondLst>
                      <p:childTnLst>
                        <p:par>
                          <p:cTn id="546" fill="hold">
                            <p:stCondLst>
                              <p:cond delay="0"/>
                            </p:stCondLst>
                            <p:childTnLst>
                              <p:par>
                                <p:cTn id="547" nodeType="clickEffect" fill="hold" presetClass="entr" presetID="1">
                                  <p:stCondLst>
                                    <p:cond delay="0"/>
                                  </p:stCondLst>
                                  <p:childTnLst>
                                    <p:set>
                                      <p:cBhvr>
                                        <p:cTn id="548" dur="1" fill="hold">
                                          <p:stCondLst>
                                            <p:cond delay="0"/>
                                          </p:stCondLst>
                                        </p:cTn>
                                        <p:tgtEl>
                                          <p:spTgt spid="260">
                                            <p:txEl>
                                              <p:pRg st="1" end="1"/>
                                            </p:txEl>
                                          </p:spTgt>
                                        </p:tgtEl>
                                        <p:attrNameLst>
                                          <p:attrName>style.visibility</p:attrName>
                                        </p:attrNameLst>
                                      </p:cBhvr>
                                      <p:to>
                                        <p:strVal val="visible"/>
                                      </p:to>
                                    </p:set>
                                  </p:childTnLst>
                                </p:cTn>
                              </p:par>
                            </p:childTnLst>
                          </p:cTn>
                        </p:par>
                      </p:childTnLst>
                    </p:cTn>
                  </p:par>
                  <p:par>
                    <p:cTn id="549" fill="hold">
                      <p:stCondLst>
                        <p:cond delay="indefinite"/>
                      </p:stCondLst>
                      <p:childTnLst>
                        <p:par>
                          <p:cTn id="550" fill="hold">
                            <p:stCondLst>
                              <p:cond delay="0"/>
                            </p:stCondLst>
                            <p:childTnLst>
                              <p:par>
                                <p:cTn id="551" nodeType="clickEffect" fill="hold" presetClass="entr" presetID="1">
                                  <p:stCondLst>
                                    <p:cond delay="0"/>
                                  </p:stCondLst>
                                  <p:childTnLst>
                                    <p:set>
                                      <p:cBhvr>
                                        <p:cTn id="552" dur="1" fill="hold">
                                          <p:stCondLst>
                                            <p:cond delay="0"/>
                                          </p:stCondLst>
                                        </p:cTn>
                                        <p:tgtEl>
                                          <p:spTgt spid="260">
                                            <p:txEl>
                                              <p:pRg st="2" end="2"/>
                                            </p:txEl>
                                          </p:spTgt>
                                        </p:tgtEl>
                                        <p:attrNameLst>
                                          <p:attrName>style.visibility</p:attrName>
                                        </p:attrNameLst>
                                      </p:cBhvr>
                                      <p:to>
                                        <p:strVal val="visible"/>
                                      </p:to>
                                    </p:se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
                                  <p:stCondLst>
                                    <p:cond delay="0"/>
                                  </p:stCondLst>
                                  <p:childTnLst>
                                    <p:set>
                                      <p:cBhvr>
                                        <p:cTn id="556" dur="1" fill="hold">
                                          <p:stCondLst>
                                            <p:cond delay="0"/>
                                          </p:stCondLst>
                                        </p:cTn>
                                        <p:tgtEl>
                                          <p:spTgt spid="260">
                                            <p:txEl>
                                              <p:pRg st="3" end="3"/>
                                            </p:txEl>
                                          </p:spTgt>
                                        </p:tgtEl>
                                        <p:attrNameLst>
                                          <p:attrName>style.visibility</p:attrName>
                                        </p:attrNameLst>
                                      </p:cBhvr>
                                      <p:to>
                                        <p:strVal val="visible"/>
                                      </p:to>
                                    </p:set>
                                  </p:childTnLst>
                                </p:cTn>
                              </p:par>
                            </p:childTnLst>
                          </p:cTn>
                        </p:par>
                      </p:childTnLst>
                    </p:cTn>
                  </p:par>
                  <p:par>
                    <p:cTn id="557" fill="hold">
                      <p:stCondLst>
                        <p:cond delay="indefinite"/>
                      </p:stCondLst>
                      <p:childTnLst>
                        <p:par>
                          <p:cTn id="558" fill="hold">
                            <p:stCondLst>
                              <p:cond delay="0"/>
                            </p:stCondLst>
                            <p:childTnLst>
                              <p:par>
                                <p:cTn id="559" nodeType="clickEffect" fill="hold" presetClass="entr" presetID="1">
                                  <p:stCondLst>
                                    <p:cond delay="0"/>
                                  </p:stCondLst>
                                  <p:childTnLst>
                                    <p:set>
                                      <p:cBhvr>
                                        <p:cTn id="560" dur="1" fill="hold">
                                          <p:stCondLst>
                                            <p:cond delay="0"/>
                                          </p:stCondLst>
                                        </p:cTn>
                                        <p:tgtEl>
                                          <p:spTgt spid="260">
                                            <p:txEl>
                                              <p:pRg st="4" end="4"/>
                                            </p:txEl>
                                          </p:spTgt>
                                        </p:tgtEl>
                                        <p:attrNameLst>
                                          <p:attrName>style.visibility</p:attrName>
                                        </p:attrNameLst>
                                      </p:cBhvr>
                                      <p:to>
                                        <p:strVal val="visible"/>
                                      </p:to>
                                    </p:set>
                                  </p:childTnLst>
                                </p:cTn>
                              </p:par>
                            </p:childTnLst>
                          </p:cTn>
                        </p:par>
                      </p:childTnLst>
                    </p:cTn>
                  </p:par>
                  <p:par>
                    <p:cTn id="561" fill="hold">
                      <p:stCondLst>
                        <p:cond delay="indefinite"/>
                      </p:stCondLst>
                      <p:childTnLst>
                        <p:par>
                          <p:cTn id="562" fill="hold">
                            <p:stCondLst>
                              <p:cond delay="0"/>
                            </p:stCondLst>
                            <p:childTnLst>
                              <p:par>
                                <p:cTn id="563" nodeType="clickEffect" fill="hold" presetClass="entr" presetID="1">
                                  <p:stCondLst>
                                    <p:cond delay="0"/>
                                  </p:stCondLst>
                                  <p:childTnLst>
                                    <p:set>
                                      <p:cBhvr>
                                        <p:cTn id="564" dur="1" fill="hold">
                                          <p:stCondLst>
                                            <p:cond delay="0"/>
                                          </p:stCondLst>
                                        </p:cTn>
                                        <p:tgtEl>
                                          <p:spTgt spid="260">
                                            <p:txEl>
                                              <p:pRg st="5" end="5"/>
                                            </p:txEl>
                                          </p:spTgt>
                                        </p:tgtEl>
                                        <p:attrNameLst>
                                          <p:attrName>style.visibility</p:attrName>
                                        </p:attrNameLst>
                                      </p:cBhvr>
                                      <p:to>
                                        <p:strVal val="visible"/>
                                      </p:to>
                                    </p:set>
                                  </p:childTnLst>
                                </p:cTn>
                              </p:par>
                            </p:childTnLst>
                          </p:cTn>
                        </p:par>
                      </p:childTnLst>
                    </p:cTn>
                  </p:par>
                  <p:par>
                    <p:cTn id="565" fill="hold">
                      <p:stCondLst>
                        <p:cond delay="indefinite"/>
                      </p:stCondLst>
                      <p:childTnLst>
                        <p:par>
                          <p:cTn id="566" fill="hold">
                            <p:stCondLst>
                              <p:cond delay="0"/>
                            </p:stCondLst>
                            <p:childTnLst>
                              <p:par>
                                <p:cTn id="567" nodeType="clickEffect" fill="hold" presetClass="entr" presetID="1">
                                  <p:stCondLst>
                                    <p:cond delay="0"/>
                                  </p:stCondLst>
                                  <p:childTnLst>
                                    <p:set>
                                      <p:cBhvr>
                                        <p:cTn id="568" dur="1" fill="hold">
                                          <p:stCondLst>
                                            <p:cond delay="0"/>
                                          </p:stCondLst>
                                        </p:cTn>
                                        <p:tgtEl>
                                          <p:spTgt spid="260">
                                            <p:txEl>
                                              <p:pRg st="6" end="6"/>
                                            </p:txEl>
                                          </p:spTgt>
                                        </p:tgtEl>
                                        <p:attrNameLst>
                                          <p:attrName>style.visibility</p:attrName>
                                        </p:attrNameLst>
                                      </p:cBhvr>
                                      <p:to>
                                        <p:strVal val="visible"/>
                                      </p:to>
                                    </p:set>
                                  </p:childTnLst>
                                </p:cTn>
                              </p:par>
                            </p:childTnLst>
                          </p:cTn>
                        </p:par>
                      </p:childTnLst>
                    </p:cTn>
                  </p:par>
                  <p:par>
                    <p:cTn id="569" fill="hold">
                      <p:stCondLst>
                        <p:cond delay="indefinite"/>
                      </p:stCondLst>
                      <p:childTnLst>
                        <p:par>
                          <p:cTn id="570" fill="hold">
                            <p:stCondLst>
                              <p:cond delay="0"/>
                            </p:stCondLst>
                            <p:childTnLst>
                              <p:par>
                                <p:cTn id="571" nodeType="clickEffect" fill="hold" presetClass="entr" presetID="1">
                                  <p:stCondLst>
                                    <p:cond delay="0"/>
                                  </p:stCondLst>
                                  <p:childTnLst>
                                    <p:set>
                                      <p:cBhvr>
                                        <p:cTn id="572" dur="1" fill="hold">
                                          <p:stCondLst>
                                            <p:cond delay="0"/>
                                          </p:stCondLst>
                                        </p:cTn>
                                        <p:tgtEl>
                                          <p:spTgt spid="260">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waitpid() OPTIONS</a:t>
            </a:r>
            <a:endParaRPr b="0" lang="en-US" sz="2600" spc="-1" strike="noStrike">
              <a:solidFill>
                <a:srgbClr val="000000"/>
              </a:solidFill>
              <a:latin typeface="Arial"/>
            </a:endParaRPr>
          </a:p>
        </p:txBody>
      </p:sp>
      <p:sp>
        <p:nvSpPr>
          <p:cNvPr id="26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 value of options is an OR of zero or more of the following constants: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WNOHANG: Return immediately if no child has exited.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WUNTRACED: Also return if a child has stopped. Status for traced children which have stopped is provided even if this option is not specified.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WCONTINUED: Also return if a stopped child has been resumed by delivery of SIGCONT.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For more: man waitpid.</a:t>
            </a:r>
            <a:endParaRPr b="0" lang="en-US" sz="1600" spc="-1" strike="noStrike">
              <a:solidFill>
                <a:srgbClr val="000000"/>
              </a:solidFill>
              <a:latin typeface="Arial"/>
            </a:endParaRPr>
          </a:p>
        </p:txBody>
      </p:sp>
      <p:sp>
        <p:nvSpPr>
          <p:cNvPr id="264" name="PlaceHolder 3"/>
          <p:cNvSpPr>
            <a:spLocks noGrp="1"/>
          </p:cNvSpPr>
          <p:nvPr>
            <p:ph type="sldNum" idx="3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2105BCF-9368-446F-AF68-CBCFC6E98719}" type="slidenum">
              <a:rPr b="0" lang="el" sz="1000" spc="-1" strike="noStrike">
                <a:solidFill>
                  <a:schemeClr val="accent1"/>
                </a:solidFill>
                <a:latin typeface="Lato"/>
                <a:ea typeface="Lato"/>
              </a:rPr>
              <a:t>31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73" dur="indefinite" restart="never" nodeType="tmRoot">
          <p:childTnLst>
            <p:seq>
              <p:cTn id="574" dur="indefinite" nodeType="mainSeq">
                <p:childTnLst>
                  <p:par>
                    <p:cTn id="575" fill="hold">
                      <p:stCondLst>
                        <p:cond delay="indefinite"/>
                      </p:stCondLst>
                      <p:childTnLst>
                        <p:par>
                          <p:cTn id="576" fill="hold">
                            <p:stCondLst>
                              <p:cond delay="0"/>
                            </p:stCondLst>
                            <p:childTnLst>
                              <p:par>
                                <p:cTn id="577" nodeType="clickEffect" fill="hold" presetClass="entr" presetID="1">
                                  <p:stCondLst>
                                    <p:cond delay="0"/>
                                  </p:stCondLst>
                                  <p:childTnLst>
                                    <p:set>
                                      <p:cBhvr>
                                        <p:cTn id="578" dur="1" fill="hold">
                                          <p:stCondLst>
                                            <p:cond delay="0"/>
                                          </p:stCondLst>
                                        </p:cTn>
                                        <p:tgtEl>
                                          <p:spTgt spid="263">
                                            <p:txEl>
                                              <p:pRg st="0" end="0"/>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nodeType="clickEffect" fill="hold" presetClass="entr" presetID="1">
                                  <p:stCondLst>
                                    <p:cond delay="0"/>
                                  </p:stCondLst>
                                  <p:childTnLst>
                                    <p:set>
                                      <p:cBhvr>
                                        <p:cTn id="582" dur="1" fill="hold">
                                          <p:stCondLst>
                                            <p:cond delay="0"/>
                                          </p:stCondLst>
                                        </p:cTn>
                                        <p:tgtEl>
                                          <p:spTgt spid="263">
                                            <p:txEl>
                                              <p:pRg st="1" end="1"/>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nodeType="clickEffect" fill="hold" presetClass="entr" presetID="1">
                                  <p:stCondLst>
                                    <p:cond delay="0"/>
                                  </p:stCondLst>
                                  <p:childTnLst>
                                    <p:set>
                                      <p:cBhvr>
                                        <p:cTn id="586" dur="1" fill="hold">
                                          <p:stCondLst>
                                            <p:cond delay="0"/>
                                          </p:stCondLst>
                                        </p:cTn>
                                        <p:tgtEl>
                                          <p:spTgt spid="263">
                                            <p:txEl>
                                              <p:pRg st="2" end="2"/>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nodeType="clickEffect" fill="hold" presetClass="entr" presetID="1">
                                  <p:stCondLst>
                                    <p:cond delay="0"/>
                                  </p:stCondLst>
                                  <p:childTnLst>
                                    <p:set>
                                      <p:cBhvr>
                                        <p:cTn id="590" dur="1" fill="hold">
                                          <p:stCondLst>
                                            <p:cond delay="0"/>
                                          </p:stCondLst>
                                        </p:cTn>
                                        <p:tgtEl>
                                          <p:spTgt spid="263">
                                            <p:txEl>
                                              <p:pRg st="3" end="3"/>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nodeType="clickEffect" fill="hold" presetClass="entr" presetID="1">
                                  <p:stCondLst>
                                    <p:cond delay="0"/>
                                  </p:stCondLst>
                                  <p:childTnLst>
                                    <p:set>
                                      <p:cBhvr>
                                        <p:cTn id="594" dur="1" fill="hold">
                                          <p:stCondLst>
                                            <p:cond delay="0"/>
                                          </p:stCondLst>
                                        </p:cTn>
                                        <p:tgtEl>
                                          <p:spTgt spid="263">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Homework (Caching) → NOT GRADED</a:t>
            </a:r>
            <a:endParaRPr b="0" lang="en-US" sz="2600" spc="-1" strike="noStrike">
              <a:solidFill>
                <a:srgbClr val="000000"/>
              </a:solidFill>
              <a:latin typeface="Arial"/>
            </a:endParaRPr>
          </a:p>
        </p:txBody>
      </p:sp>
      <p:sp>
        <p:nvSpPr>
          <p:cNvPr id="266" name="PlaceHolder 2"/>
          <p:cNvSpPr>
            <a:spLocks noGrp="1"/>
          </p:cNvSpPr>
          <p:nvPr>
            <p:ph/>
          </p:nvPr>
        </p:nvSpPr>
        <p:spPr>
          <a:xfrm>
            <a:off x="729360" y="1378080"/>
            <a:ext cx="7688520" cy="376488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Caching is the practice of storing already / often useful information with the prospect of it being re–utilised in the future. This is something commonly implemented by computer processors to speed up their operation. For this (</a:t>
            </a:r>
            <a:r>
              <a:rPr b="1" lang="el" sz="1600" spc="-1" strike="noStrike">
                <a:solidFill>
                  <a:schemeClr val="accent1"/>
                </a:solidFill>
                <a:latin typeface="Lato"/>
                <a:ea typeface="Lato"/>
              </a:rPr>
              <a:t>not graded</a:t>
            </a:r>
            <a:r>
              <a:rPr b="0" lang="el" sz="1600" spc="-1" strike="noStrike">
                <a:solidFill>
                  <a:schemeClr val="accent1"/>
                </a:solidFill>
                <a:latin typeface="Lato"/>
                <a:ea typeface="Lato"/>
              </a:rPr>
              <a:t>) piece of homework you have to:</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read this (brief) chapter on caching: </a:t>
            </a:r>
            <a:r>
              <a:rPr b="0" lang="el" sz="1600" spc="-1" strike="noStrike" u="sng">
                <a:solidFill>
                  <a:schemeClr val="hlink"/>
                </a:solidFill>
                <a:uFillTx/>
                <a:latin typeface="Lato"/>
                <a:ea typeface="Lato"/>
                <a:hlinkClick r:id="rId1"/>
              </a:rPr>
              <a:t>https://greenteapress.com/thinkos/html/thinkos009.html</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follow the tutorial on studying cache on your own machine / VM, as described in Section 7.4 (source code available here: </a:t>
            </a:r>
            <a:r>
              <a:rPr b="0" lang="el" sz="1600" spc="-1" strike="noStrike" u="sng">
                <a:solidFill>
                  <a:schemeClr val="hlink"/>
                </a:solidFill>
                <a:uFillTx/>
                <a:latin typeface="Lato"/>
                <a:ea typeface="Lato"/>
                <a:hlinkClick r:id="rId2"/>
              </a:rPr>
              <a:t>https://github.com/AllenDowney/ThinkOS/tree/master/code/cache</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Share your work at: v.markos@mc-class.gr</a:t>
            </a:r>
            <a:endParaRPr b="0" lang="en-US" sz="1600" spc="-1" strike="noStrike">
              <a:solidFill>
                <a:srgbClr val="000000"/>
              </a:solidFill>
              <a:latin typeface="Arial"/>
            </a:endParaRPr>
          </a:p>
        </p:txBody>
      </p:sp>
      <p:sp>
        <p:nvSpPr>
          <p:cNvPr id="267" name="PlaceHolder 3"/>
          <p:cNvSpPr>
            <a:spLocks noGrp="1"/>
          </p:cNvSpPr>
          <p:nvPr>
            <p:ph type="sldNum" idx="3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88E76C9-0038-4B31-B3A1-5B0711E00EE0}" type="slidenum">
              <a:rPr b="0" lang="el" sz="1000" spc="-1" strike="noStrike">
                <a:solidFill>
                  <a:schemeClr val="accent1"/>
                </a:solidFill>
                <a:latin typeface="Lato"/>
                <a:ea typeface="Lato"/>
              </a:rPr>
              <a:t>32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269" name="PlaceHolder 2"/>
          <p:cNvSpPr>
            <a:spLocks noGrp="1"/>
          </p:cNvSpPr>
          <p:nvPr>
            <p:ph type="sldNum" idx="3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5AA526CD-9CB5-4BC7-B303-BADB7A5875B5}" type="slidenum">
              <a:rPr b="0" lang="el" sz="1000" spc="-1" strike="noStrike">
                <a:solidFill>
                  <a:schemeClr val="lt1"/>
                </a:solidFill>
                <a:latin typeface="Lato"/>
                <a:ea typeface="Lato"/>
              </a:rPr>
              <a:t>33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In-class Exercise #001</a:t>
            </a:r>
            <a:endParaRPr b="0" lang="en-US" sz="2600" spc="-1" strike="noStrike">
              <a:solidFill>
                <a:srgbClr val="000000"/>
              </a:solidFill>
              <a:latin typeface="Arial"/>
            </a:endParaRPr>
          </a:p>
        </p:txBody>
      </p:sp>
      <p:sp>
        <p:nvSpPr>
          <p:cNvPr id="271" name="PlaceHolder 2"/>
          <p:cNvSpPr>
            <a:spLocks noGrp="1"/>
          </p:cNvSpPr>
          <p:nvPr>
            <p:ph/>
          </p:nvPr>
        </p:nvSpPr>
        <p:spPr>
          <a:xfrm>
            <a:off x="729360" y="1378080"/>
            <a:ext cx="7688520" cy="351000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Open slides/SP-L6.pdf</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Go to slide 14 (last slide)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Run the code found there (you will have to reassemble this a bit).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How does it work?</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Explain what the following functions do:</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pipe()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perror()</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memset()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write()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read()</a:t>
            </a:r>
            <a:endParaRPr b="0" lang="en-US" sz="1600" spc="-1" strike="noStrike">
              <a:solidFill>
                <a:srgbClr val="000000"/>
              </a:solidFill>
              <a:latin typeface="Arial"/>
            </a:endParaRPr>
          </a:p>
        </p:txBody>
      </p:sp>
      <p:sp>
        <p:nvSpPr>
          <p:cNvPr id="272" name="PlaceHolder 3"/>
          <p:cNvSpPr>
            <a:spLocks noGrp="1"/>
          </p:cNvSpPr>
          <p:nvPr>
            <p:ph type="sldNum" idx="3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DED54E3-CF46-4756-AB3A-08C442C08C2F}" type="slidenum">
              <a:rPr b="0" lang="el" sz="1000" spc="-1" strike="noStrike">
                <a:solidFill>
                  <a:schemeClr val="accent1"/>
                </a:solidFill>
                <a:latin typeface="Lato"/>
                <a:ea typeface="Lato"/>
              </a:rPr>
              <a:t>34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274"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sp>
        <p:nvSpPr>
          <p:cNvPr id="275" name="PlaceHolder 3"/>
          <p:cNvSpPr>
            <a:spLocks noGrp="1"/>
          </p:cNvSpPr>
          <p:nvPr>
            <p:ph/>
          </p:nvPr>
        </p:nvSpPr>
        <p:spPr>
          <a:xfrm>
            <a:off x="4672800" y="4080240"/>
            <a:ext cx="4381920" cy="453960"/>
          </a:xfrm>
          <a:prstGeom prst="rect">
            <a:avLst/>
          </a:prstGeom>
          <a:noFill/>
          <a:ln w="0">
            <a:noFill/>
          </a:ln>
        </p:spPr>
        <p:txBody>
          <a:bodyPr tIns="91440" bIns="91440" anchor="t">
            <a:normAutofit fontScale="86000"/>
          </a:bodyPr>
          <a:p>
            <a:pPr indent="0" algn="ctr">
              <a:lnSpc>
                <a:spcPct val="115000"/>
              </a:lnSpc>
              <a:spcAft>
                <a:spcPts val="1199"/>
              </a:spcAft>
              <a:buNone/>
              <a:tabLst>
                <a:tab algn="l" pos="0"/>
              </a:tabLst>
            </a:pPr>
            <a:r>
              <a:rPr b="0" lang="el" sz="1600" spc="-1" strike="noStrike" u="sng">
                <a:solidFill>
                  <a:schemeClr val="hlink"/>
                </a:solidFill>
                <a:uFillTx/>
                <a:latin typeface="Consolas"/>
                <a:ea typeface="Consolas"/>
                <a:hlinkClick r:id="rId1"/>
              </a:rPr>
              <a:t>https://forms.gle/aj7pYsK1ksufD6xYA</a:t>
            </a:r>
            <a:endParaRPr b="0" lang="en-US" sz="1600" spc="-1" strike="noStrike">
              <a:solidFill>
                <a:srgbClr val="000000"/>
              </a:solidFill>
              <a:latin typeface="Arial"/>
            </a:endParaRPr>
          </a:p>
        </p:txBody>
      </p:sp>
      <p:pic>
        <p:nvPicPr>
          <p:cNvPr id="276" name="Google Shape;356;p35" descr="">
            <a:hlinkClick r:id="rId2"/>
          </p:cNvPr>
          <p:cNvPicPr/>
          <p:nvPr/>
        </p:nvPicPr>
        <p:blipFill>
          <a:blip r:embed="rId3"/>
          <a:stretch/>
        </p:blipFill>
        <p:spPr>
          <a:xfrm>
            <a:off x="5434920" y="1063080"/>
            <a:ext cx="2857320" cy="2857320"/>
          </a:xfrm>
          <a:prstGeom prst="rect">
            <a:avLst/>
          </a:prstGeom>
          <a:ln w="0">
            <a:noFill/>
          </a:ln>
        </p:spPr>
      </p:pic>
      <p:sp>
        <p:nvSpPr>
          <p:cNvPr id="277" name="PlaceHolder 4"/>
          <p:cNvSpPr>
            <a:spLocks noGrp="1"/>
          </p:cNvSpPr>
          <p:nvPr>
            <p:ph type="sldNum" idx="3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DF39965-EFB3-44EE-AB43-DD41C8C95CCD}"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2025-12-05T11:27:35Z</dcterms:modified>
  <cp:revision>2</cp:revision>
  <dc:subject/>
  <dc:title/>
</cp:coreProperties>
</file>