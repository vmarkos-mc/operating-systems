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CF3312ED-500A-4D27-852D-F4DFA9BC273E}"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651A627D-AE21-4E9F-BED4-26D8CE65473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1F15E3D2-C3A6-41AF-A63E-E258474BD80D}"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9F5120B7-CB35-415E-A43A-BBACD6CD9629}"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A2F580CC-ED80-486B-90E3-0BAEF3DECE74}"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F947D018-67D5-42ED-B644-2A08B5EF6542}"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D1B903A5-15A4-4800-AB7C-1621B5AC7C05}"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0E0FFBF-0E94-4EA0-A15F-5302AADF90EE}"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18153D7D-5837-4C5D-9186-D6A57373E9F3}"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63EEB130-D9FE-4881-941E-7E2094CDB5F7}"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AA31D3C2-1087-4C08-A4F0-D8121B61021F}"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6D563DE4-7B0E-4DE7-9E7A-2B19CFA34D94}"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5C3D75F6-BD8E-4F3A-B074-D7066A672F8B}"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ED1CA4F1-4D56-4C84-B15B-6B0F188DC8B3}"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BC3CF0BF-5731-44DB-8799-773DFE4F7E20}"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E3EA2C9A-DD47-476B-B894-258E0AA37F22}"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83C367B8-4C6A-467E-BBE1-1E59263DE978}"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579B32A0-3CCB-481E-9FB8-C95A2BD7E8F5}"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133E0518-EB38-4F4A-90AD-C0E40DEB011F}"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943F95AF-31E8-40BC-8123-E0EED602442E}"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FA923290-6672-4E81-B30F-E30F0D13F352}"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9CE7363A-C7E2-47C9-A918-658147044898}"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3BDFD322-4990-4B26-A396-2B361B02E48B}"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176665C9-E2A0-401E-BAAE-F868D72D27D0}"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A2679874-B25F-4065-897F-A78710876CFA}"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E472797E-2E1A-4189-83C3-0C9F25D6F295}"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AE691DDA-B73F-48F9-AB55-9E1724A41E02}"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860DD6EA-2CAC-453E-9CEE-324B1D3F1C75}"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C7A134FA-0419-4A9C-8250-D6750958EA22}"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E8F510CC-47CA-4332-A9CC-60E0396D49F0}"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41DCFF27-2414-436A-8E1E-994BC57BB4B0}"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0C2F0000-CBB4-474F-BA2B-65A25680C056}"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7192F405-DDC4-431F-A56C-04609CCFF9B6}"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9DCF7BCC-0DEF-4B54-BEC1-1E84B441A74D}"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123D1A92-058D-476A-8B2B-F3CAADE852AD}"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53F66CB9-948D-43E3-9062-CCCB78E80C16}"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5C84CCF9-B573-4D14-85EC-9D3CACF5A15E}"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BE5B35CB-1E57-40D9-8A13-023F4BA7E19F}"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5EAB7BFC-08B7-4B60-9DFD-82CFF9C66226}"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4D54A7F1-7D39-4099-877E-FA09A830586C}"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303B24F2-273F-49FE-B5C2-176A9C769C50}"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20914702-E500-43A1-A094-F8B5A8875B2E}"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D01FC384-2A9D-4074-9F95-811FCD7478F4}"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BF4EB712-6117-4FEC-8F24-5496C6B274B3}"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7D59449A-9974-40F7-89CF-93F6075B347B}"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29C98811-89C6-4E0E-9895-DDB31D4FD36E}"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57F66433-A555-4495-BAA4-17D91E28DAB8}"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A12BF610-C55D-4A58-B5BF-ABEC7F40C71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25"/>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25"/>
          <p:cNvGrpSpPr/>
          <p:nvPr/>
        </p:nvGrpSpPr>
        <p:grpSpPr>
          <a:xfrm>
            <a:off x="530280" y="1205640"/>
            <a:ext cx="1342800" cy="17280"/>
            <a:chOff x="530280" y="1205640"/>
            <a:chExt cx="1342800" cy="17280"/>
          </a:xfrm>
        </p:grpSpPr>
        <p:sp>
          <p:nvSpPr>
            <p:cNvPr id="2" name="Google Shape;13;p25"/>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25"/>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a:t>
            </a:r>
            <a:r>
              <a:rPr b="0" lang="en-US" sz="4200" spc="-1" strike="noStrike">
                <a:solidFill>
                  <a:srgbClr val="000000"/>
                </a:solidFill>
                <a:latin typeface="Arial"/>
              </a:rPr>
              <a:t>the title text </a:t>
            </a:r>
            <a:r>
              <a:rPr b="0" lang="en-US" sz="4200" spc="-1" strike="noStrike">
                <a:solidFill>
                  <a:srgbClr val="000000"/>
                </a:solidFill>
                <a:latin typeface="Arial"/>
              </a:rPr>
              <a:t>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26CEDD0-C73F-48F8-9822-ED7B5F9FFA32}"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25"/>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a:t>
            </a:r>
            <a:r>
              <a:rPr b="0" lang="en-US" sz="2000" spc="-1" strike="noStrike">
                <a:solidFill>
                  <a:srgbClr val="000000"/>
                </a:solidFill>
                <a:latin typeface="Arial"/>
              </a:rPr>
              <a:t>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a:t>
            </a:r>
            <a:r>
              <a:rPr b="0" lang="en-US" sz="2000" spc="-1" strike="noStrike">
                <a:solidFill>
                  <a:srgbClr val="000000"/>
                </a:solidFill>
                <a:latin typeface="Arial"/>
              </a:rPr>
              <a:t>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26"/>
          <p:cNvGrpSpPr/>
          <p:nvPr/>
        </p:nvGrpSpPr>
        <p:grpSpPr>
          <a:xfrm>
            <a:off x="530280" y="1205640"/>
            <a:ext cx="1342800" cy="17280"/>
            <a:chOff x="530280" y="1205640"/>
            <a:chExt cx="1342800" cy="17280"/>
          </a:xfrm>
        </p:grpSpPr>
        <p:sp>
          <p:nvSpPr>
            <p:cNvPr id="45" name="Google Shape;22;p26"/>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26"/>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58ED8909-1F0C-42B5-A437-C29C38E2B617}"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27"/>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27"/>
          <p:cNvGrpSpPr/>
          <p:nvPr/>
        </p:nvGrpSpPr>
        <p:grpSpPr>
          <a:xfrm>
            <a:off x="530280" y="1205640"/>
            <a:ext cx="1342800" cy="17280"/>
            <a:chOff x="530280" y="1205640"/>
            <a:chExt cx="1342800" cy="17280"/>
          </a:xfrm>
        </p:grpSpPr>
        <p:sp>
          <p:nvSpPr>
            <p:cNvPr id="88" name="Google Shape;29;p2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2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FB32519-C230-4DB1-826D-9440C956D3E1}"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35;p28"/>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36;p28"/>
          <p:cNvGrpSpPr/>
          <p:nvPr/>
        </p:nvGrpSpPr>
        <p:grpSpPr>
          <a:xfrm>
            <a:off x="530280" y="1205640"/>
            <a:ext cx="1342800" cy="17280"/>
            <a:chOff x="530280" y="1205640"/>
            <a:chExt cx="1342800" cy="17280"/>
          </a:xfrm>
        </p:grpSpPr>
        <p:sp>
          <p:nvSpPr>
            <p:cNvPr id="131" name="Google Shape;37;p28"/>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8;p28"/>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072AB84-3DD6-4BE0-81C5-F8ED8EB74BC8}"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Operating Systems</a:t>
            </a:r>
            <a:br>
              <a:rPr sz="4200"/>
            </a:br>
            <a:r>
              <a:rPr b="0" lang="el" sz="1600" spc="-1" strike="noStrike">
                <a:solidFill>
                  <a:schemeClr val="accent1"/>
                </a:solidFill>
                <a:latin typeface="Lato"/>
                <a:ea typeface="Lato"/>
              </a:rPr>
              <a:t>IPC: Inter-processes Communication</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08</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IPC: Message Queues</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670A4DCA-33F8-4839-89E0-2AE26B85DC21}"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Example</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3842280" cy="376524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&lt;sys/ipc.h&gt;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&lt;sys/msg.h&gt;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&lt;string.h&gt;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MSG_KEY </a:t>
            </a:r>
            <a:r>
              <a:rPr b="0" lang="el" sz="1050" spc="-1" strike="noStrike">
                <a:solidFill>
                  <a:srgbClr val="098658"/>
                </a:solidFill>
                <a:highlight>
                  <a:srgbClr val="ffffff"/>
                </a:highlight>
                <a:latin typeface="Courier New"/>
                <a:ea typeface="Courier New"/>
              </a:rPr>
              <a:t>1234</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message</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long</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mtype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mtext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100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message</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Create a message queue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msgget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MSG_KEY</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IPC_CREAT</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0666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A56A956-DDCD-4F5C-BF96-6DC7925B7776}"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
        <p:nvSpPr>
          <p:cNvPr id="181" name="PlaceHolder 4"/>
          <p:cNvSpPr>
            <a:spLocks noGrp="1"/>
          </p:cNvSpPr>
          <p:nvPr>
            <p:ph/>
          </p:nvPr>
        </p:nvSpPr>
        <p:spPr>
          <a:xfrm>
            <a:off x="4735800" y="1378080"/>
            <a:ext cx="3842280" cy="3765240"/>
          </a:xfrm>
          <a:prstGeom prst="rect">
            <a:avLst/>
          </a:prstGeom>
          <a:noFill/>
          <a:ln w="0">
            <a:noFill/>
          </a:ln>
        </p:spPr>
        <p:txBody>
          <a:bodyPr tIns="91440" bIns="91440" anchor="t">
            <a:normAutofit fontScale="83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"msgget"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   </a:t>
            </a:r>
            <a:br>
              <a:rPr sz="1050"/>
            </a:br>
            <a:r>
              <a:rPr b="0" lang="el" sz="1050" spc="-1" strike="noStrike">
                <a:solidFill>
                  <a:srgbClr val="001080"/>
                </a:solidFill>
                <a:highlight>
                  <a:srgbClr val="ffffff"/>
                </a:highlight>
                <a:latin typeface="Courier New"/>
                <a:ea typeface="Courier New"/>
              </a:rPr>
              <a:t>   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Child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Receive the message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msgrcv</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 &amp;</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mtext</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received: </a:t>
            </a:r>
            <a:r>
              <a:rPr b="0" lang="el" sz="1050" spc="-1" strike="noStrike">
                <a:solidFill>
                  <a:srgbClr val="001080"/>
                </a:solidFill>
                <a:highlight>
                  <a:srgbClr val="ffffff"/>
                </a:highlight>
                <a:latin typeface="Courier New"/>
                <a:ea typeface="Courier New"/>
              </a:rPr>
              <a:t>%s</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mtext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Parent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Send a message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mtype</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strcpy</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mtext</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"Parent Process!"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msgsnd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 &amp;</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sizeof</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msg</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mtext</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Remove the message queue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msgctl</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msqid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IPC_RMID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msgget()</a:t>
            </a:r>
            <a:endParaRPr b="0" lang="en-US" sz="2600" spc="-1" strike="noStrike">
              <a:solidFill>
                <a:srgbClr val="000000"/>
              </a:solidFill>
              <a:latin typeface="Arial"/>
            </a:endParaRPr>
          </a:p>
        </p:txBody>
      </p:sp>
      <p:sp>
        <p:nvSpPr>
          <p:cNvPr id="18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Available through: #include &lt;sys/msg.h&gt;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msgget(key_t key, int msgflg);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msgget() system call returns the System V message queue identifier associated with the value of the key argument.  It may be used either to obtain the identifier of a previously created message queue (when msgflg is zero and key does not have the value IPC_PRIVATE), or to create a new set.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new message queue is created if key has the value IPC_PRIVATE or key isn't IPC_PRIVATE, no message queue with the given key key exists, and IPC_CREAT is specified in msgflg.</a:t>
            </a:r>
            <a:endParaRPr b="0" lang="en-US" sz="1600" spc="-1" strike="noStrike">
              <a:solidFill>
                <a:srgbClr val="000000"/>
              </a:solidFill>
              <a:latin typeface="Arial"/>
            </a:endParaRPr>
          </a:p>
        </p:txBody>
      </p:sp>
      <p:sp>
        <p:nvSpPr>
          <p:cNvPr id="184"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677C693-34E5-4095-9277-68173540F6F2}"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msgget(): msgflg</a:t>
            </a:r>
            <a:endParaRPr b="0" lang="en-US" sz="2600" spc="-1" strike="noStrike">
              <a:solidFill>
                <a:srgbClr val="000000"/>
              </a:solidFill>
              <a:latin typeface="Arial"/>
            </a:endParaRPr>
          </a:p>
        </p:txBody>
      </p:sp>
      <p:sp>
        <p:nvSpPr>
          <p:cNvPr id="186"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Upon creation, the least significant bits of the argument msgflg define the permissions of the message queue.  These permission bits have the same format and semantics as the permissions specified for the mode argument of open(2).  (The execute permissions are not used.)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Modes: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IPC_APPEND: The file is opened in append mode.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IPC_CREAT: If pathname does not exist, create it as a regular file.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IPC_EXCL: Ensure that this call creates the file.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IPC_TMPFILE: Create an unnamed temporary regular file.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Return value: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 </a:t>
            </a:r>
            <a:r>
              <a:rPr b="0" lang="el" sz="1600" spc="-1" strike="noStrike">
                <a:solidFill>
                  <a:schemeClr val="accent1"/>
                </a:solidFill>
                <a:latin typeface="Lato"/>
                <a:ea typeface="Lato"/>
              </a:rPr>
              <a:t>On success, msgget() returns the message queue identifier (a nonnegative integer).  On failure, -1 is returned, and errno is set to indicate the error.</a:t>
            </a:r>
            <a:endParaRPr b="0" lang="en-US" sz="1600" spc="-1" strike="noStrike">
              <a:solidFill>
                <a:srgbClr val="000000"/>
              </a:solidFill>
              <a:latin typeface="Arial"/>
            </a:endParaRPr>
          </a:p>
        </p:txBody>
      </p:sp>
      <p:sp>
        <p:nvSpPr>
          <p:cNvPr id="187"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7070817-EB54-4970-9B08-F1B4C1830FBA}"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msgrcv()</a:t>
            </a:r>
            <a:endParaRPr b="0" lang="en-US" sz="2600" spc="-1" strike="noStrike">
              <a:solidFill>
                <a:srgbClr val="000000"/>
              </a:solidFill>
              <a:latin typeface="Arial"/>
            </a:endParaRPr>
          </a:p>
        </p:txBody>
      </p:sp>
      <p:sp>
        <p:nvSpPr>
          <p:cNvPr id="189" name="PlaceHolder 2"/>
          <p:cNvSpPr>
            <a:spLocks noGrp="1"/>
          </p:cNvSpPr>
          <p:nvPr>
            <p:ph/>
          </p:nvPr>
        </p:nvSpPr>
        <p:spPr>
          <a:xfrm>
            <a:off x="729360" y="1378080"/>
            <a:ext cx="7688520" cy="3312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Available at: #include &lt;sys/msg.h&gt;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ssize_t msgrcv(int msqid, void *msgp, size_t msgsz, long msgtyp, int msgflg);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msgrcv() function shall read a message from the queue associated with the message queue identifier specified by msqid and place it in the user-defined buffer pointed to by msgp.</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REMARK:</a:t>
            </a:r>
            <a:r>
              <a:rPr b="0" lang="el" sz="1600" spc="-1" strike="noStrike">
                <a:solidFill>
                  <a:schemeClr val="accent1"/>
                </a:solidFill>
                <a:latin typeface="Lato"/>
                <a:ea typeface="Lato"/>
              </a:rPr>
              <a:t> The application shall ensure that the argument msgp points to a user-defined buffer that contains first a field of type long specifying the type of the message, and then a data portion that holds the data bytes of the message.</a:t>
            </a:r>
            <a:endParaRPr b="0" lang="en-US" sz="1600" spc="-1" strike="noStrike">
              <a:solidFill>
                <a:srgbClr val="000000"/>
              </a:solidFill>
              <a:latin typeface="Arial"/>
            </a:endParaRPr>
          </a:p>
        </p:txBody>
      </p:sp>
      <p:sp>
        <p:nvSpPr>
          <p:cNvPr id="190"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50727CA-3B55-4A1B-B85A-7DDF677EDFFE}"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msgrcv()</a:t>
            </a:r>
            <a:endParaRPr b="0" lang="en-US" sz="2600" spc="-1" strike="noStrike">
              <a:solidFill>
                <a:srgbClr val="000000"/>
              </a:solidFill>
              <a:latin typeface="Arial"/>
            </a:endParaRPr>
          </a:p>
        </p:txBody>
      </p:sp>
      <p:sp>
        <p:nvSpPr>
          <p:cNvPr id="192"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structure below is an example of what this user-defined buffer might look like:</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00ff"/>
                </a:solidFill>
                <a:highlight>
                  <a:srgbClr val="ffffff"/>
                </a:highlight>
                <a:latin typeface="Consolas"/>
                <a:ea typeface="Consolas"/>
              </a:rPr>
              <a:t>struct</a:t>
            </a:r>
            <a:r>
              <a:rPr b="0" lang="el" sz="1050" spc="-1" strike="noStrike">
                <a:solidFill>
                  <a:srgbClr val="000000"/>
                </a:solidFill>
                <a:highlight>
                  <a:srgbClr val="ffffff"/>
                </a:highlight>
                <a:latin typeface="Consolas"/>
                <a:ea typeface="Consolas"/>
              </a:rPr>
              <a:t> </a:t>
            </a:r>
            <a:r>
              <a:rPr b="0" lang="el" sz="1050" spc="-1" strike="noStrike">
                <a:solidFill>
                  <a:srgbClr val="267f99"/>
                </a:solidFill>
                <a:highlight>
                  <a:srgbClr val="ffffff"/>
                </a:highlight>
                <a:latin typeface="Consolas"/>
                <a:ea typeface="Consolas"/>
              </a:rPr>
              <a:t>mymsg</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long</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mtype</a:t>
            </a:r>
            <a:r>
              <a:rPr b="0" lang="el" sz="1050" spc="-1" strike="noStrike">
                <a:solidFill>
                  <a:srgbClr val="000000"/>
                </a:solidFill>
                <a:highlight>
                  <a:srgbClr val="ffffff"/>
                </a:highlight>
                <a:latin typeface="Consolas"/>
                <a:ea typeface="Consolas"/>
              </a:rPr>
              <a:t>;</a:t>
            </a:r>
            <a:r>
              <a:rPr b="0" lang="el" sz="1050" spc="-1" strike="noStrike">
                <a:solidFill>
                  <a:srgbClr val="008000"/>
                </a:solidFill>
                <a:highlight>
                  <a:srgbClr val="ffffff"/>
                </a:highlight>
                <a:latin typeface="Consolas"/>
                <a:ea typeface="Consolas"/>
              </a:rPr>
              <a:t>     /* Message type.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char</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mtext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r>
              <a:rPr b="0" lang="el" sz="1050" spc="-1" strike="noStrike">
                <a:solidFill>
                  <a:srgbClr val="008000"/>
                </a:solidFill>
                <a:highlight>
                  <a:srgbClr val="ffffff"/>
                </a:highlight>
                <a:latin typeface="Consolas"/>
                <a:ea typeface="Consolas"/>
              </a:rPr>
              <a:t>  /* Message text.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a:p>
            <a:pPr indent="0">
              <a:lnSpc>
                <a:spcPct val="115000"/>
              </a:lnSpc>
              <a:buNone/>
              <a:tabLst>
                <a:tab algn="l" pos="0"/>
              </a:tabLst>
            </a:pP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The structure member mtype is the received message's type as specified by the sending process.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structure member mtext is the text of the message.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argument msgsz specifies the size in bytes of mtext.  The received message shall be truncated to msgsz bytes if it is larger than msgsz and (msgflg &amp; MSG_NOERROR) is non-zero.</a:t>
            </a:r>
            <a:endParaRPr b="0" lang="en-US" sz="1600" spc="-1" strike="noStrike">
              <a:solidFill>
                <a:srgbClr val="000000"/>
              </a:solidFill>
              <a:latin typeface="Arial"/>
            </a:endParaRPr>
          </a:p>
        </p:txBody>
      </p:sp>
      <p:sp>
        <p:nvSpPr>
          <p:cNvPr id="193"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75CFFD9-D93C-41DE-A85A-58217C38A708}"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msgtyp</a:t>
            </a:r>
            <a:endParaRPr b="0" lang="en-US" sz="2600" spc="-1" strike="noStrike">
              <a:solidFill>
                <a:srgbClr val="000000"/>
              </a:solidFill>
              <a:latin typeface="Arial"/>
            </a:endParaRPr>
          </a:p>
        </p:txBody>
      </p:sp>
      <p:sp>
        <p:nvSpPr>
          <p:cNvPr id="19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argument msgtyp specifies the type of message requested as follows: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If msgtyp is 0, the first message on the queue shall be received.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If msgtyp is greater than 0, the first message of type msgtyp shall be received.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If msgtyp is less than 0, the first message of the lowest type that is less than or equal to the absolute value of msgtyp shall be received.</a:t>
            </a:r>
            <a:endParaRPr b="0" lang="en-US" sz="1600" spc="-1" strike="noStrike">
              <a:solidFill>
                <a:srgbClr val="000000"/>
              </a:solidFill>
              <a:latin typeface="Arial"/>
            </a:endParaRPr>
          </a:p>
        </p:txBody>
      </p:sp>
      <p:sp>
        <p:nvSpPr>
          <p:cNvPr id="196"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026CE60-F1E9-47EB-A139-6770F869ADDC}"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msgflg</a:t>
            </a:r>
            <a:endParaRPr b="0" lang="en-US" sz="2600" spc="-1" strike="noStrike">
              <a:solidFill>
                <a:srgbClr val="000000"/>
              </a:solidFill>
              <a:latin typeface="Arial"/>
            </a:endParaRPr>
          </a:p>
        </p:txBody>
      </p:sp>
      <p:sp>
        <p:nvSpPr>
          <p:cNvPr id="198"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argument msgflg specifies the action to be taken if a message of the desired type is not on the queue. These are as follows: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If (msgflg &amp; IPC_NOWAIT) is non-zero, the calling thread shall return immediately with a return value of -1 and errno set to [ENOMSG].</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If (msgflg &amp; IPC_NOWAIT) is 0, the calling thread shall suspend execution until one of the following occurs: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 message of the desired type is placed on the queue.</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message queue identifier msqid is removed from the system; when this occurs, errno shall be set to [EIDRM] and -1 shall be returned.</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calling thread receives a signal that is to be caught; in this case a message is not received and the calling thread resumes execution in the manner prescribed in sigaction(3p).</a:t>
            </a:r>
            <a:endParaRPr b="0" lang="en-US" sz="1600" spc="-1" strike="noStrike">
              <a:solidFill>
                <a:srgbClr val="000000"/>
              </a:solidFill>
              <a:latin typeface="Arial"/>
            </a:endParaRPr>
          </a:p>
        </p:txBody>
      </p:sp>
      <p:sp>
        <p:nvSpPr>
          <p:cNvPr id="199"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6B3829B-6E4A-4BE2-BBE4-ACEA729B31A1}"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msgrcv() (Cont’d)</a:t>
            </a:r>
            <a:endParaRPr b="0" lang="en-US" sz="2600" spc="-1" strike="noStrike">
              <a:solidFill>
                <a:srgbClr val="000000"/>
              </a:solidFill>
              <a:latin typeface="Arial"/>
            </a:endParaRPr>
          </a:p>
        </p:txBody>
      </p:sp>
      <p:sp>
        <p:nvSpPr>
          <p:cNvPr id="201"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Upon successful completion, the following actions are taken with respect to the data structure associated with msqid:</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msg_qnum shall be decremented by 1.</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msg_lrpid shall be set to the process ID of the calling process.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msg_rtime shall be set to the current time.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Return value:</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Upon successful completion, msgrcv() shall return a value equal to the number of bytes actually placed into the buffer mtext. Otherwise, no message shall be received, msgrcv() shall return -1, and errno shall be set to indicate the error.</a:t>
            </a:r>
            <a:endParaRPr b="0" lang="en-US" sz="1600" spc="-1" strike="noStrike">
              <a:solidFill>
                <a:srgbClr val="000000"/>
              </a:solidFill>
              <a:latin typeface="Arial"/>
            </a:endParaRPr>
          </a:p>
        </p:txBody>
      </p:sp>
      <p:sp>
        <p:nvSpPr>
          <p:cNvPr id="202"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F3FD728-C6B1-4AAD-BFCC-14D10A2116E7}"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msgsend()</a:t>
            </a:r>
            <a:endParaRPr b="0" lang="en-US" sz="2600" spc="-1" strike="noStrike">
              <a:solidFill>
                <a:srgbClr val="000000"/>
              </a:solidFill>
              <a:latin typeface="Arial"/>
            </a:endParaRPr>
          </a:p>
        </p:txBody>
      </p:sp>
      <p:sp>
        <p:nvSpPr>
          <p:cNvPr id="204"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Available via: #include &lt;sys/msg.h&gt;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int msgsnd(int msqid, const void *msgp, size_t msgsz, int msgflg);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 msgsnd() function shall send a message to the queue associated with the message queue identifier specified by msqid.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Flags → msgrcv()</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As with msgrcv(), the application shall ensure access to a struct of the following structure:</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00ff"/>
                </a:solidFill>
                <a:highlight>
                  <a:srgbClr val="ffffff"/>
                </a:highlight>
                <a:latin typeface="Consolas"/>
                <a:ea typeface="Consolas"/>
              </a:rPr>
              <a:t>struct</a:t>
            </a:r>
            <a:r>
              <a:rPr b="0" lang="el" sz="1050" spc="-1" strike="noStrike">
                <a:solidFill>
                  <a:srgbClr val="000000"/>
                </a:solidFill>
                <a:highlight>
                  <a:srgbClr val="ffffff"/>
                </a:highlight>
                <a:latin typeface="Consolas"/>
                <a:ea typeface="Consolas"/>
              </a:rPr>
              <a:t> </a:t>
            </a:r>
            <a:r>
              <a:rPr b="0" lang="el" sz="1050" spc="-1" strike="noStrike">
                <a:solidFill>
                  <a:srgbClr val="267f99"/>
                </a:solidFill>
                <a:highlight>
                  <a:srgbClr val="ffffff"/>
                </a:highlight>
                <a:latin typeface="Consolas"/>
                <a:ea typeface="Consolas"/>
              </a:rPr>
              <a:t>mymsg</a:t>
            </a:r>
            <a:r>
              <a:rPr b="0" lang="el" sz="1050" spc="-1" strike="noStrike">
                <a:solidFill>
                  <a:srgbClr val="000000"/>
                </a:solidFill>
                <a:highlight>
                  <a:srgbClr val="ffffff"/>
                </a:highlight>
                <a:latin typeface="Consolas"/>
                <a:ea typeface="Consolas"/>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long</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mtype</a:t>
            </a:r>
            <a:r>
              <a:rPr b="0" lang="el" sz="1050" spc="-1" strike="noStrike">
                <a:solidFill>
                  <a:srgbClr val="000000"/>
                </a:solidFill>
                <a:highlight>
                  <a:srgbClr val="ffffff"/>
                </a:highlight>
                <a:latin typeface="Consolas"/>
                <a:ea typeface="Consolas"/>
              </a:rPr>
              <a:t>;</a:t>
            </a:r>
            <a:r>
              <a:rPr b="0" lang="el" sz="1050" spc="-1" strike="noStrike">
                <a:solidFill>
                  <a:srgbClr val="008000"/>
                </a:solidFill>
                <a:highlight>
                  <a:srgbClr val="ffffff"/>
                </a:highlight>
                <a:latin typeface="Consolas"/>
                <a:ea typeface="Consolas"/>
              </a:rPr>
              <a:t>     /* Message type.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    </a:t>
            </a:r>
            <a:r>
              <a:rPr b="0" lang="el" sz="1050" spc="-1" strike="noStrike">
                <a:solidFill>
                  <a:srgbClr val="0000ff"/>
                </a:solidFill>
                <a:highlight>
                  <a:srgbClr val="ffffff"/>
                </a:highlight>
                <a:latin typeface="Consolas"/>
                <a:ea typeface="Consolas"/>
              </a:rPr>
              <a:t>char</a:t>
            </a:r>
            <a:r>
              <a:rPr b="0" lang="el" sz="1050" spc="-1" strike="noStrike">
                <a:solidFill>
                  <a:srgbClr val="000000"/>
                </a:solidFill>
                <a:highlight>
                  <a:srgbClr val="ffffff"/>
                </a:highlight>
                <a:latin typeface="Consolas"/>
                <a:ea typeface="Consolas"/>
              </a:rPr>
              <a:t>    </a:t>
            </a:r>
            <a:r>
              <a:rPr b="0" lang="el" sz="1050" spc="-1" strike="noStrike">
                <a:solidFill>
                  <a:srgbClr val="001080"/>
                </a:solidFill>
                <a:highlight>
                  <a:srgbClr val="ffffff"/>
                </a:highlight>
                <a:latin typeface="Consolas"/>
                <a:ea typeface="Consolas"/>
              </a:rPr>
              <a:t>mtext</a:t>
            </a:r>
            <a:r>
              <a:rPr b="0" lang="el" sz="1050" spc="-1" strike="noStrike">
                <a:solidFill>
                  <a:srgbClr val="000000"/>
                </a:solidFill>
                <a:highlight>
                  <a:srgbClr val="ffffff"/>
                </a:highlight>
                <a:latin typeface="Consolas"/>
                <a:ea typeface="Consolas"/>
              </a:rPr>
              <a:t>[</a:t>
            </a:r>
            <a:r>
              <a:rPr b="0" lang="el" sz="1050" spc="-1" strike="noStrike">
                <a:solidFill>
                  <a:srgbClr val="098658"/>
                </a:solidFill>
                <a:highlight>
                  <a:srgbClr val="ffffff"/>
                </a:highlight>
                <a:latin typeface="Consolas"/>
                <a:ea typeface="Consolas"/>
              </a:rPr>
              <a:t>1</a:t>
            </a:r>
            <a:r>
              <a:rPr b="0" lang="el" sz="1050" spc="-1" strike="noStrike">
                <a:solidFill>
                  <a:srgbClr val="000000"/>
                </a:solidFill>
                <a:highlight>
                  <a:srgbClr val="ffffff"/>
                </a:highlight>
                <a:latin typeface="Consolas"/>
                <a:ea typeface="Consolas"/>
              </a:rPr>
              <a:t>];</a:t>
            </a:r>
            <a:r>
              <a:rPr b="0" lang="el" sz="1050" spc="-1" strike="noStrike">
                <a:solidFill>
                  <a:srgbClr val="008000"/>
                </a:solidFill>
                <a:highlight>
                  <a:srgbClr val="ffffff"/>
                </a:highlight>
                <a:latin typeface="Consolas"/>
                <a:ea typeface="Consolas"/>
              </a:rPr>
              <a:t>  /* Message text.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nsolas"/>
                <a:ea typeface="Consolas"/>
              </a:rPr>
              <a:t>}</a:t>
            </a:r>
            <a:endParaRPr b="0" lang="en-US" sz="1050" spc="-1" strike="noStrike">
              <a:solidFill>
                <a:srgbClr val="000000"/>
              </a:solidFill>
              <a:latin typeface="Arial"/>
            </a:endParaRPr>
          </a:p>
        </p:txBody>
      </p:sp>
      <p:sp>
        <p:nvSpPr>
          <p:cNvPr id="205"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CD178A4-D84A-4A7A-8DAD-EB40C6AAFF31}"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msgctl()</a:t>
            </a:r>
            <a:endParaRPr b="0" lang="en-US" sz="2600" spc="-1" strike="noStrike">
              <a:solidFill>
                <a:srgbClr val="000000"/>
              </a:solidFill>
              <a:latin typeface="Arial"/>
            </a:endParaRPr>
          </a:p>
        </p:txBody>
      </p:sp>
      <p:sp>
        <p:nvSpPr>
          <p:cNvPr id="207" name="PlaceHolder 2"/>
          <p:cNvSpPr>
            <a:spLocks noGrp="1"/>
          </p:cNvSpPr>
          <p:nvPr>
            <p:ph/>
          </p:nvPr>
        </p:nvSpPr>
        <p:spPr>
          <a:xfrm>
            <a:off x="729360" y="1378080"/>
            <a:ext cx="7688520" cy="376524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0" lang="el" sz="1600" spc="-1" strike="noStrike">
                <a:solidFill>
                  <a:schemeClr val="accent1"/>
                </a:solidFill>
                <a:latin typeface="Lato"/>
                <a:ea typeface="Lato"/>
              </a:rPr>
              <a:t>Include all of the following:</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#include &lt;sys/types.h&gt;</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#include &lt;sys/ipc.h&gt;</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#include &lt;sys/msg.h&gt;</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Syntax: int msgctl(int msqid, int cmd, struct msqid_ds *buf);</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msgctl()  performs  the  control operation specified by cmd on the System V message queue with identifier msqid.</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On  success,  IPC_STAT,  IPC_SET,  and IPC_RMID return 0.  A successful IPC_INFO or MSG_INFO operation returns the index of  the  highest used entry  in  the  kernel's internal array recording information about all message queues. A successful MSG_STAT or MSG_STAT_ANY  operation  returns the identifier of the queue whose index was given in msqid.</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On error, -1 is returned with errno indicating the error.</a:t>
            </a:r>
            <a:endParaRPr b="0" lang="en-US" sz="1600" spc="-1" strike="noStrike">
              <a:solidFill>
                <a:srgbClr val="000000"/>
              </a:solidFill>
              <a:latin typeface="Arial"/>
            </a:endParaRPr>
          </a:p>
        </p:txBody>
      </p:sp>
      <p:sp>
        <p:nvSpPr>
          <p:cNvPr id="208"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8D0B481-AC3C-4BA9-BBEE-FB2C19C7B991}"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msqid_ds</a:t>
            </a:r>
            <a:endParaRPr b="0" lang="en-US" sz="2600" spc="-1" strike="noStrike">
              <a:solidFill>
                <a:srgbClr val="000000"/>
              </a:solidFill>
              <a:latin typeface="Arial"/>
            </a:endParaRPr>
          </a:p>
        </p:txBody>
      </p:sp>
      <p:sp>
        <p:nvSpPr>
          <p:cNvPr id="210"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msqid_ds data structure is defined in &lt;sys/msg.h&gt; as follows:</a:t>
            </a:r>
            <a:endParaRPr b="0" lang="en-US" sz="1600" spc="-1" strike="noStrike">
              <a:solidFill>
                <a:srgbClr val="000000"/>
              </a:solidFill>
              <a:latin typeface="Arial"/>
            </a:endParaRPr>
          </a:p>
          <a:p>
            <a:pPr indent="0">
              <a:lnSpc>
                <a:spcPct val="135000"/>
              </a:lnSpc>
              <a:spcBef>
                <a:spcPts val="1199"/>
              </a:spcBef>
              <a:buNone/>
              <a:tabLst>
                <a:tab algn="l" pos="0"/>
              </a:tabLst>
            </a:pP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msqid_ds</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struct</a:t>
            </a: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ipc_perm</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msg_perm</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Ownership and permissions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time_t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msg_stime</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Time of last msgsnd(2)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time_t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msg_rtime</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Time of last msgrcv(2)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time_t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msg_ctime</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Time of last change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unsigned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long</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__msg_cbytes</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Current number of bytes in</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queue (nonstandard)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msgqnum_t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msg_qnum</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Current number of messages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in queue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msglen_t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msg_qbytes</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Maximum number of bytes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allowed in queue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msg_lspid</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PID of last msgsnd(2)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msg_lrpid</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PID of last msgrcv(2)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11"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CCE9213-D68E-4C49-9742-0E7FA7A2FDB4}"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213" name="PlaceHolder 2"/>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F6F25F25-D920-413C-98A7-689131E359E3}" type="slidenum">
              <a:rPr b="0" lang="el" sz="1000" spc="-1" strike="noStrike">
                <a:solidFill>
                  <a:schemeClr val="l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Much Like Your Assignment…</a:t>
            </a:r>
            <a:endParaRPr b="0" lang="en-US" sz="2600" spc="-1" strike="noStrike">
              <a:solidFill>
                <a:srgbClr val="000000"/>
              </a:solidFill>
              <a:latin typeface="Arial"/>
            </a:endParaRPr>
          </a:p>
        </p:txBody>
      </p:sp>
      <p:sp>
        <p:nvSpPr>
          <p:cNvPr id="215"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Create a simple C function named foo() that:</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takes a string, s, as an argument;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randomly permutes its characters, stripping out any whitespace, and;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returns the mutated version of the string.</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Using this as a mock “service” implement IPC between a parent process which shares a user provided string and a child process which mutates that string using foo() and returns the mutated version to the parent process. You should implement this in the following three different ways: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Using pipes.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Using shared memory.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Using message queues.</a:t>
            </a:r>
            <a:endParaRPr b="0" lang="en-US" sz="1600" spc="-1" strike="noStrike">
              <a:solidFill>
                <a:srgbClr val="000000"/>
              </a:solidFill>
              <a:latin typeface="Arial"/>
            </a:endParaRPr>
          </a:p>
        </p:txBody>
      </p:sp>
      <p:sp>
        <p:nvSpPr>
          <p:cNvPr id="216"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CB1C931-5931-4CBB-AE39-6737B35149B6}"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218"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219"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220" name="Google Shape;272;p23" descr="">
            <a:hlinkClick r:id="rId2"/>
          </p:cNvPr>
          <p:cNvPicPr/>
          <p:nvPr/>
        </p:nvPicPr>
        <p:blipFill>
          <a:blip r:embed="rId3"/>
          <a:stretch/>
        </p:blipFill>
        <p:spPr>
          <a:xfrm>
            <a:off x="5434920" y="1063080"/>
            <a:ext cx="2857320" cy="2857320"/>
          </a:xfrm>
          <a:prstGeom prst="rect">
            <a:avLst/>
          </a:prstGeom>
          <a:ln w="0">
            <a:noFill/>
          </a:ln>
        </p:spPr>
      </p:pic>
      <p:sp>
        <p:nvSpPr>
          <p:cNvPr id="221" name="PlaceHolder 4"/>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5C32281-E4D7-47B7-A30B-7B218E947733}"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2025-12-05T11:51:08Z</dcterms:modified>
  <cp:revision>1</cp:revision>
  <dc:subject/>
  <dc:title/>
</cp:coreProperties>
</file>