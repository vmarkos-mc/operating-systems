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D15CA0E3-3B03-4F4C-B622-6F4A6A251722}"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ED52769A-31BA-4D39-B2EF-C1FF930D3E1E}"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6D58F34F-4812-4324-B73A-0944F62CD1F7}"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60F69DB8-618C-4C39-B68E-E97005FDA288}"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76A9404D-5470-4E1F-B5E6-34EE50BA2509}"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03354AED-FF3E-4605-AC7E-FC35A7A2B85D}"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316E01D6-3FDF-402A-81C3-58C611CFB34D}"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C427BE3A-656E-4BF0-850D-F9410FCEBFC5}"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0856950B-C7D3-4B27-B05C-A75F619A7240}"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C05C5212-9538-4C63-9713-1D01F4D580CD}"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F810BBFA-77A0-4188-8F34-CB7D1B3440EB}"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C92FF931-27D9-442C-AAD5-E1C2FEF4DD19}"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319D4C34-8928-4981-9283-C818A4594AD7}"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836EB89A-9B0E-4282-BD7F-023731DE2BC0}"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422EE10E-B763-4160-B87B-8626A9BBCCF2}"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83F4DBA5-C2A6-4871-8443-2CBDEAB5542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938E5560-1436-4AD8-81EF-7A59CECEEBFE}"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2FA22FCD-1E0E-49DD-A0A1-CD28257B4BEC}"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7ED7519D-1F1D-4017-B6B8-4489A76ABD14}"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CDB1C046-CC5E-4485-A46B-958BD8E750C7}"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453EEB30-913C-4A5B-86B1-500B9DE7158E}"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52CB19A6-BA87-4079-8F77-A135D7D408C3}"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03131570-657B-4AD1-A627-68358D1C5DC2}"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BF4FA129-A1AC-41E0-B4B2-B09E5169A125}"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25D8539C-D6C3-4E24-A968-F72E1C51D607}"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1647ACA9-860B-4731-A1F1-BAB8F070EBB8}"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DFF9A86A-4508-42F8-9A62-8E78E9F91621}"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B03916FC-17F3-47D6-B799-2D5B309B2C44}"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333CE54C-DEDA-4AEB-854C-D475BD5DDFE0}"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FE08AB7C-FE6E-47A8-84C8-B0FBB371AFD1}"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88947AA4-B56B-4D81-9D63-D3EDF7D4BC43}"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52C093A1-7FB3-40F8-A5B4-C33C24A3B80F}"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681AC58D-F327-4540-A5CD-42BDBACE5207}"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E182DFE9-FAC2-4D6B-A6CA-C30E61FAC20C}"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9D069C00-3CDA-4A81-821C-067F970DD3BC}"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7B8A9FBC-F7AD-4223-93D5-5787682FCE5C}"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034AE7F5-84D2-4177-8331-01CE96B11682}"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91955D3F-CE70-40C9-A9E7-B60E2EB93CB0}"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8F04D63E-5AE9-4140-B47B-BFB7DB98871D}"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641CBC9D-4A0C-44B3-92ED-049A17318D77}"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FBCDB706-2359-4ADD-8995-BD1AD1439AC7}"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6ACCA9D2-7EB8-414A-8225-DDC7DACA0B24}"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B8A52A9F-613D-4688-943C-B2230E8A013A}"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7A361334-5535-44FE-9677-84998DB523DA}"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BCC19ED5-C292-4BC7-B1EB-F33092ADE614}"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EE4E5000-2C7A-4C78-A5E0-E896F739C78F}"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70D40403-E08E-43D1-9D9B-AEB841B6DDA7}"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1F9CF68C-5CA3-4902-A1C9-4F3587C1D1C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28"/>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28"/>
          <p:cNvGrpSpPr/>
          <p:nvPr/>
        </p:nvGrpSpPr>
        <p:grpSpPr>
          <a:xfrm>
            <a:off x="530280" y="1205640"/>
            <a:ext cx="1342800" cy="17280"/>
            <a:chOff x="530280" y="1205640"/>
            <a:chExt cx="1342800" cy="17280"/>
          </a:xfrm>
        </p:grpSpPr>
        <p:sp>
          <p:nvSpPr>
            <p:cNvPr id="2" name="Google Shape;13;p28"/>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28"/>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15C5E44-2FC4-4CA6-9BBB-387DF5FCC1A8}"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28"/>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29"/>
          <p:cNvGrpSpPr/>
          <p:nvPr/>
        </p:nvGrpSpPr>
        <p:grpSpPr>
          <a:xfrm>
            <a:off x="530280" y="1205640"/>
            <a:ext cx="1342800" cy="17280"/>
            <a:chOff x="530280" y="1205640"/>
            <a:chExt cx="1342800" cy="17280"/>
          </a:xfrm>
        </p:grpSpPr>
        <p:sp>
          <p:nvSpPr>
            <p:cNvPr id="45" name="Google Shape;22;p29"/>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29"/>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E552E3D7-DAD9-4A68-9248-37D21BF7E9AF}"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30"/>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30"/>
          <p:cNvGrpSpPr/>
          <p:nvPr/>
        </p:nvGrpSpPr>
        <p:grpSpPr>
          <a:xfrm>
            <a:off x="530280" y="1205640"/>
            <a:ext cx="1342800" cy="17280"/>
            <a:chOff x="530280" y="1205640"/>
            <a:chExt cx="1342800" cy="17280"/>
          </a:xfrm>
        </p:grpSpPr>
        <p:sp>
          <p:nvSpPr>
            <p:cNvPr id="88" name="Google Shape;29;p30"/>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30"/>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9ABDBF0-A183-47F7-85D0-8AF501C2536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35;p31"/>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36;p31"/>
          <p:cNvGrpSpPr/>
          <p:nvPr/>
        </p:nvGrpSpPr>
        <p:grpSpPr>
          <a:xfrm>
            <a:off x="530280" y="1205640"/>
            <a:ext cx="1342800" cy="17280"/>
            <a:chOff x="530280" y="1205640"/>
            <a:chExt cx="1342800" cy="17280"/>
          </a:xfrm>
        </p:grpSpPr>
        <p:sp>
          <p:nvSpPr>
            <p:cNvPr id="131" name="Google Shape;37;p31"/>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8;p31"/>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C2B5047-A794-4AB5-86DA-07111C9B959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6.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3.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Operating Systems</a:t>
            </a:r>
            <a:br>
              <a:rPr sz="4200"/>
            </a:br>
            <a:r>
              <a:rPr b="0" lang="el" sz="1600" spc="-1" strike="noStrike">
                <a:solidFill>
                  <a:schemeClr val="accent1"/>
                </a:solidFill>
                <a:latin typeface="Lato"/>
                <a:ea typeface="Lato"/>
              </a:rPr>
              <a:t>IPC: Inter-processes Communication</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10</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Concurrency</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142989CB-D5B1-451B-8D82-F16F2FD56435}"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So Far</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So far we have explored the following IPC mechanisms: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Pipes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Shared Memory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Message Queues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Signals</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With all this machinery we have managed to solve a simple scenario of IPC between a parent and a forked child process.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How do all these manners compare?</a:t>
            </a:r>
            <a:endParaRPr b="0" lang="en-US" sz="160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8E5DF2C-D6B0-4E4A-9A2A-B09F09AC086E}"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79">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t>
            </a:r>
            <a:r>
              <a:rPr b="1" lang="el" sz="2600" spc="-1" strike="noStrike">
                <a:solidFill>
                  <a:schemeClr val="dk2"/>
                </a:solidFill>
                <a:latin typeface="Lato"/>
                <a:ea typeface="Lato"/>
              </a:rPr>
              <a:t>ha</a:t>
            </a:r>
            <a:r>
              <a:rPr b="1" lang="el" sz="2600" spc="-1" strike="noStrike">
                <a:solidFill>
                  <a:schemeClr val="dk2"/>
                </a:solidFill>
                <a:latin typeface="Lato"/>
                <a:ea typeface="Lato"/>
              </a:rPr>
              <a:t>t </a:t>
            </a:r>
            <a:r>
              <a:rPr b="1" lang="el" sz="2600" spc="-1" strike="noStrike">
                <a:solidFill>
                  <a:schemeClr val="dk2"/>
                </a:solidFill>
                <a:latin typeface="Lato"/>
                <a:ea typeface="Lato"/>
              </a:rPr>
              <a:t>W</a:t>
            </a:r>
            <a:r>
              <a:rPr b="1" lang="el" sz="2600" spc="-1" strike="noStrike">
                <a:solidFill>
                  <a:schemeClr val="dk2"/>
                </a:solidFill>
                <a:latin typeface="Lato"/>
                <a:ea typeface="Lato"/>
              </a:rPr>
              <a:t>ill </a:t>
            </a:r>
            <a:r>
              <a:rPr b="1" lang="el" sz="2600" spc="-1" strike="noStrike">
                <a:solidFill>
                  <a:schemeClr val="dk2"/>
                </a:solidFill>
                <a:latin typeface="Lato"/>
                <a:ea typeface="Lato"/>
              </a:rPr>
              <a:t>T</a:t>
            </a:r>
            <a:r>
              <a:rPr b="1" lang="el" sz="2600" spc="-1" strike="noStrike">
                <a:solidFill>
                  <a:schemeClr val="dk2"/>
                </a:solidFill>
                <a:latin typeface="Lato"/>
                <a:ea typeface="Lato"/>
              </a:rPr>
              <a:t>hi</a:t>
            </a:r>
            <a:r>
              <a:rPr b="1" lang="el" sz="2600" spc="-1" strike="noStrike">
                <a:solidFill>
                  <a:schemeClr val="dk2"/>
                </a:solidFill>
                <a:latin typeface="Lato"/>
                <a:ea typeface="Lato"/>
              </a:rPr>
              <a:t>s </a:t>
            </a:r>
            <a:r>
              <a:rPr b="1" lang="el" sz="2600" spc="-1" strike="noStrike">
                <a:solidFill>
                  <a:schemeClr val="dk2"/>
                </a:solidFill>
                <a:latin typeface="Lato"/>
                <a:ea typeface="Lato"/>
              </a:rPr>
              <a:t>Pr</a:t>
            </a:r>
            <a:r>
              <a:rPr b="1" lang="el" sz="2600" spc="-1" strike="noStrike">
                <a:solidFill>
                  <a:schemeClr val="dk2"/>
                </a:solidFill>
                <a:latin typeface="Lato"/>
                <a:ea typeface="Lato"/>
              </a:rPr>
              <a:t>in</a:t>
            </a:r>
            <a:r>
              <a:rPr b="1" lang="el" sz="2600" spc="-1" strike="noStrike">
                <a:solidFill>
                  <a:schemeClr val="dk2"/>
                </a:solidFill>
                <a:latin typeface="Lato"/>
                <a:ea typeface="Lato"/>
              </a:rPr>
              <a:t>t?</a:t>
            </a:r>
            <a:endParaRPr b="0" lang="en-US" sz="2600" spc="-1" strike="noStrike">
              <a:solidFill>
                <a:srgbClr val="000000"/>
              </a:solidFill>
              <a:latin typeface="Arial"/>
            </a:endParaRPr>
          </a:p>
        </p:txBody>
      </p:sp>
      <p:sp>
        <p:nvSpPr>
          <p:cNvPr id="182" name="PlaceHolder 2"/>
          <p:cNvSpPr>
            <a:spLocks noGrp="1"/>
          </p:cNvSpPr>
          <p:nvPr>
            <p:ph/>
          </p:nvPr>
        </p:nvSpPr>
        <p:spPr>
          <a:xfrm>
            <a:off x="729360" y="1378080"/>
            <a:ext cx="3842280" cy="3764880"/>
          </a:xfrm>
          <a:prstGeom prst="rect">
            <a:avLst/>
          </a:prstGeom>
          <a:noFill/>
          <a:ln w="0">
            <a:noFill/>
          </a:ln>
        </p:spPr>
        <p:txBody>
          <a:bodyPr tIns="91440" bIns="91440" anchor="t">
            <a:normAutofit fontScale="72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&lt;sys/ipc.h&gt;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&lt;sys/shm.h&gt;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SHM_KEY </a:t>
            </a:r>
            <a:r>
              <a:rPr b="0" lang="el" sz="1050" spc="-1" strike="noStrike">
                <a:solidFill>
                  <a:srgbClr val="098658"/>
                </a:solidFill>
                <a:highlight>
                  <a:srgbClr val="ffffff"/>
                </a:highlight>
                <a:latin typeface="Courier New"/>
                <a:ea typeface="Courier New"/>
              </a:rPr>
              <a:t>1234</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SHM_SIZE sizeof(int)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Create a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SHM_KEY</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SHM_SIZE</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IPC_CREAT</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0666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Attach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r>
              <a:rPr b="0" lang="el" sz="1050" spc="-1" strike="noStrike">
                <a:solidFill>
                  <a:srgbClr val="795e26"/>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3"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0907BF4-F5EE-46BE-9CC0-413279FF11DF}"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
        <p:nvSpPr>
          <p:cNvPr id="184" name="PlaceHolder 4"/>
          <p:cNvSpPr>
            <a:spLocks noGrp="1"/>
          </p:cNvSpPr>
          <p:nvPr>
            <p:ph/>
          </p:nvPr>
        </p:nvSpPr>
        <p:spPr>
          <a:xfrm>
            <a:off x="4572000" y="1378080"/>
            <a:ext cx="3842280" cy="3764880"/>
          </a:xfrm>
          <a:prstGeom prst="rect">
            <a:avLst/>
          </a:prstGeom>
          <a:noFill/>
          <a:ln w="0">
            <a:noFill/>
          </a:ln>
        </p:spPr>
        <p:txBody>
          <a:bodyPr tIns="91440" bIns="91440" anchor="t">
            <a:normAutofit fontScale="76000"/>
          </a:bodyPr>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 ==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1000000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1000000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"Final counter value: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Detach and remove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shmdt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shmctl</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IPC_RMID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Well…</a:t>
            </a:r>
            <a:endParaRPr b="0" lang="en-US" sz="2600" spc="-1" strike="noStrike">
              <a:solidFill>
                <a:srgbClr val="000000"/>
              </a:solidFill>
              <a:latin typeface="Arial"/>
            </a:endParaRPr>
          </a:p>
        </p:txBody>
      </p:sp>
      <p:sp>
        <p:nvSpPr>
          <p:cNvPr id="18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Try to run the previous program a few times (say, 10).</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do you observe?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Why does this happen?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Can you solve this issue and achieve the intended behaviour?</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If yes, how?</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If no, why?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Take up some time to address this problem.</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How does your solution work?</a:t>
            </a:r>
            <a:endParaRPr b="0" lang="en-US" sz="1600" spc="-1" strike="noStrike">
              <a:solidFill>
                <a:srgbClr val="000000"/>
              </a:solidFill>
              <a:latin typeface="Arial"/>
            </a:endParaRPr>
          </a:p>
        </p:txBody>
      </p:sp>
      <p:sp>
        <p:nvSpPr>
          <p:cNvPr id="187"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8AF138C-0CCB-4258-B76A-FDA36B414A98}"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18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186">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186">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186">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86">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86">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186">
                                            <p:txEl>
                                              <p:pRg st="6" end="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186">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a:t>
            </a:r>
            <a:r>
              <a:rPr b="1" lang="el" sz="2600" spc="-1" strike="noStrike">
                <a:solidFill>
                  <a:schemeClr val="dk2"/>
                </a:solidFill>
                <a:latin typeface="Lato"/>
                <a:ea typeface="Lato"/>
              </a:rPr>
              <a:t>Ty</a:t>
            </a:r>
            <a:r>
              <a:rPr b="1" lang="el" sz="2600" spc="-1" strike="noStrike">
                <a:solidFill>
                  <a:schemeClr val="dk2"/>
                </a:solidFill>
                <a:latin typeface="Lato"/>
                <a:ea typeface="Lato"/>
              </a:rPr>
              <a:t>pi</a:t>
            </a:r>
            <a:r>
              <a:rPr b="1" lang="el" sz="2600" spc="-1" strike="noStrike">
                <a:solidFill>
                  <a:schemeClr val="dk2"/>
                </a:solidFill>
                <a:latin typeface="Lato"/>
                <a:ea typeface="Lato"/>
              </a:rPr>
              <a:t>ca</a:t>
            </a:r>
            <a:r>
              <a:rPr b="1" lang="el" sz="2600" spc="-1" strike="noStrike">
                <a:solidFill>
                  <a:schemeClr val="dk2"/>
                </a:solidFill>
                <a:latin typeface="Lato"/>
                <a:ea typeface="Lato"/>
              </a:rPr>
              <a:t>l </a:t>
            </a:r>
            <a:r>
              <a:rPr b="1" lang="el" sz="2600" spc="-1" strike="noStrike">
                <a:solidFill>
                  <a:schemeClr val="dk2"/>
                </a:solidFill>
                <a:latin typeface="Lato"/>
                <a:ea typeface="Lato"/>
              </a:rPr>
              <a:t>O</a:t>
            </a:r>
            <a:r>
              <a:rPr b="1" lang="el" sz="2600" spc="-1" strike="noStrike">
                <a:solidFill>
                  <a:schemeClr val="dk2"/>
                </a:solidFill>
                <a:latin typeface="Lato"/>
                <a:ea typeface="Lato"/>
              </a:rPr>
              <a:t>ut</a:t>
            </a:r>
            <a:r>
              <a:rPr b="1" lang="el" sz="2600" spc="-1" strike="noStrike">
                <a:solidFill>
                  <a:schemeClr val="dk2"/>
                </a:solidFill>
                <a:latin typeface="Lato"/>
                <a:ea typeface="Lato"/>
              </a:rPr>
              <a:t>p</a:t>
            </a:r>
            <a:r>
              <a:rPr b="1" lang="el" sz="2600" spc="-1" strike="noStrike">
                <a:solidFill>
                  <a:schemeClr val="dk2"/>
                </a:solidFill>
                <a:latin typeface="Lato"/>
                <a:ea typeface="Lato"/>
              </a:rPr>
              <a:t>ut</a:t>
            </a:r>
            <a:endParaRPr b="0" lang="en-US" sz="2600" spc="-1" strike="noStrike">
              <a:solidFill>
                <a:srgbClr val="000000"/>
              </a:solidFill>
              <a:latin typeface="Arial"/>
            </a:endParaRPr>
          </a:p>
        </p:txBody>
      </p:sp>
      <p:sp>
        <p:nvSpPr>
          <p:cNvPr id="189" name="PlaceHolder 2"/>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20C369A-4A05-421E-ABF6-5DB1171D97F7}"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pic>
        <p:nvPicPr>
          <p:cNvPr id="190" name="Google Shape;154;p6" descr=""/>
          <p:cNvPicPr/>
          <p:nvPr/>
        </p:nvPicPr>
        <p:blipFill>
          <a:blip r:embed="rId1"/>
          <a:stretch/>
        </p:blipFill>
        <p:spPr>
          <a:xfrm>
            <a:off x="1820520" y="1259640"/>
            <a:ext cx="5502600" cy="37310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The Critical Section Problem</a:t>
            </a:r>
            <a:endParaRPr b="0" lang="en-US" sz="2600" spc="-1" strike="noStrike">
              <a:solidFill>
                <a:srgbClr val="000000"/>
              </a:solidFill>
              <a:latin typeface="Arial"/>
            </a:endParaRPr>
          </a:p>
        </p:txBody>
      </p:sp>
      <p:sp>
        <p:nvSpPr>
          <p:cNvPr id="19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In concurrent programming, a </a:t>
            </a:r>
            <a:r>
              <a:rPr b="1" lang="el" sz="1600" spc="-1" strike="noStrike">
                <a:solidFill>
                  <a:schemeClr val="accent1"/>
                </a:solidFill>
                <a:latin typeface="Lato"/>
                <a:ea typeface="Lato"/>
              </a:rPr>
              <a:t>critical section</a:t>
            </a:r>
            <a:r>
              <a:rPr b="0" lang="el" sz="1600" spc="-1" strike="noStrike">
                <a:solidFill>
                  <a:schemeClr val="accent1"/>
                </a:solidFill>
                <a:latin typeface="Lato"/>
                <a:ea typeface="Lato"/>
              </a:rPr>
              <a:t> is a code segment that accesses a shared resource. When multiple processes or threads try to access the same shared resource concurrently, it can lead to race conditions and unpredictable behavior. This is known as the critical section problem.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 </a:t>
            </a:r>
            <a:r>
              <a:rPr b="1" lang="el" sz="1600" spc="-1" strike="noStrike">
                <a:solidFill>
                  <a:schemeClr val="accent1"/>
                </a:solidFill>
                <a:latin typeface="Lato"/>
                <a:ea typeface="Lato"/>
              </a:rPr>
              <a:t>race condition</a:t>
            </a:r>
            <a:r>
              <a:rPr b="0" lang="el" sz="1600" spc="-1" strike="noStrike">
                <a:solidFill>
                  <a:schemeClr val="accent1"/>
                </a:solidFill>
                <a:latin typeface="Lato"/>
                <a:ea typeface="Lato"/>
              </a:rPr>
              <a:t> occurs when the outcome of a program depends on the timing of events. In the context of shared resources, it can lead to data corruption, incorrect results, or system crashes.</a:t>
            </a:r>
            <a:endParaRPr b="0" lang="en-US" sz="1600" spc="-1" strike="noStrike">
              <a:solidFill>
                <a:srgbClr val="000000"/>
              </a:solidFill>
              <a:latin typeface="Arial"/>
            </a:endParaRPr>
          </a:p>
        </p:txBody>
      </p:sp>
      <p:sp>
        <p:nvSpPr>
          <p:cNvPr id="193"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FBF65D1-3A45-4628-9E86-D8BEB01A9FA6}"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192">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192">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Atomic Instructions</a:t>
            </a:r>
            <a:endParaRPr b="0" lang="en-US" sz="2600" spc="-1" strike="noStrike">
              <a:solidFill>
                <a:srgbClr val="000000"/>
              </a:solidFill>
              <a:latin typeface="Arial"/>
            </a:endParaRPr>
          </a:p>
        </p:txBody>
      </p:sp>
      <p:sp>
        <p:nvSpPr>
          <p:cNvPr id="19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In the realm of concurrent programming, </a:t>
            </a:r>
            <a:r>
              <a:rPr b="1" lang="el" sz="1600" spc="-1" strike="noStrike">
                <a:solidFill>
                  <a:schemeClr val="accent1"/>
                </a:solidFill>
                <a:latin typeface="Lato"/>
                <a:ea typeface="Lato"/>
              </a:rPr>
              <a:t>atomic instructions</a:t>
            </a:r>
            <a:r>
              <a:rPr b="0" lang="el" sz="1600" spc="-1" strike="noStrike">
                <a:solidFill>
                  <a:schemeClr val="accent1"/>
                </a:solidFill>
                <a:latin typeface="Lato"/>
                <a:ea typeface="Lato"/>
              </a:rPr>
              <a:t> are fundamental operations that </a:t>
            </a:r>
            <a:r>
              <a:rPr b="1" lang="el" sz="1600" spc="-1" strike="noStrike">
                <a:solidFill>
                  <a:schemeClr val="accent1"/>
                </a:solidFill>
                <a:latin typeface="Lato"/>
                <a:ea typeface="Lato"/>
              </a:rPr>
              <a:t>execute indivisibly.</a:t>
            </a:r>
            <a:r>
              <a:rPr b="0" lang="el" sz="1600" spc="-1" strike="noStrike">
                <a:solidFill>
                  <a:schemeClr val="accent1"/>
                </a:solidFill>
                <a:latin typeface="Lato"/>
                <a:ea typeface="Lato"/>
              </a:rPr>
              <a:t> This means that once an atomic instruction starts, it cannot be interrupted by another process or thread until it completes. This property is crucial for ensuring data consistency and preventing race conditions.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 essentially, an atomic instruction (or atomic operation) is any operation within a process that cannot be interrupted by another process (or whatever).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Can you think of some atomic instructions?</a:t>
            </a:r>
            <a:endParaRPr b="0" lang="en-US" sz="1600" spc="-1" strike="noStrike">
              <a:solidFill>
                <a:srgbClr val="000000"/>
              </a:solidFill>
              <a:latin typeface="Arial"/>
            </a:endParaRPr>
          </a:p>
        </p:txBody>
      </p:sp>
      <p:sp>
        <p:nvSpPr>
          <p:cNvPr id="196"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B77B9F-EB45-4834-B521-C31142DA9075}"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75" dur="indefinite" restart="never" nodeType="tmRoot">
          <p:childTnLst>
            <p:seq>
              <p:cTn id="76" dur="indefinite" nodeType="mainSeq">
                <p:childTnLst>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195">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19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Common Atomic </a:t>
            </a:r>
            <a:r>
              <a:rPr b="1" lang="el" sz="2600" spc="-1" strike="noStrike">
                <a:solidFill>
                  <a:schemeClr val="dk2"/>
                </a:solidFill>
                <a:latin typeface="Lato"/>
                <a:ea typeface="Lato"/>
              </a:rPr>
              <a:t>Operations</a:t>
            </a:r>
            <a:endParaRPr b="0" lang="en-US" sz="2600" spc="-1" strike="noStrike">
              <a:solidFill>
                <a:srgbClr val="000000"/>
              </a:solidFill>
              <a:latin typeface="Arial"/>
            </a:endParaRPr>
          </a:p>
        </p:txBody>
      </p:sp>
      <p:sp>
        <p:nvSpPr>
          <p:cNvPr id="198" name="PlaceHolder 2"/>
          <p:cNvSpPr>
            <a:spLocks noGrp="1"/>
          </p:cNvSpPr>
          <p:nvPr>
            <p:ph/>
          </p:nvPr>
        </p:nvSpPr>
        <p:spPr>
          <a:xfrm>
            <a:off x="729360" y="1378080"/>
            <a:ext cx="7688520" cy="376488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1" lang="el" sz="1600" spc="-1" strike="noStrike">
                <a:solidFill>
                  <a:schemeClr val="accent1"/>
                </a:solidFill>
                <a:latin typeface="Lato"/>
                <a:ea typeface="Lato"/>
              </a:rPr>
              <a:t>Read-Modify-Write Operations:</a:t>
            </a:r>
            <a:r>
              <a:rPr b="0" lang="el" sz="1600" spc="-1" strike="noStrike">
                <a:solidFill>
                  <a:schemeClr val="accent1"/>
                </a:solidFill>
                <a:latin typeface="Lato"/>
                <a:ea typeface="Lato"/>
              </a:rPr>
              <a:t> These operations read a value from memory, modify it, and write it back in a single atomic step. Examples include:</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Incrementing or decrementing a value</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Setting or clearing a flag</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Swapping values between two memory locations</a:t>
            </a:r>
            <a:endParaRPr b="0" lang="en-US" sz="1600" spc="-1" strike="noStrike">
              <a:solidFill>
                <a:srgbClr val="000000"/>
              </a:solidFill>
              <a:latin typeface="Arial"/>
            </a:endParaRPr>
          </a:p>
          <a:p>
            <a:pPr marL="447840" indent="-323280">
              <a:lnSpc>
                <a:spcPct val="115000"/>
              </a:lnSpc>
              <a:buClr>
                <a:srgbClr val="595959"/>
              </a:buClr>
              <a:buFont typeface="Lato"/>
              <a:buChar char="●"/>
            </a:pPr>
            <a:r>
              <a:rPr b="1" lang="el" sz="1600" spc="-1" strike="noStrike">
                <a:solidFill>
                  <a:schemeClr val="accent1"/>
                </a:solidFill>
                <a:latin typeface="Lato"/>
                <a:ea typeface="Lato"/>
              </a:rPr>
              <a:t>Compare-and-Swap (CAS):</a:t>
            </a:r>
            <a:r>
              <a:rPr b="0" lang="el" sz="1600" spc="-1" strike="noStrike">
                <a:solidFill>
                  <a:schemeClr val="accent1"/>
                </a:solidFill>
                <a:latin typeface="Lato"/>
                <a:ea typeface="Lato"/>
              </a:rPr>
              <a:t> This operation compares a value in memory with a given value and, if they match, atomically replaces the value in memory with a new value.</a:t>
            </a:r>
            <a:endParaRPr b="0" lang="en-US" sz="1600" spc="-1" strike="noStrike">
              <a:solidFill>
                <a:srgbClr val="000000"/>
              </a:solidFill>
              <a:latin typeface="Arial"/>
            </a:endParaRPr>
          </a:p>
          <a:p>
            <a:pPr marL="447840" indent="-323280">
              <a:lnSpc>
                <a:spcPct val="115000"/>
              </a:lnSpc>
              <a:buClr>
                <a:srgbClr val="595959"/>
              </a:buClr>
              <a:buFont typeface="Lato"/>
              <a:buChar char="●"/>
            </a:pPr>
            <a:r>
              <a:rPr b="1" lang="el" sz="1600" spc="-1" strike="noStrike">
                <a:solidFill>
                  <a:schemeClr val="accent1"/>
                </a:solidFill>
                <a:latin typeface="Lato"/>
                <a:ea typeface="Lato"/>
              </a:rPr>
              <a:t>Load-Linked/Store-Conditional (LL/SC):</a:t>
            </a:r>
            <a:r>
              <a:rPr b="0" lang="el" sz="1600" spc="-1" strike="noStrike">
                <a:solidFill>
                  <a:schemeClr val="accent1"/>
                </a:solidFill>
                <a:latin typeface="Lato"/>
                <a:ea typeface="Lato"/>
              </a:rPr>
              <a:t> This operation involves two instructions:</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Load-Linked: Reads a value from memory and sets a flag.</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Store-Conditional: Stores a new value to the same memory location only if the flag is still set. If the flag is cleared by another process, the store fails.</a:t>
            </a:r>
            <a:endParaRPr b="0" lang="en-US" sz="1600" spc="-1" strike="noStrike">
              <a:solidFill>
                <a:srgbClr val="000000"/>
              </a:solidFill>
              <a:latin typeface="Arial"/>
            </a:endParaRPr>
          </a:p>
        </p:txBody>
      </p:sp>
      <p:sp>
        <p:nvSpPr>
          <p:cNvPr id="199"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2EEBF87-9259-4A64-B837-96B6411613F1}"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89" dur="indefinite" restart="never" nodeType="tmRoot">
          <p:childTnLst>
            <p:seq>
              <p:cTn id="90" dur="indefinite" nodeType="mainSeq">
                <p:childTnLst>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198">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nodeType="clickEffect" fill="hold" presetClass="entr" presetID="1">
                                  <p:stCondLst>
                                    <p:cond delay="0"/>
                                  </p:stCondLst>
                                  <p:childTnLst>
                                    <p:set>
                                      <p:cBhvr>
                                        <p:cTn id="98" dur="1" fill="hold">
                                          <p:stCondLst>
                                            <p:cond delay="0"/>
                                          </p:stCondLst>
                                        </p:cTn>
                                        <p:tgtEl>
                                          <p:spTgt spid="198">
                                            <p:txEl>
                                              <p:pRg st="1" end="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nodeType="clickEffect" fill="hold" presetClass="entr" presetID="1">
                                  <p:stCondLst>
                                    <p:cond delay="0"/>
                                  </p:stCondLst>
                                  <p:childTnLst>
                                    <p:set>
                                      <p:cBhvr>
                                        <p:cTn id="102" dur="1" fill="hold">
                                          <p:stCondLst>
                                            <p:cond delay="0"/>
                                          </p:stCondLst>
                                        </p:cTn>
                                        <p:tgtEl>
                                          <p:spTgt spid="198">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198">
                                            <p:txEl>
                                              <p:pRg st="3" end="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198">
                                            <p:txEl>
                                              <p:pRg st="4" end="4"/>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198">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198">
                                            <p:txEl>
                                              <p:pRg st="6" end="6"/>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
                                  <p:stCondLst>
                                    <p:cond delay="0"/>
                                  </p:stCondLst>
                                  <p:childTnLst>
                                    <p:set>
                                      <p:cBhvr>
                                        <p:cTn id="122" dur="1" fill="hold">
                                          <p:stCondLst>
                                            <p:cond delay="0"/>
                                          </p:stCondLst>
                                        </p:cTn>
                                        <p:tgtEl>
                                          <p:spTgt spid="198">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Does This </a:t>
            </a:r>
            <a:r>
              <a:rPr b="1" lang="el" sz="2600" spc="-1" strike="noStrike">
                <a:solidFill>
                  <a:schemeClr val="dk2"/>
                </a:solidFill>
                <a:latin typeface="Lato"/>
                <a:ea typeface="Lato"/>
              </a:rPr>
              <a:t>Matter?</a:t>
            </a:r>
            <a:endParaRPr b="0" lang="en-US" sz="2600" spc="-1" strike="noStrike">
              <a:solidFill>
                <a:srgbClr val="000000"/>
              </a:solidFill>
              <a:latin typeface="Arial"/>
            </a:endParaRPr>
          </a:p>
        </p:txBody>
      </p:sp>
      <p:sp>
        <p:nvSpPr>
          <p:cNvPr id="20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Preventing Race Conditions:</a:t>
            </a:r>
            <a:r>
              <a:rPr b="0" lang="el" sz="1600" spc="-1" strike="noStrike">
                <a:solidFill>
                  <a:schemeClr val="accent1"/>
                </a:solidFill>
                <a:latin typeface="Lato"/>
                <a:ea typeface="Lato"/>
              </a:rPr>
              <a:t> By ensuring that operations are atomic, we can avoid situations where multiple processes or threads access and modify shared data simultaneously, leading to unpredictable results.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Guaranteeing Data Integrity:</a:t>
            </a:r>
            <a:r>
              <a:rPr b="0" lang="el" sz="1600" spc="-1" strike="noStrike">
                <a:solidFill>
                  <a:schemeClr val="accent1"/>
                </a:solidFill>
                <a:latin typeface="Lato"/>
                <a:ea typeface="Lato"/>
              </a:rPr>
              <a:t> Atomic operations guarantee that data is updated correctly, even in the presence of concurrent access.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Simplifying Concurrent Programming:</a:t>
            </a:r>
            <a:r>
              <a:rPr b="0" lang="el" sz="1600" spc="-1" strike="noStrike">
                <a:solidFill>
                  <a:schemeClr val="accent1"/>
                </a:solidFill>
                <a:latin typeface="Lato"/>
                <a:ea typeface="Lato"/>
              </a:rPr>
              <a:t> Atomic instructions can significantly simplify the design and implementation of concurrent algorithms.</a:t>
            </a:r>
            <a:endParaRPr b="0" lang="en-US" sz="1600" spc="-1" strike="noStrike">
              <a:solidFill>
                <a:srgbClr val="000000"/>
              </a:solidFill>
              <a:latin typeface="Arial"/>
            </a:endParaRPr>
          </a:p>
        </p:txBody>
      </p:sp>
      <p:sp>
        <p:nvSpPr>
          <p:cNvPr id="202"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1C635FB-3123-47B0-80F0-860176763E43}"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201">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Does This Solve It?</a:t>
            </a:r>
            <a:endParaRPr b="0" lang="en-US" sz="2600" spc="-1" strike="noStrike">
              <a:solidFill>
                <a:srgbClr val="000000"/>
              </a:solidFill>
              <a:latin typeface="Arial"/>
            </a:endParaRPr>
          </a:p>
        </p:txBody>
      </p:sp>
      <p:sp>
        <p:nvSpPr>
          <p:cNvPr id="204" name="PlaceHolder 2"/>
          <p:cNvSpPr>
            <a:spLocks noGrp="1"/>
          </p:cNvSpPr>
          <p:nvPr>
            <p:ph/>
          </p:nvPr>
        </p:nvSpPr>
        <p:spPr>
          <a:xfrm>
            <a:off x="729360" y="1378080"/>
            <a:ext cx="3842280" cy="3764880"/>
          </a:xfrm>
          <a:prstGeom prst="rect">
            <a:avLst/>
          </a:prstGeom>
          <a:noFill/>
          <a:ln w="0">
            <a:noFill/>
          </a:ln>
        </p:spPr>
        <p:txBody>
          <a:bodyPr tIns="91440" bIns="91440" anchor="t">
            <a:normAutofit fontScale="52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&lt;sys/ipc.h&gt;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&lt;sys/shm.h&gt;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typedef</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shared_int</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shared_int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SHM_KEY </a:t>
            </a:r>
            <a:r>
              <a:rPr b="0" lang="el" sz="1050" spc="-1" strike="noStrike">
                <a:solidFill>
                  <a:srgbClr val="098658"/>
                </a:solidFill>
                <a:highlight>
                  <a:srgbClr val="ffffff"/>
                </a:highlight>
                <a:latin typeface="Courier New"/>
                <a:ea typeface="Courier New"/>
              </a:rPr>
              <a:t>1234</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SHM_SIZE sizeof(</a:t>
            </a:r>
            <a:r>
              <a:rPr b="0" lang="el" sz="1050" spc="-1" strike="noStrike">
                <a:solidFill>
                  <a:srgbClr val="267f99"/>
                </a:solidFill>
                <a:highlight>
                  <a:srgbClr val="ffffff"/>
                </a:highlight>
                <a:latin typeface="Courier New"/>
                <a:ea typeface="Courier New"/>
              </a:rPr>
              <a:t>shared_int</a:t>
            </a:r>
            <a:r>
              <a:rPr b="0" lang="el" sz="1050" spc="-1" strike="noStrike">
                <a:solidFill>
                  <a:srgbClr val="0000ff"/>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shared_int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Create a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SHM_KEY</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SHM_SIZE</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IPC_CREAT</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0666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"shmget"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Attach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 = (</a:t>
            </a:r>
            <a:r>
              <a:rPr b="0" lang="el" sz="1050" spc="-1" strike="noStrike">
                <a:solidFill>
                  <a:srgbClr val="267f99"/>
                </a:solidFill>
                <a:highlight>
                  <a:srgbClr val="ffffff"/>
                </a:highlight>
                <a:latin typeface="Courier New"/>
                <a:ea typeface="Courier New"/>
              </a:rPr>
              <a:t>shared_int</a:t>
            </a:r>
            <a:r>
              <a:rPr b="0" lang="el" sz="1050" spc="-1" strike="noStrike">
                <a:solidFill>
                  <a:srgbClr val="000000"/>
                </a:solidFill>
                <a:highlight>
                  <a:srgbClr val="ffffff"/>
                </a:highlight>
                <a:latin typeface="Courier New"/>
                <a:ea typeface="Courier New"/>
              </a:rPr>
              <a:t>*)</a:t>
            </a:r>
            <a:r>
              <a:rPr b="0" lang="el" sz="1050" spc="-1" strike="noStrike">
                <a:solidFill>
                  <a:srgbClr val="795e26"/>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 == (</a:t>
            </a:r>
            <a:r>
              <a:rPr b="0" lang="el" sz="1050" spc="-1" strike="noStrike">
                <a:solidFill>
                  <a:srgbClr val="267f99"/>
                </a:solidFill>
                <a:highlight>
                  <a:srgbClr val="ffffff"/>
                </a:highlight>
                <a:latin typeface="Courier New"/>
                <a:ea typeface="Courier New"/>
              </a:rPr>
              <a:t>shared_int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"shmat"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05"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75DFEC7-14EA-45AE-935F-D22E848265AA}"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
        <p:nvSpPr>
          <p:cNvPr id="206" name="PlaceHolder 4"/>
          <p:cNvSpPr>
            <a:spLocks noGrp="1"/>
          </p:cNvSpPr>
          <p:nvPr>
            <p:ph/>
          </p:nvPr>
        </p:nvSpPr>
        <p:spPr>
          <a:xfrm>
            <a:off x="4572000" y="1378080"/>
            <a:ext cx="3842280" cy="3764880"/>
          </a:xfrm>
          <a:prstGeom prst="rect">
            <a:avLst/>
          </a:prstGeom>
          <a:noFill/>
          <a:ln w="0">
            <a:noFill/>
          </a:ln>
        </p:spPr>
        <p:txBody>
          <a:bodyPr tIns="91440" bIns="91440" anchor="t">
            <a:normAutofit fontScale="62000"/>
          </a:bodyPr>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 (turn ==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1000000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while</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continue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 (turn == 0)</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for</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1000000</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while</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continue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turn</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"Final counter value: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-&gt;</a:t>
            </a:r>
            <a:r>
              <a:rPr b="0" lang="el" sz="1050" spc="-1" strike="noStrike">
                <a:solidFill>
                  <a:srgbClr val="001080"/>
                </a:solidFill>
                <a:highlight>
                  <a:srgbClr val="ffffff"/>
                </a:highlight>
                <a:latin typeface="Courier New"/>
                <a:ea typeface="Courier New"/>
              </a:rPr>
              <a:t>i</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Detach and remove the shared memory segment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shmdt</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counter</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shmctl</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shmid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IPC_RMID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Typical Output</a:t>
            </a:r>
            <a:endParaRPr b="0" lang="en-US" sz="2600" spc="-1" strike="noStrike">
              <a:solidFill>
                <a:srgbClr val="000000"/>
              </a:solidFill>
              <a:latin typeface="Arial"/>
            </a:endParaRPr>
          </a:p>
        </p:txBody>
      </p:sp>
      <p:sp>
        <p:nvSpPr>
          <p:cNvPr id="208" name="PlaceHolder 2"/>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BF61303-25C7-4101-8757-D9CB62F12963}"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pic>
        <p:nvPicPr>
          <p:cNvPr id="209" name="Google Shape;197;p12" descr=""/>
          <p:cNvPicPr/>
          <p:nvPr/>
        </p:nvPicPr>
        <p:blipFill>
          <a:blip r:embed="rId1"/>
          <a:stretch/>
        </p:blipFill>
        <p:spPr>
          <a:xfrm>
            <a:off x="1820520" y="1252440"/>
            <a:ext cx="5502600" cy="37310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Troubles In Paradise…</a:t>
            </a:r>
            <a:endParaRPr b="0" lang="en-US" sz="2600" spc="-1" strike="noStrike">
              <a:solidFill>
                <a:srgbClr val="000000"/>
              </a:solidFill>
              <a:latin typeface="Arial"/>
            </a:endParaRPr>
          </a:p>
        </p:txBody>
      </p:sp>
      <p:sp>
        <p:nvSpPr>
          <p:cNvPr id="21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Open source/racing_003.c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is the difference from source/racing_002.c?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How does this affect the execution of our program?</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Run it to find out!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does actually happen in this case?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Think of a more realistic scenario that corresponds to this case.</a:t>
            </a:r>
            <a:endParaRPr b="0" lang="en-US" sz="1600" spc="-1" strike="noStrike">
              <a:solidFill>
                <a:srgbClr val="000000"/>
              </a:solidFill>
              <a:latin typeface="Arial"/>
            </a:endParaRPr>
          </a:p>
        </p:txBody>
      </p:sp>
      <p:sp>
        <p:nvSpPr>
          <p:cNvPr id="212"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8CFEBCD-C290-4CDB-B492-758A2E987767}"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37" dur="indefinite" restart="never" nodeType="tmRoot">
          <p:childTnLst>
            <p:seq>
              <p:cTn id="138" dur="indefinite" nodeType="mainSeq">
                <p:childTnLst>
                  <p:par>
                    <p:cTn id="139" fill="hold">
                      <p:stCondLst>
                        <p:cond delay="indefinite"/>
                      </p:stCondLst>
                      <p:childTnLst>
                        <p:par>
                          <p:cTn id="140" fill="hold">
                            <p:stCondLst>
                              <p:cond delay="0"/>
                            </p:stCondLst>
                            <p:childTnLst>
                              <p:par>
                                <p:cTn id="141" nodeType="clickEffect" fill="hold" presetClass="entr" presetID="1">
                                  <p:stCondLst>
                                    <p:cond delay="0"/>
                                  </p:stCondLst>
                                  <p:childTnLst>
                                    <p:set>
                                      <p:cBhvr>
                                        <p:cTn id="142"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nodeType="clickEffect" fill="hold" presetClass="entr" presetID="1">
                                  <p:stCondLst>
                                    <p:cond delay="0"/>
                                  </p:stCondLst>
                                  <p:childTnLst>
                                    <p:set>
                                      <p:cBhvr>
                                        <p:cTn id="146"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nodeType="clickEffect" fill="hold" presetClass="entr" presetID="1">
                                  <p:stCondLst>
                                    <p:cond delay="0"/>
                                  </p:stCondLst>
                                  <p:childTnLst>
                                    <p:set>
                                      <p:cBhvr>
                                        <p:cTn id="150"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211">
                                            <p:txEl>
                                              <p:pRg st="3" end="3"/>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211">
                                            <p:txEl>
                                              <p:pRg st="4" end="4"/>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211">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Starvation</a:t>
            </a:r>
            <a:endParaRPr b="0" lang="en-US" sz="2600" spc="-1" strike="noStrike">
              <a:solidFill>
                <a:srgbClr val="000000"/>
              </a:solidFill>
              <a:latin typeface="Arial"/>
            </a:endParaRPr>
          </a:p>
        </p:txBody>
      </p:sp>
      <p:sp>
        <p:nvSpPr>
          <p:cNvPr id="214"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Starvation</a:t>
            </a:r>
            <a:r>
              <a:rPr b="0" lang="el" sz="1600" spc="-1" strike="noStrike">
                <a:solidFill>
                  <a:schemeClr val="accent1"/>
                </a:solidFill>
                <a:latin typeface="Lato"/>
                <a:ea typeface="Lato"/>
              </a:rPr>
              <a:t> is a condition in concurrent programming where </a:t>
            </a:r>
            <a:r>
              <a:rPr b="1" lang="el" sz="1600" spc="-1" strike="noStrike">
                <a:solidFill>
                  <a:schemeClr val="accent1"/>
                </a:solidFill>
                <a:latin typeface="Lato"/>
                <a:ea typeface="Lato"/>
              </a:rPr>
              <a:t>a process</a:t>
            </a:r>
            <a:r>
              <a:rPr b="0" lang="el" sz="1600" spc="-1" strike="noStrike">
                <a:solidFill>
                  <a:schemeClr val="accent1"/>
                </a:solidFill>
                <a:latin typeface="Lato"/>
                <a:ea typeface="Lato"/>
              </a:rPr>
              <a:t> or thread </a:t>
            </a:r>
            <a:r>
              <a:rPr b="1" lang="el" sz="1600" spc="-1" strike="noStrike">
                <a:solidFill>
                  <a:schemeClr val="accent1"/>
                </a:solidFill>
                <a:latin typeface="Lato"/>
                <a:ea typeface="Lato"/>
              </a:rPr>
              <a:t>is indefinitely denied access to a shared resource</a:t>
            </a:r>
            <a:r>
              <a:rPr b="0" lang="el" sz="1600" spc="-1" strike="noStrike">
                <a:solidFill>
                  <a:schemeClr val="accent1"/>
                </a:solidFill>
                <a:latin typeface="Lato"/>
                <a:ea typeface="Lato"/>
              </a:rPr>
              <a:t>, even though the resource is available. This can occur due to various reasons, including unfair scheduling algorithms, improper synchronization, or resource contention.</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This is the case with the above scenario, where a process (in the above, the child), permanently denies access to another process to a shared resource (a shared counter).</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While in a dummy manner, a realistic case might be a bug on one of the two processes that remains uncaught for some amount of time, leading to it hanging.</a:t>
            </a:r>
            <a:endParaRPr b="0" lang="en-US" sz="1600" spc="-1" strike="noStrike">
              <a:solidFill>
                <a:srgbClr val="000000"/>
              </a:solidFill>
              <a:latin typeface="Arial"/>
            </a:endParaRPr>
          </a:p>
        </p:txBody>
      </p:sp>
      <p:sp>
        <p:nvSpPr>
          <p:cNvPr id="215"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CB1E26-205E-4AF3-9AAD-525B68991C3F}"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63" dur="indefinite" restart="never" nodeType="tmRoot">
          <p:childTnLst>
            <p:seq>
              <p:cTn id="164" dur="indefinite" nodeType="mainSeq">
                <p:childTnLst>
                  <p:par>
                    <p:cTn id="165" fill="hold">
                      <p:stCondLst>
                        <p:cond delay="indefinite"/>
                      </p:stCondLst>
                      <p:childTnLst>
                        <p:par>
                          <p:cTn id="166" fill="hold">
                            <p:stCondLst>
                              <p:cond delay="0"/>
                            </p:stCondLst>
                            <p:childTnLst>
                              <p:par>
                                <p:cTn id="167" nodeType="clickEffect" fill="hold" presetClass="entr" presetID="1">
                                  <p:stCondLst>
                                    <p:cond delay="0"/>
                                  </p:stCondLst>
                                  <p:childTnLst>
                                    <p:set>
                                      <p:cBhvr>
                                        <p:cTn id="168"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nodeType="clickEffect" fill="hold" presetClass="entr" presetID="1">
                                  <p:stCondLst>
                                    <p:cond delay="0"/>
                                  </p:stCondLst>
                                  <p:childTnLst>
                                    <p:set>
                                      <p:cBhvr>
                                        <p:cTn id="172"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Causes Of Starvation</a:t>
            </a:r>
            <a:endParaRPr b="0" lang="en-US" sz="2600" spc="-1" strike="noStrike">
              <a:solidFill>
                <a:srgbClr val="000000"/>
              </a:solidFill>
              <a:latin typeface="Arial"/>
            </a:endParaRPr>
          </a:p>
        </p:txBody>
      </p:sp>
      <p:sp>
        <p:nvSpPr>
          <p:cNvPr id="21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Unfair Scheduling:</a:t>
            </a:r>
            <a:r>
              <a:rPr b="0" lang="el" sz="1600" spc="-1" strike="noStrike">
                <a:solidFill>
                  <a:schemeClr val="accent1"/>
                </a:solidFill>
                <a:latin typeface="Lato"/>
                <a:ea typeface="Lato"/>
              </a:rPr>
              <a:t> If a scheduler consistently favors certain processes or threads over others, it can lead to starvation.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Priority Inversion:</a:t>
            </a:r>
            <a:r>
              <a:rPr b="0" lang="el" sz="1600" spc="-1" strike="noStrike">
                <a:solidFill>
                  <a:schemeClr val="accent1"/>
                </a:solidFill>
                <a:latin typeface="Lato"/>
                <a:ea typeface="Lato"/>
              </a:rPr>
              <a:t> A higher-priority process might be blocked by a lower-priority process, leading to starvation of the higher-priority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Resource Contention:</a:t>
            </a:r>
            <a:r>
              <a:rPr b="0" lang="el" sz="1600" spc="-1" strike="noStrike">
                <a:solidFill>
                  <a:schemeClr val="accent1"/>
                </a:solidFill>
                <a:latin typeface="Lato"/>
                <a:ea typeface="Lato"/>
              </a:rPr>
              <a:t> If a resource is heavily contended, some processes might be unable to acquire it, leading to starvation.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Deadlock:</a:t>
            </a:r>
            <a:r>
              <a:rPr b="0" lang="el" sz="1600" spc="-1" strike="noStrike">
                <a:solidFill>
                  <a:schemeClr val="accent1"/>
                </a:solidFill>
                <a:latin typeface="Lato"/>
                <a:ea typeface="Lato"/>
              </a:rPr>
              <a:t>	</a:t>
            </a:r>
            <a:r>
              <a:rPr b="0" lang="el" sz="1600" spc="-1" strike="noStrike">
                <a:solidFill>
                  <a:schemeClr val="accent1"/>
                </a:solidFill>
                <a:latin typeface="Lato"/>
                <a:ea typeface="Lato"/>
              </a:rPr>
              <a:t> A deadlock can indirectly lead to starvation, as processes involved in a deadlock may never release resources, preventing other processes from accessing them.</a:t>
            </a:r>
            <a:endParaRPr b="0" lang="en-US" sz="1600" spc="-1" strike="noStrike">
              <a:solidFill>
                <a:srgbClr val="000000"/>
              </a:solidFill>
              <a:latin typeface="Arial"/>
            </a:endParaRPr>
          </a:p>
        </p:txBody>
      </p:sp>
      <p:sp>
        <p:nvSpPr>
          <p:cNvPr id="218"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C9FE802-E766-4110-A8C1-C18D9040E228}"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77" dur="indefinite" restart="never" nodeType="tmRoot">
          <p:childTnLst>
            <p:seq>
              <p:cTn id="178" dur="indefinite" nodeType="mainSeq">
                <p:childTnLst>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217">
                                            <p:txEl>
                                              <p:pRg st="0" end="0"/>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nodeType="clickEffect" fill="hold" presetClass="entr" presetID="1">
                                  <p:stCondLst>
                                    <p:cond delay="0"/>
                                  </p:stCondLst>
                                  <p:childTnLst>
                                    <p:set>
                                      <p:cBhvr>
                                        <p:cTn id="186" dur="1" fill="hold">
                                          <p:stCondLst>
                                            <p:cond delay="0"/>
                                          </p:stCondLst>
                                        </p:cTn>
                                        <p:tgtEl>
                                          <p:spTgt spid="217">
                                            <p:txEl>
                                              <p:pRg st="1" end="1"/>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1">
                                  <p:stCondLst>
                                    <p:cond delay="0"/>
                                  </p:stCondLst>
                                  <p:childTnLst>
                                    <p:set>
                                      <p:cBhvr>
                                        <p:cTn id="190" dur="1" fill="hold">
                                          <p:stCondLst>
                                            <p:cond delay="0"/>
                                          </p:stCondLst>
                                        </p:cTn>
                                        <p:tgtEl>
                                          <p:spTgt spid="217">
                                            <p:txEl>
                                              <p:pRg st="2" end="2"/>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1">
                                  <p:stCondLst>
                                    <p:cond delay="0"/>
                                  </p:stCondLst>
                                  <p:childTnLst>
                                    <p:set>
                                      <p:cBhvr>
                                        <p:cTn id="194" dur="1" fill="hold">
                                          <p:stCondLst>
                                            <p:cond delay="0"/>
                                          </p:stCondLst>
                                        </p:cTn>
                                        <p:tgtEl>
                                          <p:spTgt spid="21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Starvation Prevention</a:t>
            </a:r>
            <a:endParaRPr b="0" lang="en-US" sz="2600" spc="-1" strike="noStrike">
              <a:solidFill>
                <a:srgbClr val="000000"/>
              </a:solidFill>
              <a:latin typeface="Arial"/>
            </a:endParaRPr>
          </a:p>
        </p:txBody>
      </p:sp>
      <p:sp>
        <p:nvSpPr>
          <p:cNvPr id="220"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Fair Scheduling Algorithms:</a:t>
            </a:r>
            <a:r>
              <a:rPr b="0" lang="el" sz="1600" spc="-1" strike="noStrike">
                <a:solidFill>
                  <a:schemeClr val="accent1"/>
                </a:solidFill>
                <a:latin typeface="Lato"/>
                <a:ea typeface="Lato"/>
              </a:rPr>
              <a:t> Using fair scheduling algorithms, such as round-robin or priority-based scheduling with aging, can help prevent starvation.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Priority Inheritance:</a:t>
            </a:r>
            <a:r>
              <a:rPr b="0" lang="el" sz="1600" spc="-1" strike="noStrike">
                <a:solidFill>
                  <a:schemeClr val="accent1"/>
                </a:solidFill>
                <a:latin typeface="Lato"/>
                <a:ea typeface="Lato"/>
              </a:rPr>
              <a:t> A higher-priority process can inherit the priority of a lower-priority process that holds a resource it needs, preventing priority inversion.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Resource Allocation Strategies:</a:t>
            </a:r>
            <a:r>
              <a:rPr b="0" lang="el" sz="1600" spc="-1" strike="noStrike">
                <a:solidFill>
                  <a:schemeClr val="accent1"/>
                </a:solidFill>
                <a:latin typeface="Lato"/>
                <a:ea typeface="Lato"/>
              </a:rPr>
              <a:t> Careful resource allocation and deallocation can help avoid resource contention.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Timeout Mechanisms:</a:t>
            </a:r>
            <a:r>
              <a:rPr b="0" lang="el" sz="1600" spc="-1" strike="noStrike">
                <a:solidFill>
                  <a:schemeClr val="accent1"/>
                </a:solidFill>
                <a:latin typeface="Lato"/>
                <a:ea typeface="Lato"/>
              </a:rPr>
              <a:t> Setting timeouts for resource acquisition can prevent processes from waiting indefinitely.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Careful Synchronization:</a:t>
            </a:r>
            <a:r>
              <a:rPr b="0" lang="el" sz="1600" spc="-1" strike="noStrike">
                <a:solidFill>
                  <a:schemeClr val="accent1"/>
                </a:solidFill>
                <a:latin typeface="Lato"/>
                <a:ea typeface="Lato"/>
              </a:rPr>
              <a:t> Proper use of synchronization mechanisms like semaphores, mutexes, and condition variables can help prevent starvation.</a:t>
            </a:r>
            <a:endParaRPr b="0" lang="en-US" sz="1600" spc="-1" strike="noStrike">
              <a:solidFill>
                <a:srgbClr val="000000"/>
              </a:solidFill>
              <a:latin typeface="Arial"/>
            </a:endParaRPr>
          </a:p>
        </p:txBody>
      </p:sp>
      <p:sp>
        <p:nvSpPr>
          <p:cNvPr id="221"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80A261E-EEB6-4F70-8E88-7FF7A37A9E1A}"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5" dur="indefinite" restart="never" nodeType="tmRoot">
          <p:childTnLst>
            <p:seq>
              <p:cTn id="196" dur="indefinite" nodeType="mainSeq">
                <p:childTnLst>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220">
                                            <p:txEl>
                                              <p:pRg st="1" end="1"/>
                                            </p:txEl>
                                          </p:spTgt>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1">
                                  <p:stCondLst>
                                    <p:cond delay="0"/>
                                  </p:stCondLst>
                                  <p:childTnLst>
                                    <p:set>
                                      <p:cBhvr>
                                        <p:cTn id="208" dur="1" fill="hold">
                                          <p:stCondLst>
                                            <p:cond delay="0"/>
                                          </p:stCondLst>
                                        </p:cTn>
                                        <p:tgtEl>
                                          <p:spTgt spid="220">
                                            <p:txEl>
                                              <p:pRg st="2" end="2"/>
                                            </p:txEl>
                                          </p:spTgt>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nodeType="clickEffect" fill="hold" presetClass="entr" presetID="1">
                                  <p:stCondLst>
                                    <p:cond delay="0"/>
                                  </p:stCondLst>
                                  <p:childTnLst>
                                    <p:set>
                                      <p:cBhvr>
                                        <p:cTn id="212" dur="1" fill="hold">
                                          <p:stCondLst>
                                            <p:cond delay="0"/>
                                          </p:stCondLst>
                                        </p:cTn>
                                        <p:tgtEl>
                                          <p:spTgt spid="220">
                                            <p:txEl>
                                              <p:pRg st="3" end="3"/>
                                            </p:txEl>
                                          </p:spTgt>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
                                  <p:stCondLst>
                                    <p:cond delay="0"/>
                                  </p:stCondLst>
                                  <p:childTnLst>
                                    <p:set>
                                      <p:cBhvr>
                                        <p:cTn id="216" dur="1" fill="hold">
                                          <p:stCondLst>
                                            <p:cond delay="0"/>
                                          </p:stCondLst>
                                        </p:cTn>
                                        <p:tgtEl>
                                          <p:spTgt spid="22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Novel Idea</a:t>
            </a:r>
            <a:endParaRPr b="0" lang="en-US" sz="2600" spc="-1" strike="noStrike">
              <a:solidFill>
                <a:srgbClr val="000000"/>
              </a:solidFill>
              <a:latin typeface="Arial"/>
            </a:endParaRPr>
          </a:p>
        </p:txBody>
      </p:sp>
      <p:sp>
        <p:nvSpPr>
          <p:cNvPr id="22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Previously, we tried to use a single flag that was either true (1) or false (0) to denote access to one of the two processes each time.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This seemed to work, however, as we have just discussed, it runs the risk of leading one of the two processes to starvation in case of malfunction.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So, what if we use two flags instead of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Check out source/ipc_004.c.</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What is the logic behind this approach?</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Run it a few times (at least 10).</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Does it work?</a:t>
            </a:r>
            <a:endParaRPr b="0" lang="en-US" sz="1600" spc="-1" strike="noStrike">
              <a:solidFill>
                <a:srgbClr val="000000"/>
              </a:solidFill>
              <a:latin typeface="Arial"/>
            </a:endParaRPr>
          </a:p>
        </p:txBody>
      </p:sp>
      <p:sp>
        <p:nvSpPr>
          <p:cNvPr id="224"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6F8ECCB-EEAF-4C23-BD0E-34E53CECDBBC}"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17" dur="indefinite" restart="never" nodeType="tmRoot">
          <p:childTnLst>
            <p:seq>
              <p:cTn id="218" dur="indefinite" nodeType="mainSeq">
                <p:childTnLst>
                  <p:par>
                    <p:cTn id="219" fill="hold">
                      <p:stCondLst>
                        <p:cond delay="indefinite"/>
                      </p:stCondLst>
                      <p:childTnLst>
                        <p:par>
                          <p:cTn id="220" fill="hold">
                            <p:stCondLst>
                              <p:cond delay="0"/>
                            </p:stCondLst>
                            <p:childTnLst>
                              <p:par>
                                <p:cTn id="221" nodeType="clickEffect" fill="hold" presetClass="entr" presetID="1">
                                  <p:stCondLst>
                                    <p:cond delay="0"/>
                                  </p:stCondLst>
                                  <p:childTnLst>
                                    <p:set>
                                      <p:cBhvr>
                                        <p:cTn id="222"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1">
                                  <p:stCondLst>
                                    <p:cond delay="0"/>
                                  </p:stCondLst>
                                  <p:childTnLst>
                                    <p:set>
                                      <p:cBhvr>
                                        <p:cTn id="226" dur="1" fill="hold">
                                          <p:stCondLst>
                                            <p:cond delay="0"/>
                                          </p:stCondLst>
                                        </p:cTn>
                                        <p:tgtEl>
                                          <p:spTgt spid="22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22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nodeType="clickEffect" fill="hold" presetClass="entr" presetID="1">
                                  <p:stCondLst>
                                    <p:cond delay="0"/>
                                  </p:stCondLst>
                                  <p:childTnLst>
                                    <p:set>
                                      <p:cBhvr>
                                        <p:cTn id="234" dur="1" fill="hold">
                                          <p:stCondLst>
                                            <p:cond delay="0"/>
                                          </p:stCondLst>
                                        </p:cTn>
                                        <p:tgtEl>
                                          <p:spTgt spid="22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1">
                                  <p:stCondLst>
                                    <p:cond delay="0"/>
                                  </p:stCondLst>
                                  <p:childTnLst>
                                    <p:set>
                                      <p:cBhvr>
                                        <p:cTn id="238" dur="1" fill="hold">
                                          <p:stCondLst>
                                            <p:cond delay="0"/>
                                          </p:stCondLst>
                                        </p:cTn>
                                        <p:tgtEl>
                                          <p:spTgt spid="22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
                                  <p:stCondLst>
                                    <p:cond delay="0"/>
                                  </p:stCondLst>
                                  <p:childTnLst>
                                    <p:set>
                                      <p:cBhvr>
                                        <p:cTn id="242" dur="1" fill="hold">
                                          <p:stCondLst>
                                            <p:cond delay="0"/>
                                          </p:stCondLst>
                                        </p:cTn>
                                        <p:tgtEl>
                                          <p:spTgt spid="22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1">
                                  <p:stCondLst>
                                    <p:cond delay="0"/>
                                  </p:stCondLst>
                                  <p:childTnLst>
                                    <p:set>
                                      <p:cBhvr>
                                        <p:cTn id="246" dur="1" fill="hold">
                                          <p:stCondLst>
                                            <p:cond delay="0"/>
                                          </p:stCondLst>
                                        </p:cTn>
                                        <p:tgtEl>
                                          <p:spTgt spid="223">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Another Idea…</a:t>
            </a:r>
            <a:endParaRPr b="0" lang="en-US" sz="2600" spc="-1" strike="noStrike">
              <a:solidFill>
                <a:srgbClr val="000000"/>
              </a:solidFill>
              <a:latin typeface="Arial"/>
            </a:endParaRPr>
          </a:p>
        </p:txBody>
      </p:sp>
      <p:sp>
        <p:nvSpPr>
          <p:cNvPr id="226"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Why did the above idea fail?</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Mostly because we did not work carefully enough, since there are cases where both processes mutually exclude one another from accessing their shared counter.</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So, what if we:</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First waited on each process for the other and;</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Then change the status from pending to active.</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Open and run source/ipc_005.c</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What do you observe?</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Does this work? (Run it 10+ times)</a:t>
            </a:r>
            <a:endParaRPr b="0" lang="en-US" sz="1600" spc="-1" strike="noStrike">
              <a:solidFill>
                <a:srgbClr val="000000"/>
              </a:solidFill>
              <a:latin typeface="Arial"/>
            </a:endParaRPr>
          </a:p>
        </p:txBody>
      </p:sp>
      <p:sp>
        <p:nvSpPr>
          <p:cNvPr id="227"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7877D3B-AD78-48DA-9167-F89FCB606B39}"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47" dur="indefinite" restart="never" nodeType="tmRoot">
          <p:childTnLst>
            <p:seq>
              <p:cTn id="248" dur="indefinite" nodeType="mainSeq">
                <p:childTnLst>
                  <p:par>
                    <p:cTn id="249" fill="hold">
                      <p:stCondLst>
                        <p:cond delay="indefinite"/>
                      </p:stCondLst>
                      <p:childTnLst>
                        <p:par>
                          <p:cTn id="250" fill="hold">
                            <p:stCondLst>
                              <p:cond delay="0"/>
                            </p:stCondLst>
                            <p:childTnLst>
                              <p:par>
                                <p:cTn id="251" nodeType="clickEffect" fill="hold" presetClass="entr" presetID="1">
                                  <p:stCondLst>
                                    <p:cond delay="0"/>
                                  </p:stCondLst>
                                  <p:childTnLst>
                                    <p:set>
                                      <p:cBhvr>
                                        <p:cTn id="252"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nodeType="clickEffect" fill="hold" presetClass="entr" presetID="1">
                                  <p:stCondLst>
                                    <p:cond delay="0"/>
                                  </p:stCondLst>
                                  <p:childTnLst>
                                    <p:set>
                                      <p:cBhvr>
                                        <p:cTn id="256"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257" fill="hold">
                      <p:stCondLst>
                        <p:cond delay="indefinite"/>
                      </p:stCondLst>
                      <p:childTnLst>
                        <p:par>
                          <p:cTn id="258" fill="hold">
                            <p:stCondLst>
                              <p:cond delay="0"/>
                            </p:stCondLst>
                            <p:childTnLst>
                              <p:par>
                                <p:cTn id="259" nodeType="clickEffect" fill="hold" presetClass="entr" presetID="1">
                                  <p:stCondLst>
                                    <p:cond delay="0"/>
                                  </p:stCondLst>
                                  <p:childTnLst>
                                    <p:set>
                                      <p:cBhvr>
                                        <p:cTn id="260"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nodeType="clickEffect" fill="hold" presetClass="entr" presetID="1">
                                  <p:stCondLst>
                                    <p:cond delay="0"/>
                                  </p:stCondLst>
                                  <p:childTnLst>
                                    <p:set>
                                      <p:cBhvr>
                                        <p:cTn id="26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nodeType="clickEffect" fill="hold" presetClass="entr" presetID="1">
                                  <p:stCondLst>
                                    <p:cond delay="0"/>
                                  </p:stCondLst>
                                  <p:childTnLst>
                                    <p:set>
                                      <p:cBhvr>
                                        <p:cTn id="268"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nodeType="clickEffect" fill="hold" presetClass="entr" presetID="1">
                                  <p:stCondLst>
                                    <p:cond delay="0"/>
                                  </p:stCondLst>
                                  <p:childTnLst>
                                    <p:set>
                                      <p:cBhvr>
                                        <p:cTn id="272"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nodeType="clickEffect" fill="hold" presetClass="entr" presetID="1">
                                  <p:stCondLst>
                                    <p:cond delay="0"/>
                                  </p:stCondLst>
                                  <p:childTnLst>
                                    <p:set>
                                      <p:cBhvr>
                                        <p:cTn id="276"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1">
                                  <p:stCondLst>
                                    <p:cond delay="0"/>
                                  </p:stCondLst>
                                  <p:childTnLst>
                                    <p:set>
                                      <p:cBhvr>
                                        <p:cTn id="280" dur="1" fill="hold">
                                          <p:stCondLst>
                                            <p:cond delay="0"/>
                                          </p:stCondLst>
                                        </p:cTn>
                                        <p:tgtEl>
                                          <p:spTgt spid="226">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Desperation</a:t>
            </a:r>
            <a:endParaRPr b="0" lang="en-US" sz="2600" spc="-1" strike="noStrike">
              <a:solidFill>
                <a:srgbClr val="000000"/>
              </a:solidFill>
              <a:latin typeface="Arial"/>
            </a:endParaRPr>
          </a:p>
        </p:txBody>
      </p:sp>
      <p:sp>
        <p:nvSpPr>
          <p:cNvPr id="22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So far, nothing has proved any useful, either because we might modify the shared resource simultaneously or because of mutual exclusion or because of starvation of one process or…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Can you think of another idea?</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not, consider inspecting source/ipc_006.c</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What is the idea in there?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Do you expect it to work?</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Run the program a few times (20+) to find out.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 does it really work?</a:t>
            </a:r>
            <a:endParaRPr b="0" lang="en-US" sz="1600" spc="-1" strike="noStrike">
              <a:solidFill>
                <a:srgbClr val="000000"/>
              </a:solidFill>
              <a:latin typeface="Arial"/>
            </a:endParaRPr>
          </a:p>
        </p:txBody>
      </p:sp>
      <p:sp>
        <p:nvSpPr>
          <p:cNvPr id="230"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7F723AE-8B76-4FE4-ABD8-60820378F84A}"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81" dur="indefinite" restart="never" nodeType="tmRoot">
          <p:childTnLst>
            <p:seq>
              <p:cTn id="282" dur="indefinite" nodeType="mainSeq">
                <p:childTnLst>
                  <p:par>
                    <p:cTn id="283" fill="hold">
                      <p:stCondLst>
                        <p:cond delay="indefinite"/>
                      </p:stCondLst>
                      <p:childTnLst>
                        <p:par>
                          <p:cTn id="284" fill="hold">
                            <p:stCondLst>
                              <p:cond delay="0"/>
                            </p:stCondLst>
                            <p:childTnLst>
                              <p:par>
                                <p:cTn id="285" nodeType="clickEffect" fill="hold" presetClass="entr" presetID="1">
                                  <p:stCondLst>
                                    <p:cond delay="0"/>
                                  </p:stCondLst>
                                  <p:childTnLst>
                                    <p:set>
                                      <p:cBhvr>
                                        <p:cTn id="286" dur="1" fill="hold">
                                          <p:stCondLst>
                                            <p:cond delay="0"/>
                                          </p:stCondLst>
                                        </p:cTn>
                                        <p:tgtEl>
                                          <p:spTgt spid="229">
                                            <p:txEl>
                                              <p:pRg st="0" end="0"/>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nodeType="clickEffect" fill="hold" presetClass="entr" presetID="1">
                                  <p:stCondLst>
                                    <p:cond delay="0"/>
                                  </p:stCondLst>
                                  <p:childTnLst>
                                    <p:set>
                                      <p:cBhvr>
                                        <p:cTn id="290" dur="1" fill="hold">
                                          <p:stCondLst>
                                            <p:cond delay="0"/>
                                          </p:stCondLst>
                                        </p:cTn>
                                        <p:tgtEl>
                                          <p:spTgt spid="229">
                                            <p:txEl>
                                              <p:pRg st="1" end="1"/>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nodeType="clickEffect" fill="hold" presetClass="entr" presetID="1">
                                  <p:stCondLst>
                                    <p:cond delay="0"/>
                                  </p:stCondLst>
                                  <p:childTnLst>
                                    <p:set>
                                      <p:cBhvr>
                                        <p:cTn id="294" dur="1" fill="hold">
                                          <p:stCondLst>
                                            <p:cond delay="0"/>
                                          </p:stCondLst>
                                        </p:cTn>
                                        <p:tgtEl>
                                          <p:spTgt spid="229">
                                            <p:txEl>
                                              <p:pRg st="2" end="2"/>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nodeType="clickEffect" fill="hold" presetClass="entr" presetID="1">
                                  <p:stCondLst>
                                    <p:cond delay="0"/>
                                  </p:stCondLst>
                                  <p:childTnLst>
                                    <p:set>
                                      <p:cBhvr>
                                        <p:cTn id="298" dur="1" fill="hold">
                                          <p:stCondLst>
                                            <p:cond delay="0"/>
                                          </p:stCondLst>
                                        </p:cTn>
                                        <p:tgtEl>
                                          <p:spTgt spid="229">
                                            <p:txEl>
                                              <p:pRg st="3" end="3"/>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nodeType="clickEffect" fill="hold" presetClass="entr" presetID="1">
                                  <p:stCondLst>
                                    <p:cond delay="0"/>
                                  </p:stCondLst>
                                  <p:childTnLst>
                                    <p:set>
                                      <p:cBhvr>
                                        <p:cTn id="302" dur="1" fill="hold">
                                          <p:stCondLst>
                                            <p:cond delay="0"/>
                                          </p:stCondLst>
                                        </p:cTn>
                                        <p:tgtEl>
                                          <p:spTgt spid="229">
                                            <p:txEl>
                                              <p:pRg st="4" end="4"/>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nodeType="clickEffect" fill="hold" presetClass="entr" presetID="1">
                                  <p:stCondLst>
                                    <p:cond delay="0"/>
                                  </p:stCondLst>
                                  <p:childTnLst>
                                    <p:set>
                                      <p:cBhvr>
                                        <p:cTn id="306" dur="1" fill="hold">
                                          <p:stCondLst>
                                            <p:cond delay="0"/>
                                          </p:stCondLst>
                                        </p:cTn>
                                        <p:tgtEl>
                                          <p:spTgt spid="229">
                                            <p:txEl>
                                              <p:pRg st="5" end="5"/>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nodeType="clickEffect" fill="hold" presetClass="entr" presetID="1">
                                  <p:stCondLst>
                                    <p:cond delay="0"/>
                                  </p:stCondLst>
                                  <p:childTnLst>
                                    <p:set>
                                      <p:cBhvr>
                                        <p:cTn id="310" dur="1" fill="hold">
                                          <p:stCondLst>
                                            <p:cond delay="0"/>
                                          </p:stCondLst>
                                        </p:cTn>
                                        <p:tgtEl>
                                          <p:spTgt spid="229">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Peculiarities…</a:t>
            </a:r>
            <a:endParaRPr b="0" lang="en-US" sz="2600" spc="-1" strike="noStrike">
              <a:solidFill>
                <a:srgbClr val="000000"/>
              </a:solidFill>
              <a:latin typeface="Arial"/>
            </a:endParaRPr>
          </a:p>
        </p:txBody>
      </p:sp>
      <p:sp>
        <p:nvSpPr>
          <p:cNvPr id="232" name="PlaceHolder 2"/>
          <p:cNvSpPr>
            <a:spLocks noGrp="1"/>
          </p:cNvSpPr>
          <p:nvPr>
            <p:ph/>
          </p:nvPr>
        </p:nvSpPr>
        <p:spPr>
          <a:xfrm>
            <a:off x="729360" y="1378080"/>
            <a:ext cx="7688520" cy="714240"/>
          </a:xfrm>
          <a:prstGeom prst="rect">
            <a:avLst/>
          </a:prstGeom>
          <a:noFill/>
          <a:ln w="0">
            <a:noFill/>
          </a:ln>
        </p:spPr>
        <p:txBody>
          <a:bodyPr tIns="91440" bIns="91440" anchor="t">
            <a:normAutofit fontScale="95000"/>
          </a:bodyPr>
          <a:p>
            <a:pPr indent="0">
              <a:lnSpc>
                <a:spcPct val="115000"/>
              </a:lnSpc>
              <a:spcAft>
                <a:spcPts val="1199"/>
              </a:spcAft>
              <a:buNone/>
              <a:tabLst>
                <a:tab algn="l" pos="0"/>
              </a:tabLst>
            </a:pPr>
            <a:r>
              <a:rPr b="0" lang="el" sz="1600" spc="-1" strike="noStrike">
                <a:solidFill>
                  <a:schemeClr val="accent1"/>
                </a:solidFill>
                <a:latin typeface="Lato"/>
                <a:ea typeface="Lato"/>
              </a:rPr>
              <a:t>Consider the following scenario (each line contains the command each thread will run next, bold text corresponds to actually run commands):</a:t>
            </a:r>
            <a:endParaRPr b="0" lang="en-US" sz="1600" spc="-1" strike="noStrike">
              <a:solidFill>
                <a:srgbClr val="000000"/>
              </a:solidFill>
              <a:latin typeface="Arial"/>
            </a:endParaRPr>
          </a:p>
        </p:txBody>
      </p:sp>
      <p:sp>
        <p:nvSpPr>
          <p:cNvPr id="233"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A18D428-A0A2-4D62-9D56-B444E59BC238}"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graphicFrame>
        <p:nvGraphicFramePr>
          <p:cNvPr id="234" name="Google Shape;254;p20"/>
          <p:cNvGraphicFramePr/>
          <p:nvPr/>
        </p:nvGraphicFramePr>
        <p:xfrm>
          <a:off x="952560" y="2092680"/>
          <a:ext cx="7238520" cy="3133080"/>
        </p:xfrm>
        <a:graphic>
          <a:graphicData uri="http://schemas.openxmlformats.org/drawingml/2006/table">
            <a:tbl>
              <a:tblPr/>
              <a:tblGrid>
                <a:gridCol w="3619440"/>
                <a:gridCol w="3619440"/>
              </a:tblGrid>
              <a:tr h="313200">
                <a:tc>
                  <a:txBody>
                    <a:bodyPr lIns="91080" rIns="91080" tIns="91080" bIns="91080" anchor="t">
                      <a:noAutofit/>
                    </a:bodyPr>
                    <a:p>
                      <a:pPr>
                        <a:lnSpc>
                          <a:spcPct val="100000"/>
                        </a:lnSpc>
                        <a:tabLst>
                          <a:tab algn="l" pos="0"/>
                        </a:tabLst>
                      </a:pPr>
                      <a:r>
                        <a:rPr b="1" lang="el" sz="1300" spc="-1" strike="noStrike">
                          <a:solidFill>
                            <a:schemeClr val="lt2"/>
                          </a:solidFill>
                          <a:latin typeface="Consolas"/>
                          <a:ea typeface="Consolas"/>
                        </a:rPr>
                        <a:t>Parent</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chemeClr val="dk1"/>
                    </a:solidFill>
                  </a:tcPr>
                </a:tc>
                <a:tc>
                  <a:txBody>
                    <a:bodyPr lIns="91080" rIns="91080" tIns="91080" bIns="91080" anchor="t">
                      <a:noAutofit/>
                    </a:bodyPr>
                    <a:p>
                      <a:pPr>
                        <a:lnSpc>
                          <a:spcPct val="100000"/>
                        </a:lnSpc>
                        <a:tabLst>
                          <a:tab algn="l" pos="0"/>
                        </a:tabLst>
                      </a:pPr>
                      <a:r>
                        <a:rPr b="1" lang="el" sz="1300" spc="-1" strike="noStrike">
                          <a:solidFill>
                            <a:schemeClr val="lt2"/>
                          </a:solidFill>
                          <a:latin typeface="Consolas"/>
                          <a:ea typeface="Consolas"/>
                        </a:rPr>
                        <a:t>Child</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chemeClr val="accent3"/>
                    </a:solidFill>
                  </a:tcPr>
                </a:tc>
              </a:tr>
              <a:tr h="313200">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counter-&gt;c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d9ead3"/>
                    </a:solidFill>
                  </a:tcPr>
                </a:tc>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counter-&gt;c</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13200">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counter-&gt;p =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counter-&gt;p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r>
              <a:tr h="313200">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counter-&gt;p =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d9ead3"/>
                    </a:solidFill>
                  </a:tcPr>
                </a:tc>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counter-&gt;c =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13200">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counter-&gt;p =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d9ead3"/>
                    </a:solidFill>
                  </a:tcPr>
                </a:tc>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counter-&gt;c =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13200">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counter-&gt;c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counter-&gt;c = False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r>
              <a:tr h="313200">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counter-&gt;c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counter-&gt;c =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r>
              <a:tr h="313200">
                <a:tc>
                  <a:txBody>
                    <a:bodyPr lIns="91080" rIns="91080" tIns="91080" bIns="91080" anchor="t">
                      <a:noAutofit/>
                    </a:bodyPr>
                    <a:p>
                      <a:pPr>
                        <a:lnSpc>
                          <a:spcPct val="115000"/>
                        </a:lnSpc>
                        <a:tabLst>
                          <a:tab algn="l" pos="0"/>
                        </a:tabLst>
                      </a:pPr>
                      <a:r>
                        <a:rPr b="1" lang="el" sz="1050" spc="-1" strike="noStrike">
                          <a:solidFill>
                            <a:srgbClr val="000000"/>
                          </a:solidFill>
                          <a:latin typeface="Consolas"/>
                          <a:ea typeface="Consolas"/>
                        </a:rPr>
                        <a:t>counter-&gt;c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d9ead3"/>
                    </a:solidFill>
                  </a:tcPr>
                </a:tc>
                <a:tc>
                  <a:txBody>
                    <a:bodyPr lIns="91080" rIns="91080" tIns="91080" bIns="91080" anchor="t">
                      <a:noAutofit/>
                    </a:bodyPr>
                    <a:p>
                      <a:pPr>
                        <a:lnSpc>
                          <a:spcPct val="115000"/>
                        </a:lnSpc>
                        <a:tabLst>
                          <a:tab algn="l" pos="0"/>
                        </a:tabLst>
                      </a:pPr>
                      <a:r>
                        <a:rPr b="0" lang="el" sz="1050" spc="-1" strike="noStrike">
                          <a:solidFill>
                            <a:srgbClr val="000000"/>
                          </a:solidFill>
                          <a:latin typeface="Consolas"/>
                          <a:ea typeface="Consolas"/>
                        </a:rPr>
                        <a:t>counter-&gt;p (True)</a:t>
                      </a:r>
                      <a:endParaRPr b="0" lang="en-US" sz="105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bl>
          </a:graphicData>
        </a:graphic>
      </p:graphicFrame>
      <p:sp>
        <p:nvSpPr>
          <p:cNvPr id="235" name="Google Shape;255;p20"/>
          <p:cNvSpPr/>
          <p:nvPr/>
        </p:nvSpPr>
        <p:spPr>
          <a:xfrm rot="16200000">
            <a:off x="-230040" y="3411720"/>
            <a:ext cx="1525320" cy="39312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l" sz="1300" spc="-1" strike="noStrike">
                <a:solidFill>
                  <a:schemeClr val="accent3"/>
                </a:solidFill>
                <a:latin typeface="Lato"/>
                <a:ea typeface="Lato"/>
              </a:rPr>
              <a:t>the same → loop!</a:t>
            </a:r>
            <a:endParaRPr b="0" lang="en-US" sz="1300" spc="-1" strike="noStrike">
              <a:solidFill>
                <a:srgbClr val="000000"/>
              </a:solidFill>
              <a:latin typeface="Arial"/>
            </a:endParaRPr>
          </a:p>
        </p:txBody>
      </p:sp>
      <p:cxnSp>
        <p:nvCxnSpPr>
          <p:cNvPr id="236" name="Google Shape;256;p20"/>
          <p:cNvCxnSpPr>
            <a:stCxn id="235" idx="1"/>
          </p:cNvCxnSpPr>
          <p:nvPr/>
        </p:nvCxnSpPr>
        <p:spPr>
          <a:xfrm flipH="1" rot="16200000">
            <a:off x="534960" y="4368240"/>
            <a:ext cx="371880" cy="377280"/>
          </a:xfrm>
          <a:prstGeom prst="bentConnector3">
            <a:avLst>
              <a:gd name="adj1" fmla="val 100000"/>
            </a:avLst>
          </a:prstGeom>
          <a:ln w="19050">
            <a:solidFill>
              <a:srgbClr val="eb5600"/>
            </a:solidFill>
            <a:round/>
            <a:tailEnd len="med" type="stealth" w="med"/>
          </a:ln>
        </p:spPr>
      </p:cxnSp>
      <p:cxnSp>
        <p:nvCxnSpPr>
          <p:cNvPr id="237" name="Google Shape;257;p20"/>
          <p:cNvCxnSpPr>
            <a:stCxn id="235" idx="3"/>
          </p:cNvCxnSpPr>
          <p:nvPr/>
        </p:nvCxnSpPr>
        <p:spPr>
          <a:xfrm flipH="1" flipV="1" rot="5400000">
            <a:off x="622440" y="2539800"/>
            <a:ext cx="216000" cy="396720"/>
          </a:xfrm>
          <a:prstGeom prst="bentConnector3">
            <a:avLst>
              <a:gd name="adj1" fmla="val 99833"/>
            </a:avLst>
          </a:prstGeom>
          <a:ln w="19050">
            <a:solidFill>
              <a:srgbClr val="eb5600"/>
            </a:solidFill>
            <a:round/>
            <a:tailEnd len="med" type="stealth" w="med"/>
          </a:ln>
        </p:spPr>
      </p:cxnSp>
    </p:spTree>
  </p:cSld>
  <mc:AlternateContent>
    <mc:Choice Requires="p14">
      <p:transition spd="slow" p14:dur="2000"/>
    </mc:Choice>
    <mc:Fallback>
      <p:transition spd="slow"/>
    </mc:Fallback>
  </mc:AlternateContent>
  <p:timing>
    <p:tnLst>
      <p:par>
        <p:cTn id="311" dur="indefinite" restart="never" nodeType="tmRoot">
          <p:childTnLst>
            <p:seq>
              <p:cTn id="312" dur="indefinite" nodeType="mainSeq">
                <p:childTnLst>
                  <p:par>
                    <p:cTn id="313" fill="hold">
                      <p:stCondLst>
                        <p:cond delay="indefinite"/>
                      </p:stCondLst>
                      <p:childTnLst>
                        <p:par>
                          <p:cTn id="314" fill="hold">
                            <p:stCondLst>
                              <p:cond delay="0"/>
                            </p:stCondLst>
                            <p:childTnLst>
                              <p:par>
                                <p:cTn id="315" nodeType="clickEffect" fill="hold" presetClass="entr" presetID="1">
                                  <p:stCondLst>
                                    <p:cond delay="0"/>
                                  </p:stCondLst>
                                  <p:childTnLst>
                                    <p:set>
                                      <p:cBhvr>
                                        <p:cTn id="316" dur="1" fill="hold">
                                          <p:stCondLst>
                                            <p:cond delay="0"/>
                                          </p:stCondLst>
                                        </p:cTn>
                                        <p:tgtEl>
                                          <p:spTgt spid="232">
                                            <p:txEl>
                                              <p:pRg st="0" end="0"/>
                                            </p:txEl>
                                          </p:spTgt>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nodeType="clickEffect" fill="hold" presetClass="entr" presetID="1">
                                  <p:stCondLst>
                                    <p:cond delay="0"/>
                                  </p:stCondLst>
                                  <p:childTnLst>
                                    <p:set>
                                      <p:cBhvr>
                                        <p:cTn id="320" dur="1" fill="hold">
                                          <p:stCondLst>
                                            <p:cond delay="0"/>
                                          </p:stCondLst>
                                        </p:cTn>
                                        <p:tgtEl>
                                          <p:spTgt spid="234"/>
                                        </p:tgtEl>
                                        <p:attrNameLst>
                                          <p:attrName>style.visibility</p:attrName>
                                        </p:attrNameLst>
                                      </p:cBhvr>
                                      <p:to>
                                        <p:strVal val="visible"/>
                                      </p:to>
                                    </p:set>
                                  </p:childTnLst>
                                </p:cTn>
                              </p:par>
                              <p:par>
                                <p:cTn id="321" nodeType="withEffect" fill="hold" presetClass="entr" presetID="1">
                                  <p:stCondLst>
                                    <p:cond delay="0"/>
                                  </p:stCondLst>
                                  <p:childTnLst>
                                    <p:set>
                                      <p:cBhvr>
                                        <p:cTn id="322" dur="1" fill="hold">
                                          <p:stCondLst>
                                            <p:cond delay="0"/>
                                          </p:stCondLst>
                                        </p:cTn>
                                        <p:tgtEl>
                                          <p:spTgt spid="235"/>
                                        </p:tgtEl>
                                        <p:attrNameLst>
                                          <p:attrName>style.visibility</p:attrName>
                                        </p:attrNameLst>
                                      </p:cBhvr>
                                      <p:to>
                                        <p:strVal val="visible"/>
                                      </p:to>
                                    </p:set>
                                  </p:childTnLst>
                                </p:cTn>
                              </p:par>
                              <p:par>
                                <p:cTn id="323" nodeType="withEffect" fill="hold" presetClass="entr" presetID="1">
                                  <p:stCondLst>
                                    <p:cond delay="0"/>
                                  </p:stCondLst>
                                  <p:childTnLst>
                                    <p:set>
                                      <p:cBhvr>
                                        <p:cTn id="324" dur="1" fill="hold">
                                          <p:stCondLst>
                                            <p:cond delay="0"/>
                                          </p:stCondLst>
                                        </p:cTn>
                                        <p:tgtEl>
                                          <p:spTgt spid="236"/>
                                        </p:tgtEl>
                                        <p:attrNameLst>
                                          <p:attrName>style.visibility</p:attrName>
                                        </p:attrNameLst>
                                      </p:cBhvr>
                                      <p:to>
                                        <p:strVal val="visible"/>
                                      </p:to>
                                    </p:set>
                                  </p:childTnLst>
                                </p:cTn>
                              </p:par>
                              <p:par>
                                <p:cTn id="325" nodeType="withEffect" fill="hold" presetClass="entr" presetID="1">
                                  <p:stCondLst>
                                    <p:cond delay="0"/>
                                  </p:stCondLst>
                                  <p:childTnLst>
                                    <p:set>
                                      <p:cBhvr>
                                        <p:cTn id="326"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Peculiarities…</a:t>
            </a:r>
            <a:endParaRPr b="0" lang="en-US" sz="2600" spc="-1" strike="noStrike">
              <a:solidFill>
                <a:srgbClr val="000000"/>
              </a:solidFill>
              <a:latin typeface="Arial"/>
            </a:endParaRPr>
          </a:p>
        </p:txBody>
      </p:sp>
      <p:sp>
        <p:nvSpPr>
          <p:cNvPr id="239"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This is a scenario which, if repeated indefinitely, will result into a deadlock - no one enters their critical section.</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You might say that this is rare, but, is it?</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One server</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10,000 clients (a modest company)</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How many requests per hour? Day? Month?</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 </a:t>
            </a:r>
            <a:r>
              <a:rPr b="0" lang="el" sz="1600" spc="-1" strike="noStrike">
                <a:solidFill>
                  <a:schemeClr val="accent1"/>
                </a:solidFill>
                <a:latin typeface="Lato"/>
                <a:ea typeface="Lato"/>
              </a:rPr>
              <a:t>There is plenty of room in real life cases for such things to happen.</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This is a hard thing about debugging concurrent programs: You can’t just “unit test” them as sequential ones. You have to prove their correctness with pen and paper (unfortunately…)</a:t>
            </a:r>
            <a:endParaRPr b="0" lang="en-US" sz="1600" spc="-1" strike="noStrike">
              <a:solidFill>
                <a:srgbClr val="000000"/>
              </a:solidFill>
              <a:latin typeface="Arial"/>
            </a:endParaRPr>
          </a:p>
        </p:txBody>
      </p:sp>
      <p:sp>
        <p:nvSpPr>
          <p:cNvPr id="240"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17DBF84-6877-446D-BA77-8F896A02BD74}"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27" dur="indefinite" restart="never" nodeType="tmRoot">
          <p:childTnLst>
            <p:seq>
              <p:cTn id="328" dur="indefinite" nodeType="mainSeq">
                <p:childTnLst>
                  <p:par>
                    <p:cTn id="329" fill="hold">
                      <p:stCondLst>
                        <p:cond delay="indefinite"/>
                      </p:stCondLst>
                      <p:childTnLst>
                        <p:par>
                          <p:cTn id="330" fill="hold">
                            <p:stCondLst>
                              <p:cond delay="0"/>
                            </p:stCondLst>
                            <p:childTnLst>
                              <p:par>
                                <p:cTn id="331" nodeType="clickEffect" fill="hold" presetClass="entr" presetID="1">
                                  <p:stCondLst>
                                    <p:cond delay="0"/>
                                  </p:stCondLst>
                                  <p:childTnLst>
                                    <p:set>
                                      <p:cBhvr>
                                        <p:cTn id="332" dur="1" fill="hold">
                                          <p:stCondLst>
                                            <p:cond delay="0"/>
                                          </p:stCondLst>
                                        </p:cTn>
                                        <p:tgtEl>
                                          <p:spTgt spid="239">
                                            <p:txEl>
                                              <p:pRg st="0" end="0"/>
                                            </p:txEl>
                                          </p:spTgt>
                                        </p:tgtEl>
                                        <p:attrNameLst>
                                          <p:attrName>style.visibility</p:attrName>
                                        </p:attrNameLst>
                                      </p:cBhvr>
                                      <p:to>
                                        <p:strVal val="visible"/>
                                      </p:to>
                                    </p:se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
                                  <p:stCondLst>
                                    <p:cond delay="0"/>
                                  </p:stCondLst>
                                  <p:childTnLst>
                                    <p:set>
                                      <p:cBhvr>
                                        <p:cTn id="336" dur="1" fill="hold">
                                          <p:stCondLst>
                                            <p:cond delay="0"/>
                                          </p:stCondLst>
                                        </p:cTn>
                                        <p:tgtEl>
                                          <p:spTgt spid="239">
                                            <p:txEl>
                                              <p:pRg st="1" end="1"/>
                                            </p:txEl>
                                          </p:spTgt>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nodeType="clickEffect" fill="hold" presetClass="entr" presetID="1">
                                  <p:stCondLst>
                                    <p:cond delay="0"/>
                                  </p:stCondLst>
                                  <p:childTnLst>
                                    <p:set>
                                      <p:cBhvr>
                                        <p:cTn id="340" dur="1" fill="hold">
                                          <p:stCondLst>
                                            <p:cond delay="0"/>
                                          </p:stCondLst>
                                        </p:cTn>
                                        <p:tgtEl>
                                          <p:spTgt spid="239">
                                            <p:txEl>
                                              <p:pRg st="2" end="2"/>
                                            </p:txEl>
                                          </p:spTgt>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nodeType="clickEffect" fill="hold" presetClass="entr" presetID="1">
                                  <p:stCondLst>
                                    <p:cond delay="0"/>
                                  </p:stCondLst>
                                  <p:childTnLst>
                                    <p:set>
                                      <p:cBhvr>
                                        <p:cTn id="344" dur="1" fill="hold">
                                          <p:stCondLst>
                                            <p:cond delay="0"/>
                                          </p:stCondLst>
                                        </p:cTn>
                                        <p:tgtEl>
                                          <p:spTgt spid="239">
                                            <p:txEl>
                                              <p:pRg st="3" end="3"/>
                                            </p:txEl>
                                          </p:spTgt>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nodeType="clickEffect" fill="hold" presetClass="entr" presetID="1">
                                  <p:stCondLst>
                                    <p:cond delay="0"/>
                                  </p:stCondLst>
                                  <p:childTnLst>
                                    <p:set>
                                      <p:cBhvr>
                                        <p:cTn id="348" dur="1" fill="hold">
                                          <p:stCondLst>
                                            <p:cond delay="0"/>
                                          </p:stCondLst>
                                        </p:cTn>
                                        <p:tgtEl>
                                          <p:spTgt spid="239">
                                            <p:txEl>
                                              <p:pRg st="4" end="4"/>
                                            </p:txEl>
                                          </p:spTgt>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nodeType="clickEffect" fill="hold" presetClass="entr" presetID="1">
                                  <p:stCondLst>
                                    <p:cond delay="0"/>
                                  </p:stCondLst>
                                  <p:childTnLst>
                                    <p:set>
                                      <p:cBhvr>
                                        <p:cTn id="352" dur="1" fill="hold">
                                          <p:stCondLst>
                                            <p:cond delay="0"/>
                                          </p:stCondLst>
                                        </p:cTn>
                                        <p:tgtEl>
                                          <p:spTgt spid="239">
                                            <p:txEl>
                                              <p:pRg st="5" end="5"/>
                                            </p:txEl>
                                          </p:spTgt>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
                                  <p:stCondLst>
                                    <p:cond delay="0"/>
                                  </p:stCondLst>
                                  <p:childTnLst>
                                    <p:set>
                                      <p:cBhvr>
                                        <p:cTn id="356" dur="1" fill="hold">
                                          <p:stCondLst>
                                            <p:cond delay="0"/>
                                          </p:stCondLst>
                                        </p:cTn>
                                        <p:tgtEl>
                                          <p:spTgt spid="239">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242" name="PlaceHolder 2"/>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E827BDE4-5AF7-4C4E-AB26-01CBCAD301A7}" type="slidenum">
              <a:rPr b="0" lang="el" sz="1000" spc="-1" strike="noStrike">
                <a:solidFill>
                  <a:schemeClr val="l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Much Like Your Assignment…</a:t>
            </a:r>
            <a:endParaRPr b="0" lang="en-US" sz="2600" spc="-1" strike="noStrike">
              <a:solidFill>
                <a:srgbClr val="000000"/>
              </a:solidFill>
              <a:latin typeface="Arial"/>
            </a:endParaRPr>
          </a:p>
        </p:txBody>
      </p:sp>
      <p:sp>
        <p:nvSpPr>
          <p:cNvPr id="244"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Create a simple C function named foo() that: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takes a string as an argument;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randomly permutes its characters, stripping out any whitespace, and;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returns the mutated version of the string.</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Using this as a mock “service” implement IPC between a parent process which shares a user provided string and a child process which mutates that string using foo() and returns the mutated version to the parent process. You should implement this in the following three different ways: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Using pipes.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Using shared memory.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Using message queues.</a:t>
            </a:r>
            <a:endParaRPr b="0" lang="en-US" sz="1600" spc="-1" strike="noStrike">
              <a:solidFill>
                <a:srgbClr val="000000"/>
              </a:solidFill>
              <a:latin typeface="Arial"/>
            </a:endParaRPr>
          </a:p>
        </p:txBody>
      </p:sp>
      <p:sp>
        <p:nvSpPr>
          <p:cNvPr id="245"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B96AE20-56C7-4CFA-A38E-BC07893EDF2E}"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Nasal Demons</a:t>
            </a:r>
            <a:endParaRPr b="0" lang="en-US" sz="2600" spc="-1" strike="noStrike">
              <a:solidFill>
                <a:srgbClr val="000000"/>
              </a:solidFill>
              <a:latin typeface="Arial"/>
            </a:endParaRPr>
          </a:p>
        </p:txBody>
      </p:sp>
      <p:sp>
        <p:nvSpPr>
          <p:cNvPr id="24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It is a well known fact that the C compiler can do a lot of stuff at its own will and discretion. One of the most popular capabilities of the C compiler is that of </a:t>
            </a:r>
            <a:r>
              <a:rPr b="1" lang="el" sz="1600" spc="-1" strike="noStrike">
                <a:solidFill>
                  <a:schemeClr val="accent1"/>
                </a:solidFill>
                <a:latin typeface="Lato"/>
                <a:ea typeface="Lato"/>
              </a:rPr>
              <a:t>making demons fly out of your nose. </a:t>
            </a:r>
            <a:r>
              <a:rPr b="0" lang="el" sz="1600" spc="-1" strike="noStrike">
                <a:solidFill>
                  <a:schemeClr val="accent1"/>
                </a:solidFill>
                <a:latin typeface="Lato"/>
                <a:ea typeface="Lato"/>
              </a:rPr>
              <a:t>Your mission for this exercise is to:</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Find out what is the relationship between nasal demons and the C compiler and summarise your findings.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Try to reproduce this behaviour — in the context of its original first appearance in this world, do not try to manipulate demons through your nose in any realistic manner!</a:t>
            </a:r>
            <a:endParaRPr b="0" lang="en-US" sz="1600" spc="-1" strike="noStrike">
              <a:solidFill>
                <a:srgbClr val="000000"/>
              </a:solidFill>
              <a:latin typeface="Arial"/>
            </a:endParaRPr>
          </a:p>
        </p:txBody>
      </p:sp>
      <p:sp>
        <p:nvSpPr>
          <p:cNvPr id="248"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D4EDDF5-F966-48E5-B2F0-28FC6518C5DF}"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About The Critical Section Problem?</a:t>
            </a:r>
            <a:endParaRPr b="0" lang="en-US" sz="2600" spc="-1" strike="noStrike">
              <a:solidFill>
                <a:srgbClr val="000000"/>
              </a:solidFill>
              <a:latin typeface="Arial"/>
            </a:endParaRPr>
          </a:p>
        </p:txBody>
      </p:sp>
      <p:sp>
        <p:nvSpPr>
          <p:cNvPr id="25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Today we discussed about a really new problem, the Critical Section Problem. So far, we have not found a convincing solution to it, albeit we have explored four alternatives that, under certain restrictions, provide some partial solutions.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So, can you think how we might take advantage of the strengths of the solutions we have presented so far to address the Critical Section Problem?</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Implement a full solution to the Critical Section Problem in C using system calls, in the context of the shared counter we have explored today.</a:t>
            </a:r>
            <a:endParaRPr b="0" lang="en-US" sz="1600" spc="-1" strike="noStrike">
              <a:solidFill>
                <a:srgbClr val="000000"/>
              </a:solidFill>
              <a:latin typeface="Arial"/>
            </a:endParaRPr>
          </a:p>
        </p:txBody>
      </p:sp>
      <p:sp>
        <p:nvSpPr>
          <p:cNvPr id="251"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1BEC6EA-AD66-4FE4-B601-D4F25B19389E}"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253"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254"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255" name="Google Shape;299;p26" descr="">
            <a:hlinkClick r:id="rId2"/>
          </p:cNvPr>
          <p:cNvPicPr/>
          <p:nvPr/>
        </p:nvPicPr>
        <p:blipFill>
          <a:blip r:embed="rId3"/>
          <a:stretch/>
        </p:blipFill>
        <p:spPr>
          <a:xfrm>
            <a:off x="5434920" y="1063080"/>
            <a:ext cx="2857320" cy="2857320"/>
          </a:xfrm>
          <a:prstGeom prst="rect">
            <a:avLst/>
          </a:prstGeom>
          <a:ln w="0">
            <a:noFill/>
          </a:ln>
        </p:spPr>
      </p:pic>
      <p:sp>
        <p:nvSpPr>
          <p:cNvPr id="256" name="PlaceHolder 4"/>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F01C202-8ACE-4E33-BBBF-FF46F3EE7A7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2025-12-05T11:56:46Z</dcterms:modified>
  <cp:revision>3</cp:revision>
  <dc:subject/>
  <dc:title/>
</cp:coreProperties>
</file>