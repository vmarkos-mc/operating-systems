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Lat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iV2T5hdFKdYvqLHq3JcdN9yxv0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Lato-bold.fntdata"/><Relationship Id="rId52" Type="http://schemas.openxmlformats.org/officeDocument/2006/relationships/font" Target="fonts/Lato-regular.fntdata"/><Relationship Id="rId11" Type="http://schemas.openxmlformats.org/officeDocument/2006/relationships/slide" Target="slides/slide6.xml"/><Relationship Id="rId55" Type="http://schemas.openxmlformats.org/officeDocument/2006/relationships/font" Target="fonts/Lato-boldItalic.fntdata"/><Relationship Id="rId10" Type="http://schemas.openxmlformats.org/officeDocument/2006/relationships/slide" Target="slides/slide5.xml"/><Relationship Id="rId54"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0" name="Shape 10"/>
        <p:cNvGrpSpPr/>
        <p:nvPr/>
      </p:nvGrpSpPr>
      <p:grpSpPr>
        <a:xfrm>
          <a:off x="0" y="0"/>
          <a:ext cx="0" cy="0"/>
          <a:chOff x="0" y="0"/>
          <a:chExt cx="0" cy="0"/>
        </a:xfrm>
      </p:grpSpPr>
      <p:sp>
        <p:nvSpPr>
          <p:cNvPr id="11" name="Google Shape;11;p4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 name="Google Shape;12;p44"/>
          <p:cNvGrpSpPr/>
          <p:nvPr/>
        </p:nvGrpSpPr>
        <p:grpSpPr>
          <a:xfrm>
            <a:off x="830392" y="1191256"/>
            <a:ext cx="745763" cy="45826"/>
            <a:chOff x="4580561" y="2589004"/>
            <a:chExt cx="1064464" cy="25200"/>
          </a:xfrm>
        </p:grpSpPr>
        <p:sp>
          <p:nvSpPr>
            <p:cNvPr id="13" name="Google Shape;13;p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 name="Google Shape;15;p44"/>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Font typeface="Lato"/>
              <a:buNone/>
              <a:defRPr sz="4200">
                <a:latin typeface="Lato"/>
                <a:ea typeface="Lato"/>
                <a:cs typeface="Lato"/>
                <a:sym typeface="Lato"/>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6" name="Google Shape;16;p44"/>
          <p:cNvSpPr txBox="1"/>
          <p:nvPr>
            <p:ph idx="1" type="subTitle"/>
          </p:nvPr>
        </p:nvSpPr>
        <p:spPr>
          <a:xfrm>
            <a:off x="729625" y="3172900"/>
            <a:ext cx="7688100" cy="73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7" name="Google Shape;17;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18" name="Google Shape;18;p44"/>
          <p:cNvSpPr txBox="1"/>
          <p:nvPr/>
        </p:nvSpPr>
        <p:spPr>
          <a:xfrm>
            <a:off x="6590950" y="3866975"/>
            <a:ext cx="1945500" cy="7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9" name="Google Shape;19;p44"/>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lvl1pPr lvl="0" algn="r">
              <a:lnSpc>
                <a:spcPct val="115000"/>
              </a:lnSpc>
              <a:spcBef>
                <a:spcPts val="0"/>
              </a:spcBef>
              <a:spcAft>
                <a:spcPts val="0"/>
              </a:spcAft>
              <a:buSzPts val="13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p:txBody>
      </p:sp>
    </p:spTree>
  </p:cSld>
  <p:clrMapOvr>
    <a:masterClrMapping/>
  </p:clrMapOvr>
  <p:extLst>
    <p:ext uri="{DCECCB84-F9BA-43D5-87BE-67443E8EF086}">
      <p15:sldGuideLst>
        <p15:guide id="1" orient="horz" pos="750">
          <p15:clr>
            <a:srgbClr val="E46962"/>
          </p15:clr>
        </p15:guide>
        <p15:guide id="2" pos="530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0" name="Shape 20"/>
        <p:cNvGrpSpPr/>
        <p:nvPr/>
      </p:nvGrpSpPr>
      <p:grpSpPr>
        <a:xfrm>
          <a:off x="0" y="0"/>
          <a:ext cx="0" cy="0"/>
          <a:chOff x="0" y="0"/>
          <a:chExt cx="0" cy="0"/>
        </a:xfrm>
      </p:grpSpPr>
      <p:grpSp>
        <p:nvGrpSpPr>
          <p:cNvPr id="21" name="Google Shape;21;p45"/>
          <p:cNvGrpSpPr/>
          <p:nvPr/>
        </p:nvGrpSpPr>
        <p:grpSpPr>
          <a:xfrm>
            <a:off x="830392" y="1191256"/>
            <a:ext cx="745763" cy="45826"/>
            <a:chOff x="4580561" y="2589004"/>
            <a:chExt cx="1064464" cy="25200"/>
          </a:xfrm>
        </p:grpSpPr>
        <p:sp>
          <p:nvSpPr>
            <p:cNvPr id="22" name="Google Shape;22;p4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 name="Google Shape;24;p45"/>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5" name="Google Shape;25;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CCCCCC"/>
              </a:solidFill>
              <a:latin typeface="Arial"/>
              <a:ea typeface="Arial"/>
              <a:cs typeface="Arial"/>
              <a:sym typeface="Arial"/>
            </a:endParaRPr>
          </a:p>
        </p:txBody>
      </p:sp>
      <p:grpSp>
        <p:nvGrpSpPr>
          <p:cNvPr id="28" name="Google Shape;28;p46"/>
          <p:cNvGrpSpPr/>
          <p:nvPr/>
        </p:nvGrpSpPr>
        <p:grpSpPr>
          <a:xfrm>
            <a:off x="830392" y="1191256"/>
            <a:ext cx="745763" cy="45826"/>
            <a:chOff x="4580561" y="2589004"/>
            <a:chExt cx="1064464" cy="25200"/>
          </a:xfrm>
        </p:grpSpPr>
        <p:sp>
          <p:nvSpPr>
            <p:cNvPr id="29" name="Google Shape;29;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 name="Google Shape;31;p4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2" name="Google Shape;32;p4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3" name="Google Shape;33;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47"/>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6" name="Google Shape;36;p47"/>
          <p:cNvGrpSpPr/>
          <p:nvPr/>
        </p:nvGrpSpPr>
        <p:grpSpPr>
          <a:xfrm>
            <a:off x="830392" y="1191256"/>
            <a:ext cx="745763" cy="45826"/>
            <a:chOff x="4580561" y="2589004"/>
            <a:chExt cx="1064464" cy="25200"/>
          </a:xfrm>
        </p:grpSpPr>
        <p:sp>
          <p:nvSpPr>
            <p:cNvPr id="37" name="Google Shape;37;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p47"/>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0" name="Google Shape;40;p47"/>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1" name="Google Shape;41;p47"/>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2" name="Google Shape;42;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Εκτός ύλης">
  <p:cSld name="TITLE_AND_BODY_1">
    <p:bg>
      <p:bgPr>
        <a:solidFill>
          <a:schemeClr val="lt2"/>
        </a:solidFill>
      </p:bgPr>
    </p:bg>
    <p:spTree>
      <p:nvGrpSpPr>
        <p:cNvPr id="43" name="Shape 43"/>
        <p:cNvGrpSpPr/>
        <p:nvPr/>
      </p:nvGrpSpPr>
      <p:grpSpPr>
        <a:xfrm>
          <a:off x="0" y="0"/>
          <a:ext cx="0" cy="0"/>
          <a:chOff x="0" y="0"/>
          <a:chExt cx="0" cy="0"/>
        </a:xfrm>
      </p:grpSpPr>
      <p:sp>
        <p:nvSpPr>
          <p:cNvPr id="44" name="Google Shape;44;p48"/>
          <p:cNvSpPr/>
          <p:nvPr/>
        </p:nvSpPr>
        <p:spPr>
          <a:xfrm>
            <a:off x="0" y="0"/>
            <a:ext cx="9144000" cy="4878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Not relevant for the assessment of the module!</a:t>
            </a:r>
            <a:endParaRPr b="1" i="0" sz="1400" u="none" cap="none" strike="noStrike">
              <a:solidFill>
                <a:schemeClr val="lt1"/>
              </a:solidFill>
              <a:latin typeface="Arial"/>
              <a:ea typeface="Arial"/>
              <a:cs typeface="Arial"/>
              <a:sym typeface="Arial"/>
            </a:endParaRPr>
          </a:p>
        </p:txBody>
      </p:sp>
      <p:grpSp>
        <p:nvGrpSpPr>
          <p:cNvPr id="45" name="Google Shape;45;p48"/>
          <p:cNvGrpSpPr/>
          <p:nvPr/>
        </p:nvGrpSpPr>
        <p:grpSpPr>
          <a:xfrm>
            <a:off x="830392" y="1191256"/>
            <a:ext cx="745763" cy="45826"/>
            <a:chOff x="4580561" y="2589004"/>
            <a:chExt cx="1064464" cy="25200"/>
          </a:xfrm>
        </p:grpSpPr>
        <p:sp>
          <p:nvSpPr>
            <p:cNvPr id="46" name="Google Shape;46;p4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 name="Google Shape;48;p4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9" name="Google Shape;49;p4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0" name="Google Shape;50;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p:cSld name="TITLE_AND_BODY_1_1">
    <p:bg>
      <p:bgPr>
        <a:solidFill>
          <a:schemeClr val="lt2"/>
        </a:solidFill>
      </p:bgPr>
    </p:bg>
    <p:spTree>
      <p:nvGrpSpPr>
        <p:cNvPr id="51" name="Shape 51"/>
        <p:cNvGrpSpPr/>
        <p:nvPr/>
      </p:nvGrpSpPr>
      <p:grpSpPr>
        <a:xfrm>
          <a:off x="0" y="0"/>
          <a:ext cx="0" cy="0"/>
          <a:chOff x="0" y="0"/>
          <a:chExt cx="0" cy="0"/>
        </a:xfrm>
      </p:grpSpPr>
      <p:sp>
        <p:nvSpPr>
          <p:cNvPr id="52" name="Google Shape;52;p49"/>
          <p:cNvSpPr/>
          <p:nvPr/>
        </p:nvSpPr>
        <p:spPr>
          <a:xfrm>
            <a:off x="0" y="0"/>
            <a:ext cx="9144000" cy="48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Heads up!</a:t>
            </a:r>
            <a:endParaRPr b="1" i="0" sz="1400" u="none" cap="none" strike="noStrike">
              <a:solidFill>
                <a:schemeClr val="lt1"/>
              </a:solidFill>
              <a:latin typeface="Arial"/>
              <a:ea typeface="Arial"/>
              <a:cs typeface="Arial"/>
              <a:sym typeface="Arial"/>
            </a:endParaRPr>
          </a:p>
        </p:txBody>
      </p:sp>
      <p:grpSp>
        <p:nvGrpSpPr>
          <p:cNvPr id="53" name="Google Shape;53;p49"/>
          <p:cNvGrpSpPr/>
          <p:nvPr/>
        </p:nvGrpSpPr>
        <p:grpSpPr>
          <a:xfrm>
            <a:off x="830392" y="1191256"/>
            <a:ext cx="745763" cy="45826"/>
            <a:chOff x="4580561" y="2589004"/>
            <a:chExt cx="1064464" cy="25200"/>
          </a:xfrm>
        </p:grpSpPr>
        <p:sp>
          <p:nvSpPr>
            <p:cNvPr id="54" name="Google Shape;54;p4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 name="Google Shape;56;p4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7" name="Google Shape;57;p4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8" name="Google Shape;58;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1">
  <p:cSld name="TITLE_AND_BODY_1_1_1">
    <p:bg>
      <p:bgPr>
        <a:solidFill>
          <a:schemeClr val="lt2"/>
        </a:solidFill>
      </p:bgPr>
    </p:bg>
    <p:spTree>
      <p:nvGrpSpPr>
        <p:cNvPr id="59" name="Shape 59"/>
        <p:cNvGrpSpPr/>
        <p:nvPr/>
      </p:nvGrpSpPr>
      <p:grpSpPr>
        <a:xfrm>
          <a:off x="0" y="0"/>
          <a:ext cx="0" cy="0"/>
          <a:chOff x="0" y="0"/>
          <a:chExt cx="0" cy="0"/>
        </a:xfrm>
      </p:grpSpPr>
      <p:sp>
        <p:nvSpPr>
          <p:cNvPr id="60" name="Google Shape;60;p50"/>
          <p:cNvSpPr/>
          <p:nvPr/>
        </p:nvSpPr>
        <p:spPr>
          <a:xfrm>
            <a:off x="0" y="0"/>
            <a:ext cx="9144000" cy="487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Quick Revision</a:t>
            </a:r>
            <a:endParaRPr b="1" i="0" sz="1400" u="none" cap="none" strike="noStrike">
              <a:solidFill>
                <a:schemeClr val="lt1"/>
              </a:solidFill>
              <a:latin typeface="Arial"/>
              <a:ea typeface="Arial"/>
              <a:cs typeface="Arial"/>
              <a:sym typeface="Arial"/>
            </a:endParaRPr>
          </a:p>
        </p:txBody>
      </p:sp>
      <p:grpSp>
        <p:nvGrpSpPr>
          <p:cNvPr id="61" name="Google Shape;61;p50"/>
          <p:cNvGrpSpPr/>
          <p:nvPr/>
        </p:nvGrpSpPr>
        <p:grpSpPr>
          <a:xfrm>
            <a:off x="830392" y="1191256"/>
            <a:ext cx="745763" cy="45826"/>
            <a:chOff x="4580561" y="2589004"/>
            <a:chExt cx="1064464" cy="25200"/>
          </a:xfrm>
        </p:grpSpPr>
        <p:sp>
          <p:nvSpPr>
            <p:cNvPr id="62" name="Google Shape;62;p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5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5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5" name="Google Shape;65;p50"/>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6" name="Google Shape;66;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5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 name="Google Shape;69;p51"/>
          <p:cNvGrpSpPr/>
          <p:nvPr/>
        </p:nvGrpSpPr>
        <p:grpSpPr>
          <a:xfrm>
            <a:off x="830392" y="1191256"/>
            <a:ext cx="745763" cy="45826"/>
            <a:chOff x="4580561" y="2589004"/>
            <a:chExt cx="1064464" cy="25200"/>
          </a:xfrm>
        </p:grpSpPr>
        <p:sp>
          <p:nvSpPr>
            <p:cNvPr id="70" name="Google Shape;70;p5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 name="Google Shape;72;p51"/>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3" name="Google Shape;73;p51"/>
          <p:cNvSpPr txBox="1"/>
          <p:nvPr>
            <p:ph idx="1" type="body"/>
          </p:nvPr>
        </p:nvSpPr>
        <p:spPr>
          <a:xfrm>
            <a:off x="729325" y="1474150"/>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4" name="Google Shape;74;p51"/>
          <p:cNvSpPr txBox="1"/>
          <p:nvPr>
            <p:ph idx="2" type="body"/>
          </p:nvPr>
        </p:nvSpPr>
        <p:spPr>
          <a:xfrm>
            <a:off x="4643600" y="1474075"/>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5" name="Google Shape;75;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76" name="Google Shape;76;p5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CCCCCC"/>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5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9" name="Google Shape;79;p52"/>
          <p:cNvGrpSpPr/>
          <p:nvPr/>
        </p:nvGrpSpPr>
        <p:grpSpPr>
          <a:xfrm>
            <a:off x="830392" y="1191256"/>
            <a:ext cx="745763" cy="45826"/>
            <a:chOff x="4580561" y="2589004"/>
            <a:chExt cx="1064464" cy="25200"/>
          </a:xfrm>
        </p:grpSpPr>
        <p:sp>
          <p:nvSpPr>
            <p:cNvPr id="80" name="Google Shape;80;p5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 name="Google Shape;82;p52"/>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83" name="Google Shape;83;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84" name="Google Shape;84;p5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CCCCCC"/>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5" name="Shape 85"/>
        <p:cNvGrpSpPr/>
        <p:nvPr/>
      </p:nvGrpSpPr>
      <p:grpSpPr>
        <a:xfrm>
          <a:off x="0" y="0"/>
          <a:ext cx="0" cy="0"/>
          <a:chOff x="0" y="0"/>
          <a:chExt cx="0" cy="0"/>
        </a:xfrm>
      </p:grpSpPr>
      <p:sp>
        <p:nvSpPr>
          <p:cNvPr id="86" name="Google Shape;86;p5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 name="Google Shape;87;p53"/>
          <p:cNvGrpSpPr/>
          <p:nvPr/>
        </p:nvGrpSpPr>
        <p:grpSpPr>
          <a:xfrm>
            <a:off x="830392" y="1191256"/>
            <a:ext cx="745763" cy="45826"/>
            <a:chOff x="4580561" y="2589004"/>
            <a:chExt cx="1064464" cy="25200"/>
          </a:xfrm>
        </p:grpSpPr>
        <p:sp>
          <p:nvSpPr>
            <p:cNvPr id="88" name="Google Shape;88;p5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53"/>
          <p:cNvSpPr txBox="1"/>
          <p:nvPr>
            <p:ph type="title"/>
          </p:nvPr>
        </p:nvSpPr>
        <p:spPr>
          <a:xfrm>
            <a:off x="721225" y="523413"/>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91" name="Google Shape;91;p53"/>
          <p:cNvSpPr txBox="1"/>
          <p:nvPr>
            <p:ph idx="1" type="body"/>
          </p:nvPr>
        </p:nvSpPr>
        <p:spPr>
          <a:xfrm>
            <a:off x="721225" y="1452775"/>
            <a:ext cx="3300900" cy="2926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2" name="Google Shape;9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93" name="Google Shape;93;p5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t/>
            </a:r>
            <a:endParaRPr b="0" i="0" sz="1000" u="none" cap="none" strike="noStrike">
              <a:solidFill>
                <a:srgbClr val="CCCCCC"/>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4" name="Shape 94"/>
        <p:cNvGrpSpPr/>
        <p:nvPr/>
      </p:nvGrpSpPr>
      <p:grpSpPr>
        <a:xfrm>
          <a:off x="0" y="0"/>
          <a:ext cx="0" cy="0"/>
          <a:chOff x="0" y="0"/>
          <a:chExt cx="0" cy="0"/>
        </a:xfrm>
      </p:grpSpPr>
      <p:grpSp>
        <p:nvGrpSpPr>
          <p:cNvPr id="95" name="Google Shape;95;p54"/>
          <p:cNvGrpSpPr/>
          <p:nvPr/>
        </p:nvGrpSpPr>
        <p:grpSpPr>
          <a:xfrm>
            <a:off x="830392" y="4169130"/>
            <a:ext cx="745763" cy="45826"/>
            <a:chOff x="4580561" y="2589004"/>
            <a:chExt cx="1064464" cy="25200"/>
          </a:xfrm>
        </p:grpSpPr>
        <p:sp>
          <p:nvSpPr>
            <p:cNvPr id="96" name="Google Shape;96;p5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5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9" name="Google Shape;99;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5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2" name="Google Shape;102;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03" name="Shape 103"/>
        <p:cNvGrpSpPr/>
        <p:nvPr/>
      </p:nvGrpSpPr>
      <p:grpSpPr>
        <a:xfrm>
          <a:off x="0" y="0"/>
          <a:ext cx="0" cy="0"/>
          <a:chOff x="0" y="0"/>
          <a:chExt cx="0" cy="0"/>
        </a:xfrm>
      </p:grpSpPr>
      <p:grpSp>
        <p:nvGrpSpPr>
          <p:cNvPr id="104" name="Google Shape;104;p56"/>
          <p:cNvGrpSpPr/>
          <p:nvPr/>
        </p:nvGrpSpPr>
        <p:grpSpPr>
          <a:xfrm>
            <a:off x="830392" y="4169130"/>
            <a:ext cx="745763" cy="45826"/>
            <a:chOff x="4580561" y="2589004"/>
            <a:chExt cx="1064464" cy="25200"/>
          </a:xfrm>
        </p:grpSpPr>
        <p:sp>
          <p:nvSpPr>
            <p:cNvPr id="105" name="Google Shape;105;p5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7" name="Google Shape;107;p5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Font typeface="Lato"/>
              <a:buNone/>
              <a:defRPr sz="80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08" name="Google Shape;108;p5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109" name="Google Shape;109;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9" name="Google Shape;9;p43"/>
          <p:cNvSpPr txBox="1"/>
          <p:nvPr>
            <p:ph idx="2" type="title"/>
          </p:nvPr>
        </p:nvSpPr>
        <p:spPr>
          <a:xfrm>
            <a:off x="157325" y="41050"/>
            <a:ext cx="8927700" cy="3936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CCCCCC"/>
              </a:buClr>
              <a:buSzPts val="1000"/>
              <a:buFont typeface="Lato"/>
              <a:buNone/>
              <a:defRPr b="0" i="0" sz="1000" u="none" cap="none" strike="noStrike">
                <a:solidFill>
                  <a:srgbClr val="CCCCCC"/>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int0x33.medium.com/day-51-understanding-the-osi-model-f22d5f3df75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en.wikipedia.org/wiki/Circular_buffer"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hyperlink" Target="https://forms.gle/aj7pYsK1ksufD6xYA" TargetMode="External"/><Relationship Id="rId4" Type="http://schemas.openxmlformats.org/officeDocument/2006/relationships/hyperlink" Target="https://forms.gle/aj7pYsK1ksufD6xYA" TargetMode="External"/><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l"/>
              <a:t>Operating Systems</a:t>
            </a:r>
            <a:br>
              <a:rPr lang="el"/>
            </a:br>
            <a:r>
              <a:rPr b="0" lang="el" sz="1600">
                <a:solidFill>
                  <a:schemeClr val="accent1"/>
                </a:solidFill>
              </a:rPr>
              <a:t>IPC: Inter-processes Communication</a:t>
            </a:r>
            <a:endParaRPr b="0" sz="1600">
              <a:solidFill>
                <a:schemeClr val="accent1"/>
              </a:solidFill>
            </a:endParaRPr>
          </a:p>
        </p:txBody>
      </p:sp>
      <p:sp>
        <p:nvSpPr>
          <p:cNvPr id="117" name="Google Shape;117;p1"/>
          <p:cNvSpPr txBox="1"/>
          <p:nvPr>
            <p:ph idx="1" type="subTitle"/>
          </p:nvPr>
        </p:nvSpPr>
        <p:spPr>
          <a:xfrm>
            <a:off x="729625" y="3172900"/>
            <a:ext cx="7688100" cy="73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Vassilis Markos,</a:t>
            </a:r>
            <a:br>
              <a:rPr lang="el"/>
            </a:br>
            <a:r>
              <a:rPr lang="el"/>
              <a:t>Mediterranean College</a:t>
            </a:r>
            <a:endParaRPr/>
          </a:p>
        </p:txBody>
      </p:sp>
      <p:sp>
        <p:nvSpPr>
          <p:cNvPr id="118" name="Google Shape;118;p1"/>
          <p:cNvSpPr txBox="1"/>
          <p:nvPr/>
        </p:nvSpPr>
        <p:spPr>
          <a:xfrm>
            <a:off x="6029600" y="4001275"/>
            <a:ext cx="2388000" cy="616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ato"/>
              <a:ea typeface="Lato"/>
              <a:cs typeface="Lato"/>
              <a:sym typeface="Lato"/>
            </a:endParaRPr>
          </a:p>
        </p:txBody>
      </p:sp>
      <p:sp>
        <p:nvSpPr>
          <p:cNvPr id="119" name="Google Shape;119;p1"/>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p>
            <a:pPr indent="0" lvl="0" marL="0" rtl="0" algn="r">
              <a:lnSpc>
                <a:spcPct val="115000"/>
              </a:lnSpc>
              <a:spcBef>
                <a:spcPts val="0"/>
              </a:spcBef>
              <a:spcAft>
                <a:spcPts val="1200"/>
              </a:spcAft>
              <a:buSzPts val="1300"/>
              <a:buNone/>
            </a:pPr>
            <a:r>
              <a:rPr lang="el"/>
              <a:t>Week 11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UDP</a:t>
            </a:r>
            <a:endParaRPr/>
          </a:p>
        </p:txBody>
      </p:sp>
      <p:sp>
        <p:nvSpPr>
          <p:cNvPr id="125" name="Google Shape;125;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Open Systems Interconnection (OSI)</a:t>
            </a:r>
            <a:endParaRPr/>
          </a:p>
        </p:txBody>
      </p:sp>
      <p:sp>
        <p:nvSpPr>
          <p:cNvPr id="131" name="Google Shape;131;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32" name="Google Shape;132;p3"/>
          <p:cNvPicPr preferRelativeResize="0"/>
          <p:nvPr/>
        </p:nvPicPr>
        <p:blipFill rotWithShape="1">
          <a:blip r:embed="rId3">
            <a:alphaModFix/>
          </a:blip>
          <a:srcRect b="0" l="0" r="0" t="0"/>
          <a:stretch/>
        </p:blipFill>
        <p:spPr>
          <a:xfrm>
            <a:off x="729450" y="1295875"/>
            <a:ext cx="5205903" cy="3731575"/>
          </a:xfrm>
          <a:prstGeom prst="rect">
            <a:avLst/>
          </a:prstGeom>
          <a:noFill/>
          <a:ln>
            <a:noFill/>
          </a:ln>
        </p:spPr>
      </p:pic>
      <p:sp>
        <p:nvSpPr>
          <p:cNvPr id="133" name="Google Shape;133;p3"/>
          <p:cNvSpPr txBox="1"/>
          <p:nvPr/>
        </p:nvSpPr>
        <p:spPr>
          <a:xfrm>
            <a:off x="6094500" y="3980750"/>
            <a:ext cx="26496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l" sz="1400" u="none" cap="none" strike="noStrike">
                <a:solidFill>
                  <a:schemeClr val="accent1"/>
                </a:solidFill>
                <a:latin typeface="Lato"/>
                <a:ea typeface="Lato"/>
                <a:cs typeface="Lato"/>
                <a:sym typeface="Lato"/>
              </a:rPr>
              <a:t>Borrowed from:</a:t>
            </a:r>
            <a:r>
              <a:rPr b="0" i="0" lang="el" sz="1400" u="none" cap="none" strike="noStrike">
                <a:solidFill>
                  <a:srgbClr val="000000"/>
                </a:solidFill>
                <a:latin typeface="Lato"/>
                <a:ea typeface="Lato"/>
                <a:cs typeface="Lato"/>
                <a:sym typeface="Lato"/>
              </a:rPr>
              <a:t> </a:t>
            </a:r>
            <a:r>
              <a:rPr b="0" i="0" lang="el" sz="1400" u="sng" cap="none" strike="noStrike">
                <a:solidFill>
                  <a:schemeClr val="hlink"/>
                </a:solidFill>
                <a:latin typeface="Lato"/>
                <a:ea typeface="Lato"/>
                <a:cs typeface="Lato"/>
                <a:sym typeface="Lato"/>
                <a:hlinkClick r:id="rId4"/>
              </a:rPr>
              <a:t>https://int0x33.medium.com/day-51-understanding-the-osi-model-f22d5f3df756</a:t>
            </a:r>
            <a:endParaRPr b="0" i="0" sz="1400" u="none" cap="none" strike="noStrike">
              <a:solidFill>
                <a:srgbClr val="000000"/>
              </a:solidFill>
              <a:latin typeface="Lato"/>
              <a:ea typeface="Lato"/>
              <a:cs typeface="Lato"/>
              <a:sym typeface="Lato"/>
            </a:endParaRPr>
          </a:p>
        </p:txBody>
      </p:sp>
      <p:sp>
        <p:nvSpPr>
          <p:cNvPr id="134" name="Google Shape;134;p3"/>
          <p:cNvSpPr txBox="1"/>
          <p:nvPr/>
        </p:nvSpPr>
        <p:spPr>
          <a:xfrm>
            <a:off x="6094500" y="1444850"/>
            <a:ext cx="2808600" cy="25359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accent1"/>
              </a:buClr>
              <a:buSzPts val="1600"/>
              <a:buFont typeface="Lato"/>
              <a:buChar char="●"/>
            </a:pPr>
            <a:r>
              <a:rPr b="0" i="0" lang="el" sz="1600" u="none" cap="none" strike="noStrike">
                <a:solidFill>
                  <a:schemeClr val="accent1"/>
                </a:solidFill>
                <a:latin typeface="Lato"/>
                <a:ea typeface="Lato"/>
                <a:cs typeface="Lato"/>
                <a:sym typeface="Lato"/>
              </a:rPr>
              <a:t>The top 4 layers are the </a:t>
            </a:r>
            <a:r>
              <a:rPr b="1" i="0" lang="el" sz="1600" u="none" cap="none" strike="noStrike">
                <a:solidFill>
                  <a:schemeClr val="accent1"/>
                </a:solidFill>
                <a:latin typeface="Lato"/>
                <a:ea typeface="Lato"/>
                <a:cs typeface="Lato"/>
                <a:sym typeface="Lato"/>
              </a:rPr>
              <a:t>Host Layers.</a:t>
            </a:r>
            <a:endParaRPr b="1" i="0" sz="1600" u="none" cap="none" strike="noStrike">
              <a:solidFill>
                <a:schemeClr val="accent1"/>
              </a:solidFill>
              <a:latin typeface="Lato"/>
              <a:ea typeface="Lato"/>
              <a:cs typeface="Lato"/>
              <a:sym typeface="Lato"/>
            </a:endParaRPr>
          </a:p>
          <a:p>
            <a:pPr indent="-330200" lvl="0" marL="457200" marR="0" rtl="0" algn="l">
              <a:lnSpc>
                <a:spcPct val="100000"/>
              </a:lnSpc>
              <a:spcBef>
                <a:spcPts val="0"/>
              </a:spcBef>
              <a:spcAft>
                <a:spcPts val="0"/>
              </a:spcAft>
              <a:buClr>
                <a:schemeClr val="accent1"/>
              </a:buClr>
              <a:buSzPts val="1600"/>
              <a:buFont typeface="Lato"/>
              <a:buChar char="●"/>
            </a:pPr>
            <a:r>
              <a:rPr b="0" i="0" lang="el" sz="1600" u="none" cap="none" strike="noStrike">
                <a:solidFill>
                  <a:schemeClr val="accent1"/>
                </a:solidFill>
                <a:latin typeface="Lato"/>
                <a:ea typeface="Lato"/>
                <a:cs typeface="Lato"/>
                <a:sym typeface="Lato"/>
              </a:rPr>
              <a:t>The bottom 3 layers are the </a:t>
            </a:r>
            <a:r>
              <a:rPr b="1" i="0" lang="el" sz="1600" u="none" cap="none" strike="noStrike">
                <a:solidFill>
                  <a:schemeClr val="accent1"/>
                </a:solidFill>
                <a:latin typeface="Lato"/>
                <a:ea typeface="Lato"/>
                <a:cs typeface="Lato"/>
                <a:sym typeface="Lato"/>
              </a:rPr>
              <a:t>Media Layers.</a:t>
            </a:r>
            <a:endParaRPr b="0" i="0" sz="1600" u="none" cap="none" strike="noStrike">
              <a:solidFill>
                <a:schemeClr val="accent1"/>
              </a:solidFill>
              <a:latin typeface="Lato"/>
              <a:ea typeface="Lato"/>
              <a:cs typeface="Lato"/>
              <a:sym typeface="Lato"/>
            </a:endParaRPr>
          </a:p>
          <a:p>
            <a:pPr indent="-330200" lvl="0" marL="457200" marR="0" rtl="0" algn="l">
              <a:lnSpc>
                <a:spcPct val="100000"/>
              </a:lnSpc>
              <a:spcBef>
                <a:spcPts val="0"/>
              </a:spcBef>
              <a:spcAft>
                <a:spcPts val="0"/>
              </a:spcAft>
              <a:buClr>
                <a:schemeClr val="accent1"/>
              </a:buClr>
              <a:buSzPts val="1600"/>
              <a:buFont typeface="Lato"/>
              <a:buChar char="●"/>
            </a:pPr>
            <a:r>
              <a:rPr b="0" i="0" lang="el" sz="1600" u="none" cap="none" strike="noStrike">
                <a:solidFill>
                  <a:schemeClr val="accent1"/>
                </a:solidFill>
                <a:latin typeface="Lato"/>
                <a:ea typeface="Lato"/>
                <a:cs typeface="Lato"/>
                <a:sym typeface="Lato"/>
              </a:rPr>
              <a:t>Sometimes, we split the 2nd layer (Data Link) to two sublayers: LLC and MAC.</a:t>
            </a:r>
            <a:endParaRPr b="0" i="0" sz="1600" u="none" cap="none" strike="noStrike">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Relevant Concepts</a:t>
            </a:r>
            <a:endParaRPr/>
          </a:p>
        </p:txBody>
      </p:sp>
      <p:sp>
        <p:nvSpPr>
          <p:cNvPr id="140" name="Google Shape;140;p4"/>
          <p:cNvSpPr txBox="1"/>
          <p:nvPr>
            <p:ph idx="1" type="body"/>
          </p:nvPr>
        </p:nvSpPr>
        <p:spPr>
          <a:xfrm>
            <a:off x="729450" y="1378000"/>
            <a:ext cx="7688700" cy="3765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Data segmentation?</a:t>
            </a:r>
            <a:endParaRPr b="1"/>
          </a:p>
          <a:p>
            <a:pPr indent="-330200" lvl="1" marL="914400" rtl="0" algn="l">
              <a:lnSpc>
                <a:spcPct val="115000"/>
              </a:lnSpc>
              <a:spcBef>
                <a:spcPts val="0"/>
              </a:spcBef>
              <a:spcAft>
                <a:spcPts val="0"/>
              </a:spcAft>
              <a:buSzPts val="1600"/>
              <a:buChar char="○"/>
            </a:pPr>
            <a:r>
              <a:rPr lang="el"/>
              <a:t>The practice of splitting up larger chunks of data to smaller bits.</a:t>
            </a:r>
            <a:endParaRPr/>
          </a:p>
          <a:p>
            <a:pPr indent="-330200" lvl="1" marL="914400" rtl="0" algn="l">
              <a:lnSpc>
                <a:spcPct val="115000"/>
              </a:lnSpc>
              <a:spcBef>
                <a:spcPts val="0"/>
              </a:spcBef>
              <a:spcAft>
                <a:spcPts val="0"/>
              </a:spcAft>
              <a:buSzPts val="1600"/>
              <a:buChar char="○"/>
            </a:pPr>
            <a:r>
              <a:rPr lang="el"/>
              <a:t>Why?</a:t>
            </a:r>
            <a:endParaRPr/>
          </a:p>
          <a:p>
            <a:pPr indent="-330200" lvl="1" marL="914400" rtl="0" algn="l">
              <a:lnSpc>
                <a:spcPct val="115000"/>
              </a:lnSpc>
              <a:spcBef>
                <a:spcPts val="0"/>
              </a:spcBef>
              <a:spcAft>
                <a:spcPts val="0"/>
              </a:spcAft>
              <a:buSzPts val="1600"/>
              <a:buChar char="○"/>
            </a:pPr>
            <a:r>
              <a:rPr lang="el"/>
              <a:t>Because packets have a fixed max size (usually 1518B) to avoid a single infinite packet blocking the internet forever.</a:t>
            </a:r>
            <a:endParaRPr/>
          </a:p>
          <a:p>
            <a:pPr indent="-330200" lvl="0" marL="457200" rtl="0" algn="l">
              <a:lnSpc>
                <a:spcPct val="115000"/>
              </a:lnSpc>
              <a:spcBef>
                <a:spcPts val="0"/>
              </a:spcBef>
              <a:spcAft>
                <a:spcPts val="0"/>
              </a:spcAft>
              <a:buSzPts val="1600"/>
              <a:buChar char="●"/>
            </a:pPr>
            <a:r>
              <a:rPr b="1" lang="el"/>
              <a:t>Ports?</a:t>
            </a:r>
            <a:endParaRPr b="1"/>
          </a:p>
          <a:p>
            <a:pPr indent="-330200" lvl="1" marL="914400" rtl="0" algn="l">
              <a:lnSpc>
                <a:spcPct val="115000"/>
              </a:lnSpc>
              <a:spcBef>
                <a:spcPts val="0"/>
              </a:spcBef>
              <a:spcAft>
                <a:spcPts val="0"/>
              </a:spcAft>
              <a:buSzPts val="1600"/>
              <a:buChar char="○"/>
            </a:pPr>
            <a:r>
              <a:rPr lang="el"/>
              <a:t>Logical entities corresponding to different services (e.g. 80 → WWW)</a:t>
            </a:r>
            <a:endParaRPr/>
          </a:p>
          <a:p>
            <a:pPr indent="-330200" lvl="1" marL="914400" rtl="0" algn="l">
              <a:lnSpc>
                <a:spcPct val="115000"/>
              </a:lnSpc>
              <a:spcBef>
                <a:spcPts val="0"/>
              </a:spcBef>
              <a:spcAft>
                <a:spcPts val="0"/>
              </a:spcAft>
              <a:buSzPts val="1600"/>
              <a:buChar char="○"/>
            </a:pPr>
            <a:r>
              <a:rPr lang="el"/>
              <a:t>Why?</a:t>
            </a:r>
            <a:endParaRPr/>
          </a:p>
          <a:p>
            <a:pPr indent="-330200" lvl="1" marL="914400" rtl="0" algn="l">
              <a:lnSpc>
                <a:spcPct val="115000"/>
              </a:lnSpc>
              <a:spcBef>
                <a:spcPts val="0"/>
              </a:spcBef>
              <a:spcAft>
                <a:spcPts val="0"/>
              </a:spcAft>
              <a:buSzPts val="1600"/>
              <a:buChar char="○"/>
            </a:pPr>
            <a:r>
              <a:rPr lang="el"/>
              <a:t>Because we need more than one processes / services to run at the same time → </a:t>
            </a:r>
            <a:r>
              <a:rPr b="1" lang="el">
                <a:solidFill>
                  <a:schemeClr val="accent3"/>
                </a:solidFill>
              </a:rPr>
              <a:t>DO NOT</a:t>
            </a:r>
            <a:r>
              <a:rPr lang="el"/>
              <a:t> confuse with physical ports (i.e., holes)</a:t>
            </a:r>
            <a:endParaRPr/>
          </a:p>
        </p:txBody>
      </p:sp>
      <p:sp>
        <p:nvSpPr>
          <p:cNvPr id="141" name="Google Shape;141;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Port Ranges</a:t>
            </a:r>
            <a:endParaRPr/>
          </a:p>
        </p:txBody>
      </p:sp>
      <p:sp>
        <p:nvSpPr>
          <p:cNvPr id="147" name="Google Shape;147;p5"/>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0 – 1023 → Just don’t use them!</a:t>
            </a:r>
            <a:endParaRPr/>
          </a:p>
          <a:p>
            <a:pPr indent="-330200" lvl="1" marL="914400" rtl="0" algn="l">
              <a:lnSpc>
                <a:spcPct val="115000"/>
              </a:lnSpc>
              <a:spcBef>
                <a:spcPts val="0"/>
              </a:spcBef>
              <a:spcAft>
                <a:spcPts val="0"/>
              </a:spcAft>
              <a:buSzPts val="1600"/>
              <a:buChar char="○"/>
            </a:pPr>
            <a:r>
              <a:rPr lang="el"/>
              <a:t>Reserved by the system for its own business.</a:t>
            </a:r>
            <a:endParaRPr/>
          </a:p>
          <a:p>
            <a:pPr indent="-330200" lvl="1" marL="914400" rtl="0" algn="l">
              <a:lnSpc>
                <a:spcPct val="115000"/>
              </a:lnSpc>
              <a:spcBef>
                <a:spcPts val="0"/>
              </a:spcBef>
              <a:spcAft>
                <a:spcPts val="0"/>
              </a:spcAft>
              <a:buSzPts val="1600"/>
              <a:buChar char="○"/>
            </a:pPr>
            <a:r>
              <a:rPr lang="el"/>
              <a:t>Known as “well known ports”.</a:t>
            </a:r>
            <a:endParaRPr/>
          </a:p>
          <a:p>
            <a:pPr indent="-330200" lvl="0" marL="457200" rtl="0" algn="l">
              <a:lnSpc>
                <a:spcPct val="115000"/>
              </a:lnSpc>
              <a:spcBef>
                <a:spcPts val="0"/>
              </a:spcBef>
              <a:spcAft>
                <a:spcPts val="0"/>
              </a:spcAft>
              <a:buSzPts val="1600"/>
              <a:buChar char="●"/>
            </a:pPr>
            <a:r>
              <a:rPr lang="el"/>
              <a:t>1024 – 49151 → “Registered ports”</a:t>
            </a:r>
            <a:endParaRPr/>
          </a:p>
          <a:p>
            <a:pPr indent="-330200" lvl="1" marL="914400" rtl="0" algn="l">
              <a:lnSpc>
                <a:spcPct val="115000"/>
              </a:lnSpc>
              <a:spcBef>
                <a:spcPts val="0"/>
              </a:spcBef>
              <a:spcAft>
                <a:spcPts val="0"/>
              </a:spcAft>
              <a:buSzPts val="1600"/>
              <a:buChar char="○"/>
            </a:pPr>
            <a:r>
              <a:rPr lang="el"/>
              <a:t>Uniquely identified services.</a:t>
            </a:r>
            <a:endParaRPr/>
          </a:p>
          <a:p>
            <a:pPr indent="-330200" lvl="1" marL="914400" rtl="0" algn="l">
              <a:lnSpc>
                <a:spcPct val="115000"/>
              </a:lnSpc>
              <a:spcBef>
                <a:spcPts val="0"/>
              </a:spcBef>
              <a:spcAft>
                <a:spcPts val="0"/>
              </a:spcAft>
              <a:buSzPts val="1600"/>
              <a:buChar char="○"/>
            </a:pPr>
            <a:r>
              <a:rPr lang="el"/>
              <a:t>Use but cautiously.</a:t>
            </a:r>
            <a:endParaRPr/>
          </a:p>
          <a:p>
            <a:pPr indent="-330200" lvl="0" marL="457200" rtl="0" algn="l">
              <a:lnSpc>
                <a:spcPct val="115000"/>
              </a:lnSpc>
              <a:spcBef>
                <a:spcPts val="0"/>
              </a:spcBef>
              <a:spcAft>
                <a:spcPts val="0"/>
              </a:spcAft>
              <a:buSzPts val="1600"/>
              <a:buChar char="●"/>
            </a:pPr>
            <a:r>
              <a:rPr lang="el"/>
              <a:t>49152 – 65535:</a:t>
            </a:r>
            <a:endParaRPr/>
          </a:p>
          <a:p>
            <a:pPr indent="-330200" lvl="1" marL="914400" rtl="0" algn="l">
              <a:lnSpc>
                <a:spcPct val="115000"/>
              </a:lnSpc>
              <a:spcBef>
                <a:spcPts val="0"/>
              </a:spcBef>
              <a:spcAft>
                <a:spcPts val="0"/>
              </a:spcAft>
              <a:buSzPts val="1600"/>
              <a:buChar char="○"/>
            </a:pPr>
            <a:r>
              <a:rPr lang="el"/>
              <a:t>Private / Dynamic ports</a:t>
            </a:r>
            <a:endParaRPr/>
          </a:p>
          <a:p>
            <a:pPr indent="-330200" lvl="1" marL="914400" rtl="0" algn="l">
              <a:lnSpc>
                <a:spcPct val="115000"/>
              </a:lnSpc>
              <a:spcBef>
                <a:spcPts val="0"/>
              </a:spcBef>
              <a:spcAft>
                <a:spcPts val="0"/>
              </a:spcAft>
              <a:buSzPts val="1600"/>
              <a:buChar char="○"/>
            </a:pPr>
            <a:r>
              <a:rPr lang="el"/>
              <a:t>Use as you wish.</a:t>
            </a:r>
            <a:endParaRPr/>
          </a:p>
          <a:p>
            <a:pPr indent="-330200" lvl="0" marL="457200" rtl="0" algn="l">
              <a:lnSpc>
                <a:spcPct val="115000"/>
              </a:lnSpc>
              <a:spcBef>
                <a:spcPts val="0"/>
              </a:spcBef>
              <a:spcAft>
                <a:spcPts val="0"/>
              </a:spcAft>
              <a:buSzPts val="1600"/>
              <a:buChar char="●"/>
            </a:pPr>
            <a:r>
              <a:rPr lang="el"/>
              <a:t>Why 65535?</a:t>
            </a:r>
            <a:endParaRPr/>
          </a:p>
          <a:p>
            <a:pPr indent="-330200" lvl="1" marL="914400" rtl="0" algn="l">
              <a:lnSpc>
                <a:spcPct val="115000"/>
              </a:lnSpc>
              <a:spcBef>
                <a:spcPts val="0"/>
              </a:spcBef>
              <a:spcAft>
                <a:spcPts val="0"/>
              </a:spcAft>
              <a:buSzPts val="1600"/>
              <a:buChar char="○"/>
            </a:pPr>
            <a:r>
              <a:rPr lang="el"/>
              <a:t>65535 = 2^(16) - 1…</a:t>
            </a:r>
            <a:endParaRPr/>
          </a:p>
          <a:p>
            <a:pPr indent="-330200" lvl="1" marL="914400" rtl="0" algn="l">
              <a:lnSpc>
                <a:spcPct val="115000"/>
              </a:lnSpc>
              <a:spcBef>
                <a:spcPts val="0"/>
              </a:spcBef>
              <a:spcAft>
                <a:spcPts val="0"/>
              </a:spcAft>
              <a:buSzPts val="1600"/>
              <a:buChar char="○"/>
            </a:pPr>
            <a:r>
              <a:rPr lang="el"/>
              <a:t>… we use 16 bits to define a port.</a:t>
            </a:r>
            <a:endParaRPr/>
          </a:p>
        </p:txBody>
      </p:sp>
      <p:sp>
        <p:nvSpPr>
          <p:cNvPr id="148" name="Google Shape;148;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Conversation Multiplexing</a:t>
            </a:r>
            <a:endParaRPr/>
          </a:p>
        </p:txBody>
      </p:sp>
      <p:sp>
        <p:nvSpPr>
          <p:cNvPr id="154" name="Google Shape;154;p6"/>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Imagine you have two large messages, A, and B. What are the pros and cons of:</a:t>
            </a:r>
            <a:endParaRPr/>
          </a:p>
          <a:p>
            <a:pPr indent="-330200" lvl="1" marL="914400" rtl="0" algn="l">
              <a:lnSpc>
                <a:spcPct val="115000"/>
              </a:lnSpc>
              <a:spcBef>
                <a:spcPts val="0"/>
              </a:spcBef>
              <a:spcAft>
                <a:spcPts val="0"/>
              </a:spcAft>
              <a:buSzPts val="1600"/>
              <a:buChar char="○"/>
            </a:pPr>
            <a:r>
              <a:rPr lang="el"/>
              <a:t>Sending first A and then B (or vice versa)?</a:t>
            </a:r>
            <a:endParaRPr/>
          </a:p>
          <a:p>
            <a:pPr indent="-330200" lvl="1" marL="914400" rtl="0" algn="l">
              <a:lnSpc>
                <a:spcPct val="115000"/>
              </a:lnSpc>
              <a:spcBef>
                <a:spcPts val="0"/>
              </a:spcBef>
              <a:spcAft>
                <a:spcPts val="0"/>
              </a:spcAft>
              <a:buSzPts val="1600"/>
              <a:buChar char="○"/>
            </a:pPr>
            <a:r>
              <a:rPr lang="el"/>
              <a:t>What if A is urgent?</a:t>
            </a:r>
            <a:endParaRPr/>
          </a:p>
          <a:p>
            <a:pPr indent="-330200" lvl="1" marL="914400" rtl="0" algn="l">
              <a:lnSpc>
                <a:spcPct val="115000"/>
              </a:lnSpc>
              <a:spcBef>
                <a:spcPts val="0"/>
              </a:spcBef>
              <a:spcAft>
                <a:spcPts val="0"/>
              </a:spcAft>
              <a:buSzPts val="1600"/>
              <a:buChar char="○"/>
            </a:pPr>
            <a:r>
              <a:rPr lang="el"/>
              <a:t>What if both are urgent?</a:t>
            </a:r>
            <a:endParaRPr/>
          </a:p>
          <a:p>
            <a:pPr indent="-330200" lvl="0" marL="457200" rtl="0" algn="l">
              <a:lnSpc>
                <a:spcPct val="115000"/>
              </a:lnSpc>
              <a:spcBef>
                <a:spcPts val="0"/>
              </a:spcBef>
              <a:spcAft>
                <a:spcPts val="0"/>
              </a:spcAft>
              <a:buSzPts val="1600"/>
              <a:buChar char="●"/>
            </a:pPr>
            <a:r>
              <a:rPr lang="el"/>
              <a:t>How can the use of ports + data segmentation help you on that?</a:t>
            </a:r>
            <a:endParaRPr/>
          </a:p>
          <a:p>
            <a:pPr indent="-330200" lvl="0" marL="457200" rtl="0" algn="l">
              <a:lnSpc>
                <a:spcPct val="115000"/>
              </a:lnSpc>
              <a:spcBef>
                <a:spcPts val="0"/>
              </a:spcBef>
              <a:spcAft>
                <a:spcPts val="0"/>
              </a:spcAft>
              <a:buSzPts val="1600"/>
              <a:buChar char="●"/>
            </a:pPr>
            <a:r>
              <a:rPr lang="el"/>
              <a:t>Conversation multiplexing:</a:t>
            </a:r>
            <a:endParaRPr/>
          </a:p>
          <a:p>
            <a:pPr indent="-330200" lvl="1" marL="914400" rtl="0" algn="l">
              <a:lnSpc>
                <a:spcPct val="115000"/>
              </a:lnSpc>
              <a:spcBef>
                <a:spcPts val="0"/>
              </a:spcBef>
              <a:spcAft>
                <a:spcPts val="0"/>
              </a:spcAft>
              <a:buSzPts val="1600"/>
              <a:buChar char="○"/>
            </a:pPr>
            <a:r>
              <a:rPr lang="el"/>
              <a:t>When two or more “conversations” are executed simultaneously by:</a:t>
            </a:r>
            <a:endParaRPr/>
          </a:p>
          <a:p>
            <a:pPr indent="-330200" lvl="2" marL="1371600" rtl="0" algn="l">
              <a:lnSpc>
                <a:spcPct val="115000"/>
              </a:lnSpc>
              <a:spcBef>
                <a:spcPts val="0"/>
              </a:spcBef>
              <a:spcAft>
                <a:spcPts val="0"/>
              </a:spcAft>
              <a:buSzPts val="1600"/>
              <a:buChar char="■"/>
            </a:pPr>
            <a:r>
              <a:rPr lang="el" sz="1600"/>
              <a:t>spitting each message into smaller chunks (segmentation), and;</a:t>
            </a:r>
            <a:endParaRPr sz="1600"/>
          </a:p>
          <a:p>
            <a:pPr indent="-330200" lvl="2" marL="1371600" rtl="0" algn="l">
              <a:lnSpc>
                <a:spcPct val="115000"/>
              </a:lnSpc>
              <a:spcBef>
                <a:spcPts val="0"/>
              </a:spcBef>
              <a:spcAft>
                <a:spcPts val="0"/>
              </a:spcAft>
              <a:buSzPts val="1600"/>
              <a:buChar char="■"/>
            </a:pPr>
            <a:r>
              <a:rPr lang="el" sz="1600"/>
              <a:t>sharing each chunk with the correct receiver (port).</a:t>
            </a:r>
            <a:endParaRPr sz="1600"/>
          </a:p>
          <a:p>
            <a:pPr indent="-330200" lvl="0" marL="457200" rtl="0" algn="l">
              <a:lnSpc>
                <a:spcPct val="115000"/>
              </a:lnSpc>
              <a:spcBef>
                <a:spcPts val="0"/>
              </a:spcBef>
              <a:spcAft>
                <a:spcPts val="0"/>
              </a:spcAft>
              <a:buSzPts val="1600"/>
              <a:buChar char="●"/>
            </a:pPr>
            <a:r>
              <a:rPr lang="el"/>
              <a:t>This is, essentially, one of the main jobs of </a:t>
            </a:r>
            <a:r>
              <a:rPr b="1" lang="el">
                <a:solidFill>
                  <a:schemeClr val="dk1"/>
                </a:solidFill>
              </a:rPr>
              <a:t>Layer 4</a:t>
            </a:r>
            <a:r>
              <a:rPr lang="el"/>
              <a:t>.</a:t>
            </a:r>
            <a:endParaRPr sz="1600"/>
          </a:p>
        </p:txBody>
      </p:sp>
      <p:sp>
        <p:nvSpPr>
          <p:cNvPr id="155" name="Google Shape;155;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TCP / UDP</a:t>
            </a:r>
            <a:endParaRPr/>
          </a:p>
        </p:txBody>
      </p:sp>
      <p:sp>
        <p:nvSpPr>
          <p:cNvPr id="161" name="Google Shape;161;p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There are two main ways to implement Layer 4 functionality:</a:t>
            </a:r>
            <a:endParaRPr/>
          </a:p>
          <a:p>
            <a:pPr indent="-330200" lvl="0" marL="457200" rtl="0" algn="l">
              <a:lnSpc>
                <a:spcPct val="115000"/>
              </a:lnSpc>
              <a:spcBef>
                <a:spcPts val="1200"/>
              </a:spcBef>
              <a:spcAft>
                <a:spcPts val="0"/>
              </a:spcAft>
              <a:buSzPts val="1600"/>
              <a:buChar char="●"/>
            </a:pPr>
            <a:r>
              <a:rPr lang="el"/>
              <a:t>Transmission Control Protocol (TCP):</a:t>
            </a:r>
            <a:endParaRPr/>
          </a:p>
          <a:p>
            <a:pPr indent="-330200" lvl="1" marL="914400" rtl="0" algn="l">
              <a:lnSpc>
                <a:spcPct val="115000"/>
              </a:lnSpc>
              <a:spcBef>
                <a:spcPts val="0"/>
              </a:spcBef>
              <a:spcAft>
                <a:spcPts val="0"/>
              </a:spcAft>
              <a:buSzPts val="1600"/>
              <a:buChar char="○"/>
            </a:pPr>
            <a:r>
              <a:rPr b="1" lang="el"/>
              <a:t>Connection oriented</a:t>
            </a:r>
            <a:r>
              <a:rPr lang="el"/>
              <a:t> and </a:t>
            </a:r>
            <a:r>
              <a:rPr b="1" lang="el"/>
              <a:t>reliable</a:t>
            </a:r>
            <a:r>
              <a:rPr lang="el"/>
              <a:t> → 3-way handshake.</a:t>
            </a:r>
            <a:endParaRPr/>
          </a:p>
          <a:p>
            <a:pPr indent="-330200" lvl="1" marL="914400" rtl="0" algn="l">
              <a:lnSpc>
                <a:spcPct val="115000"/>
              </a:lnSpc>
              <a:spcBef>
                <a:spcPts val="0"/>
              </a:spcBef>
              <a:spcAft>
                <a:spcPts val="0"/>
              </a:spcAft>
              <a:buSzPts val="1600"/>
              <a:buChar char="○"/>
            </a:pPr>
            <a:r>
              <a:rPr lang="el"/>
              <a:t>All messages have a reply.</a:t>
            </a:r>
            <a:endParaRPr/>
          </a:p>
          <a:p>
            <a:pPr indent="-330200" lvl="1" marL="914400" rtl="0" algn="l">
              <a:lnSpc>
                <a:spcPct val="115000"/>
              </a:lnSpc>
              <a:spcBef>
                <a:spcPts val="0"/>
              </a:spcBef>
              <a:spcAft>
                <a:spcPts val="0"/>
              </a:spcAft>
              <a:buSzPts val="1600"/>
              <a:buChar char="○"/>
            </a:pPr>
            <a:r>
              <a:rPr lang="el"/>
              <a:t>Useful ports to remember: 21 (FTP), 25 (SMTP), 53 (DNS), 80 (HTTP), 110 (POP3), 443 (HTTPS).</a:t>
            </a:r>
            <a:endParaRPr/>
          </a:p>
          <a:p>
            <a:pPr indent="-330200" lvl="0" marL="457200" rtl="0" algn="l">
              <a:lnSpc>
                <a:spcPct val="115000"/>
              </a:lnSpc>
              <a:spcBef>
                <a:spcPts val="0"/>
              </a:spcBef>
              <a:spcAft>
                <a:spcPts val="0"/>
              </a:spcAft>
              <a:buSzPts val="1600"/>
              <a:buChar char="●"/>
            </a:pPr>
            <a:r>
              <a:rPr lang="el"/>
              <a:t>User Datagram Protocol (UDP):</a:t>
            </a:r>
            <a:endParaRPr/>
          </a:p>
          <a:p>
            <a:pPr indent="-330200" lvl="1" marL="914400" rtl="0" algn="l">
              <a:lnSpc>
                <a:spcPct val="115000"/>
              </a:lnSpc>
              <a:spcBef>
                <a:spcPts val="0"/>
              </a:spcBef>
              <a:spcAft>
                <a:spcPts val="0"/>
              </a:spcAft>
              <a:buSzPts val="1600"/>
              <a:buChar char="○"/>
            </a:pPr>
            <a:r>
              <a:rPr b="1" lang="el"/>
              <a:t>Connectionless</a:t>
            </a:r>
            <a:r>
              <a:rPr lang="el"/>
              <a:t> and </a:t>
            </a:r>
            <a:r>
              <a:rPr b="1" lang="el"/>
              <a:t>Unreliable </a:t>
            </a:r>
            <a:r>
              <a:rPr lang="el"/>
              <a:t>(do these sound familiar?)</a:t>
            </a:r>
            <a:endParaRPr/>
          </a:p>
          <a:p>
            <a:pPr indent="-330200" lvl="1" marL="914400" rtl="0" algn="l">
              <a:lnSpc>
                <a:spcPct val="115000"/>
              </a:lnSpc>
              <a:spcBef>
                <a:spcPts val="0"/>
              </a:spcBef>
              <a:spcAft>
                <a:spcPts val="0"/>
              </a:spcAft>
              <a:buSzPts val="1600"/>
              <a:buChar char="○"/>
            </a:pPr>
            <a:r>
              <a:rPr lang="el"/>
              <a:t>Useful ports to remember: 53 (DNS), 69 (TFTP), 161 (SNMP)</a:t>
            </a:r>
            <a:endParaRPr/>
          </a:p>
        </p:txBody>
      </p:sp>
      <p:sp>
        <p:nvSpPr>
          <p:cNvPr id="162" name="Google Shape;162;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TCP vs UDP</a:t>
            </a:r>
            <a:endParaRPr/>
          </a:p>
        </p:txBody>
      </p:sp>
      <p:sp>
        <p:nvSpPr>
          <p:cNvPr id="168" name="Google Shape;168;p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solidFill>
                  <a:schemeClr val="dk1"/>
                </a:solidFill>
              </a:rPr>
              <a:t>TCP</a:t>
            </a:r>
            <a:r>
              <a:rPr lang="el">
                <a:solidFill>
                  <a:schemeClr val="dk1"/>
                </a:solidFill>
              </a:rPr>
              <a:t> </a:t>
            </a:r>
            <a:r>
              <a:rPr lang="el"/>
              <a:t>creates a session while UDP does not.</a:t>
            </a:r>
            <a:endParaRPr/>
          </a:p>
          <a:p>
            <a:pPr indent="-330200" lvl="0" marL="457200" rtl="0" algn="l">
              <a:lnSpc>
                <a:spcPct val="115000"/>
              </a:lnSpc>
              <a:spcBef>
                <a:spcPts val="0"/>
              </a:spcBef>
              <a:spcAft>
                <a:spcPts val="0"/>
              </a:spcAft>
              <a:buSzPts val="1600"/>
              <a:buChar char="●"/>
            </a:pPr>
            <a:r>
              <a:rPr b="1" lang="el">
                <a:solidFill>
                  <a:schemeClr val="dk1"/>
                </a:solidFill>
              </a:rPr>
              <a:t>TCP</a:t>
            </a:r>
            <a:r>
              <a:rPr lang="el"/>
              <a:t> retransmits any lost or corrupt data, while UDP does ont.</a:t>
            </a:r>
            <a:endParaRPr/>
          </a:p>
          <a:p>
            <a:pPr indent="-330200" lvl="0" marL="457200" rtl="0" algn="l">
              <a:lnSpc>
                <a:spcPct val="115000"/>
              </a:lnSpc>
              <a:spcBef>
                <a:spcPts val="0"/>
              </a:spcBef>
              <a:spcAft>
                <a:spcPts val="0"/>
              </a:spcAft>
              <a:buSzPts val="1600"/>
              <a:buChar char="●"/>
            </a:pPr>
            <a:r>
              <a:rPr b="1" lang="el">
                <a:solidFill>
                  <a:schemeClr val="dk1"/>
                </a:solidFill>
              </a:rPr>
              <a:t>TCP </a:t>
            </a:r>
            <a:r>
              <a:rPr lang="el"/>
              <a:t>numbers data segments while UDP does not.</a:t>
            </a:r>
            <a:endParaRPr/>
          </a:p>
          <a:p>
            <a:pPr indent="-330200" lvl="0" marL="457200" rtl="0" algn="l">
              <a:lnSpc>
                <a:spcPct val="115000"/>
              </a:lnSpc>
              <a:spcBef>
                <a:spcPts val="0"/>
              </a:spcBef>
              <a:spcAft>
                <a:spcPts val="0"/>
              </a:spcAft>
              <a:buSzPts val="1600"/>
              <a:buChar char="●"/>
            </a:pPr>
            <a:r>
              <a:rPr b="1" lang="el">
                <a:solidFill>
                  <a:schemeClr val="dk1"/>
                </a:solidFill>
              </a:rPr>
              <a:t>TCP </a:t>
            </a:r>
            <a:r>
              <a:rPr lang="el"/>
              <a:t>records message exchanges.</a:t>
            </a:r>
            <a:endParaRPr/>
          </a:p>
          <a:p>
            <a:pPr indent="-330200" lvl="0" marL="457200" rtl="0" algn="l">
              <a:lnSpc>
                <a:spcPct val="115000"/>
              </a:lnSpc>
              <a:spcBef>
                <a:spcPts val="0"/>
              </a:spcBef>
              <a:spcAft>
                <a:spcPts val="0"/>
              </a:spcAft>
              <a:buSzPts val="1600"/>
              <a:buChar char="●"/>
            </a:pPr>
            <a:r>
              <a:rPr b="1" lang="el">
                <a:solidFill>
                  <a:schemeClr val="dk1"/>
                </a:solidFill>
              </a:rPr>
              <a:t>TCP </a:t>
            </a:r>
            <a:r>
              <a:rPr lang="el"/>
              <a:t>regulates the amount of data transmission.</a:t>
            </a:r>
            <a:endParaRPr/>
          </a:p>
          <a:p>
            <a:pPr indent="-330200" lvl="0" marL="457200" rtl="0" algn="l">
              <a:lnSpc>
                <a:spcPct val="115000"/>
              </a:lnSpc>
              <a:spcBef>
                <a:spcPts val="0"/>
              </a:spcBef>
              <a:spcAft>
                <a:spcPts val="0"/>
              </a:spcAft>
              <a:buSzPts val="1600"/>
              <a:buChar char="●"/>
            </a:pPr>
            <a:r>
              <a:rPr b="1" lang="el">
                <a:solidFill>
                  <a:schemeClr val="accent3"/>
                </a:solidFill>
              </a:rPr>
              <a:t>UDP </a:t>
            </a:r>
            <a:r>
              <a:rPr lang="el"/>
              <a:t>sends less data.</a:t>
            </a:r>
            <a:endParaRPr/>
          </a:p>
          <a:p>
            <a:pPr indent="-330200" lvl="0" marL="457200" rtl="0" algn="l">
              <a:lnSpc>
                <a:spcPct val="115000"/>
              </a:lnSpc>
              <a:spcBef>
                <a:spcPts val="0"/>
              </a:spcBef>
              <a:spcAft>
                <a:spcPts val="0"/>
              </a:spcAft>
              <a:buSzPts val="1600"/>
              <a:buChar char="●"/>
            </a:pPr>
            <a:r>
              <a:rPr b="1" lang="el">
                <a:solidFill>
                  <a:schemeClr val="accent3"/>
                </a:solidFill>
              </a:rPr>
              <a:t>UDP </a:t>
            </a:r>
            <a:r>
              <a:rPr lang="el"/>
              <a:t>does not wait for a reply.</a:t>
            </a:r>
            <a:endParaRPr/>
          </a:p>
          <a:p>
            <a:pPr indent="-330200" lvl="0" marL="457200" rtl="0" algn="l">
              <a:lnSpc>
                <a:spcPct val="115000"/>
              </a:lnSpc>
              <a:spcBef>
                <a:spcPts val="0"/>
              </a:spcBef>
              <a:spcAft>
                <a:spcPts val="0"/>
              </a:spcAft>
              <a:buSzPts val="1600"/>
              <a:buChar char="●"/>
            </a:pPr>
            <a:r>
              <a:rPr b="1" lang="el">
                <a:solidFill>
                  <a:schemeClr val="accent3"/>
                </a:solidFill>
              </a:rPr>
              <a:t>UDP </a:t>
            </a:r>
            <a:r>
              <a:rPr lang="el"/>
              <a:t>does not expect and acknowledgement (ACK).</a:t>
            </a:r>
            <a:endParaRPr/>
          </a:p>
          <a:p>
            <a:pPr indent="-330200" lvl="0" marL="457200" rtl="0" algn="l">
              <a:lnSpc>
                <a:spcPct val="115000"/>
              </a:lnSpc>
              <a:spcBef>
                <a:spcPts val="0"/>
              </a:spcBef>
              <a:spcAft>
                <a:spcPts val="0"/>
              </a:spcAft>
              <a:buSzPts val="1600"/>
              <a:buChar char="●"/>
            </a:pPr>
            <a:r>
              <a:rPr b="1" lang="el">
                <a:solidFill>
                  <a:schemeClr val="accent3"/>
                </a:solidFill>
              </a:rPr>
              <a:t>UDP </a:t>
            </a:r>
            <a:r>
              <a:rPr lang="el"/>
              <a:t>sends the next segment once ready (no checks of arrival).</a:t>
            </a:r>
            <a:endParaRPr/>
          </a:p>
        </p:txBody>
      </p:sp>
      <p:sp>
        <p:nvSpPr>
          <p:cNvPr id="169" name="Google Shape;169;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170" name="Google Shape;170;p8"/>
          <p:cNvSpPr txBox="1"/>
          <p:nvPr/>
        </p:nvSpPr>
        <p:spPr>
          <a:xfrm>
            <a:off x="2943900" y="4080250"/>
            <a:ext cx="3256200" cy="970200"/>
          </a:xfrm>
          <a:prstGeom prst="rect">
            <a:avLst/>
          </a:prstGeom>
          <a:solidFill>
            <a:srgbClr val="D9EAD3"/>
          </a:solidFill>
          <a:ln cap="flat" cmpd="sng" w="19050">
            <a:solidFill>
              <a:schemeClr val="dk1"/>
            </a:solidFill>
            <a:prstDash val="dash"/>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el" sz="1600" u="none" cap="none" strike="noStrike">
                <a:solidFill>
                  <a:schemeClr val="dk1"/>
                </a:solidFill>
                <a:latin typeface="Lato"/>
                <a:ea typeface="Lato"/>
                <a:cs typeface="Lato"/>
                <a:sym typeface="Lato"/>
              </a:rPr>
              <a:t>TCP</a:t>
            </a:r>
            <a:r>
              <a:rPr b="0" i="0" lang="el" sz="1600" u="none" cap="none" strike="noStrike">
                <a:solidFill>
                  <a:schemeClr val="accent1"/>
                </a:solidFill>
                <a:latin typeface="Lato"/>
                <a:ea typeface="Lato"/>
                <a:cs typeface="Lato"/>
                <a:sym typeface="Lato"/>
              </a:rPr>
              <a:t> favours </a:t>
            </a:r>
            <a:r>
              <a:rPr b="1" i="0" lang="el" sz="1600" u="none" cap="none" strike="noStrike">
                <a:solidFill>
                  <a:schemeClr val="dk1"/>
                </a:solidFill>
                <a:latin typeface="Lato"/>
                <a:ea typeface="Lato"/>
                <a:cs typeface="Lato"/>
                <a:sym typeface="Lato"/>
              </a:rPr>
              <a:t>reliability </a:t>
            </a:r>
            <a:r>
              <a:rPr b="0" i="0" lang="el" sz="1600" u="none" cap="none" strike="noStrike">
                <a:solidFill>
                  <a:schemeClr val="accent1"/>
                </a:solidFill>
                <a:latin typeface="Lato"/>
                <a:ea typeface="Lato"/>
                <a:cs typeface="Lato"/>
                <a:sym typeface="Lato"/>
              </a:rPr>
              <a:t>and </a:t>
            </a:r>
            <a:r>
              <a:rPr b="1" i="0" lang="el" sz="1600" u="none" cap="none" strike="noStrike">
                <a:solidFill>
                  <a:schemeClr val="dk1"/>
                </a:solidFill>
                <a:latin typeface="Lato"/>
                <a:ea typeface="Lato"/>
                <a:cs typeface="Lato"/>
                <a:sym typeface="Lato"/>
              </a:rPr>
              <a:t>connections </a:t>
            </a:r>
            <a:r>
              <a:rPr b="0" i="0" lang="el" sz="1600" u="none" cap="none" strike="noStrike">
                <a:solidFill>
                  <a:schemeClr val="accent1"/>
                </a:solidFill>
                <a:latin typeface="Lato"/>
                <a:ea typeface="Lato"/>
                <a:cs typeface="Lato"/>
                <a:sym typeface="Lato"/>
              </a:rPr>
              <a:t>while </a:t>
            </a:r>
            <a:r>
              <a:rPr b="1" i="0" lang="el" sz="1600" u="none" cap="none" strike="noStrike">
                <a:solidFill>
                  <a:schemeClr val="accent3"/>
                </a:solidFill>
                <a:latin typeface="Lato"/>
                <a:ea typeface="Lato"/>
                <a:cs typeface="Lato"/>
                <a:sym typeface="Lato"/>
              </a:rPr>
              <a:t>UDP </a:t>
            </a:r>
            <a:r>
              <a:rPr b="0" i="0" lang="el" sz="1600" u="none" cap="none" strike="noStrike">
                <a:solidFill>
                  <a:schemeClr val="accent1"/>
                </a:solidFill>
                <a:latin typeface="Lato"/>
                <a:ea typeface="Lato"/>
                <a:cs typeface="Lato"/>
                <a:sym typeface="Lato"/>
              </a:rPr>
              <a:t>favours </a:t>
            </a:r>
            <a:r>
              <a:rPr b="1" i="0" lang="el" sz="1600" u="none" cap="none" strike="noStrike">
                <a:solidFill>
                  <a:schemeClr val="accent3"/>
                </a:solidFill>
                <a:latin typeface="Lato"/>
                <a:ea typeface="Lato"/>
                <a:cs typeface="Lato"/>
                <a:sym typeface="Lato"/>
              </a:rPr>
              <a:t>speed</a:t>
            </a:r>
            <a:r>
              <a:rPr b="0" i="0" lang="el" sz="1600" u="none" cap="none" strike="noStrike">
                <a:solidFill>
                  <a:schemeClr val="accent1"/>
                </a:solidFill>
                <a:latin typeface="Lato"/>
                <a:ea typeface="Lato"/>
                <a:cs typeface="Lato"/>
                <a:sym typeface="Lato"/>
              </a:rPr>
              <a:t>.</a:t>
            </a:r>
            <a:endParaRPr b="0" i="0" sz="1600" u="none" cap="none" strike="noStrike">
              <a:solidFill>
                <a:schemeClr val="accen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Why even use UDP?</a:t>
            </a:r>
            <a:endParaRPr/>
          </a:p>
        </p:txBody>
      </p:sp>
      <p:sp>
        <p:nvSpPr>
          <p:cNvPr id="176" name="Google Shape;176;p9"/>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You’re talking through VoIP. A voice packet is lost. So, what to do next?</a:t>
            </a:r>
            <a:endParaRPr/>
          </a:p>
          <a:p>
            <a:pPr indent="-330200" lvl="1" marL="914400" rtl="0" algn="l">
              <a:lnSpc>
                <a:spcPct val="115000"/>
              </a:lnSpc>
              <a:spcBef>
                <a:spcPts val="0"/>
              </a:spcBef>
              <a:spcAft>
                <a:spcPts val="0"/>
              </a:spcAft>
              <a:buSzPts val="1600"/>
              <a:buChar char="○"/>
            </a:pPr>
            <a:r>
              <a:rPr lang="el"/>
              <a:t>Resend it at a later time?</a:t>
            </a:r>
            <a:endParaRPr/>
          </a:p>
          <a:p>
            <a:pPr indent="-330200" lvl="1" marL="914400" rtl="0" algn="l">
              <a:lnSpc>
                <a:spcPct val="115000"/>
              </a:lnSpc>
              <a:spcBef>
                <a:spcPts val="0"/>
              </a:spcBef>
              <a:spcAft>
                <a:spcPts val="0"/>
              </a:spcAft>
              <a:buSzPts val="1600"/>
              <a:buChar char="○"/>
            </a:pPr>
            <a:r>
              <a:rPr lang="el"/>
              <a:t>Ignore it?</a:t>
            </a:r>
            <a:endParaRPr/>
          </a:p>
          <a:p>
            <a:pPr indent="-330200" lvl="0" marL="457200" rtl="0" algn="l">
              <a:lnSpc>
                <a:spcPct val="115000"/>
              </a:lnSpc>
              <a:spcBef>
                <a:spcPts val="0"/>
              </a:spcBef>
              <a:spcAft>
                <a:spcPts val="0"/>
              </a:spcAft>
              <a:buSzPts val="1600"/>
              <a:buChar char="●"/>
            </a:pPr>
            <a:r>
              <a:rPr lang="el"/>
              <a:t>You’re playing an online video game. A data packet is lost, so some frames might be missing. So, what to do next?</a:t>
            </a:r>
            <a:endParaRPr/>
          </a:p>
          <a:p>
            <a:pPr indent="-330200" lvl="1" marL="914400" rtl="0" algn="l">
              <a:lnSpc>
                <a:spcPct val="115000"/>
              </a:lnSpc>
              <a:spcBef>
                <a:spcPts val="0"/>
              </a:spcBef>
              <a:spcAft>
                <a:spcPts val="0"/>
              </a:spcAft>
              <a:buSzPts val="1600"/>
              <a:buChar char="○"/>
            </a:pPr>
            <a:r>
              <a:rPr lang="el"/>
              <a:t>Resend it at a later time?</a:t>
            </a:r>
            <a:endParaRPr/>
          </a:p>
          <a:p>
            <a:pPr indent="-330200" lvl="1" marL="914400" rtl="0" algn="l">
              <a:lnSpc>
                <a:spcPct val="115000"/>
              </a:lnSpc>
              <a:spcBef>
                <a:spcPts val="0"/>
              </a:spcBef>
              <a:spcAft>
                <a:spcPts val="0"/>
              </a:spcAft>
              <a:buSzPts val="1600"/>
              <a:buChar char="○"/>
            </a:pPr>
            <a:r>
              <a:rPr lang="el"/>
              <a:t>Ignore it?</a:t>
            </a:r>
            <a:endParaRPr/>
          </a:p>
          <a:p>
            <a:pPr indent="-330200" lvl="0" marL="457200" rtl="0" algn="l">
              <a:lnSpc>
                <a:spcPct val="115000"/>
              </a:lnSpc>
              <a:spcBef>
                <a:spcPts val="0"/>
              </a:spcBef>
              <a:spcAft>
                <a:spcPts val="0"/>
              </a:spcAft>
              <a:buSzPts val="1600"/>
              <a:buChar char="●"/>
            </a:pPr>
            <a:r>
              <a:rPr b="1" lang="el">
                <a:solidFill>
                  <a:schemeClr val="dk1"/>
                </a:solidFill>
              </a:rPr>
              <a:t>UDP</a:t>
            </a:r>
            <a:r>
              <a:rPr lang="el"/>
              <a:t> is useful in such cases, where you can </a:t>
            </a:r>
            <a:r>
              <a:rPr b="1" lang="el">
                <a:solidFill>
                  <a:schemeClr val="dk1"/>
                </a:solidFill>
              </a:rPr>
              <a:t>tolerate some data loss</a:t>
            </a:r>
            <a:r>
              <a:rPr lang="el"/>
              <a:t>.</a:t>
            </a:r>
            <a:endParaRPr/>
          </a:p>
          <a:p>
            <a:pPr indent="-330200" lvl="0" marL="457200" rtl="0" algn="l">
              <a:lnSpc>
                <a:spcPct val="115000"/>
              </a:lnSpc>
              <a:spcBef>
                <a:spcPts val="0"/>
              </a:spcBef>
              <a:spcAft>
                <a:spcPts val="0"/>
              </a:spcAft>
              <a:buSzPts val="1600"/>
              <a:buChar char="●"/>
            </a:pPr>
            <a:r>
              <a:rPr lang="el"/>
              <a:t>Also used by services that add delay on a network:</a:t>
            </a:r>
            <a:endParaRPr/>
          </a:p>
          <a:p>
            <a:pPr indent="-330200" lvl="1" marL="914400" rtl="0" algn="l">
              <a:lnSpc>
                <a:spcPct val="115000"/>
              </a:lnSpc>
              <a:spcBef>
                <a:spcPts val="0"/>
              </a:spcBef>
              <a:spcAft>
                <a:spcPts val="0"/>
              </a:spcAft>
              <a:buSzPts val="1600"/>
              <a:buChar char="○"/>
            </a:pPr>
            <a:r>
              <a:rPr lang="el"/>
              <a:t>Domain Name System (DNS)</a:t>
            </a:r>
            <a:endParaRPr/>
          </a:p>
          <a:p>
            <a:pPr indent="-330200" lvl="1" marL="914400" rtl="0" algn="l">
              <a:lnSpc>
                <a:spcPct val="115000"/>
              </a:lnSpc>
              <a:spcBef>
                <a:spcPts val="0"/>
              </a:spcBef>
              <a:spcAft>
                <a:spcPts val="0"/>
              </a:spcAft>
              <a:buSzPts val="1600"/>
              <a:buChar char="○"/>
            </a:pPr>
            <a:r>
              <a:rPr lang="el"/>
              <a:t>Simple Network Management Protocol (SNMP)</a:t>
            </a:r>
            <a:endParaRPr/>
          </a:p>
          <a:p>
            <a:pPr indent="-330200" lvl="1" marL="914400" rtl="0" algn="l">
              <a:lnSpc>
                <a:spcPct val="115000"/>
              </a:lnSpc>
              <a:spcBef>
                <a:spcPts val="0"/>
              </a:spcBef>
              <a:spcAft>
                <a:spcPts val="0"/>
              </a:spcAft>
              <a:buSzPts val="1600"/>
              <a:buChar char="○"/>
            </a:pPr>
            <a:r>
              <a:rPr lang="el"/>
              <a:t>Dynamic Host Configuration Protocol (DHCP)</a:t>
            </a:r>
            <a:endParaRPr/>
          </a:p>
        </p:txBody>
      </p:sp>
      <p:sp>
        <p:nvSpPr>
          <p:cNvPr id="177" name="Google Shape;177;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Okay, so why use TCP, then?</a:t>
            </a:r>
            <a:endParaRPr/>
          </a:p>
        </p:txBody>
      </p:sp>
      <p:sp>
        <p:nvSpPr>
          <p:cNvPr id="183" name="Google Shape;183;p10"/>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You’re watching a Packet Tracer tutorial. Some packets are lost. So, what to do next?</a:t>
            </a:r>
            <a:endParaRPr/>
          </a:p>
          <a:p>
            <a:pPr indent="-330200" lvl="1" marL="914400" rtl="0" algn="l">
              <a:lnSpc>
                <a:spcPct val="115000"/>
              </a:lnSpc>
              <a:spcBef>
                <a:spcPts val="0"/>
              </a:spcBef>
              <a:spcAft>
                <a:spcPts val="0"/>
              </a:spcAft>
              <a:buSzPts val="1600"/>
              <a:buChar char="○"/>
            </a:pPr>
            <a:r>
              <a:rPr lang="el"/>
              <a:t>Resend them to the buffer?</a:t>
            </a:r>
            <a:endParaRPr/>
          </a:p>
          <a:p>
            <a:pPr indent="-330200" lvl="1" marL="914400" rtl="0" algn="l">
              <a:lnSpc>
                <a:spcPct val="115000"/>
              </a:lnSpc>
              <a:spcBef>
                <a:spcPts val="0"/>
              </a:spcBef>
              <a:spcAft>
                <a:spcPts val="0"/>
              </a:spcAft>
              <a:buSzPts val="1600"/>
              <a:buChar char="○"/>
            </a:pPr>
            <a:r>
              <a:rPr lang="el"/>
              <a:t>Ignore them?</a:t>
            </a:r>
            <a:endParaRPr/>
          </a:p>
          <a:p>
            <a:pPr indent="-330200" lvl="0" marL="457200" rtl="0" algn="l">
              <a:lnSpc>
                <a:spcPct val="115000"/>
              </a:lnSpc>
              <a:spcBef>
                <a:spcPts val="0"/>
              </a:spcBef>
              <a:spcAft>
                <a:spcPts val="0"/>
              </a:spcAft>
              <a:buSzPts val="1600"/>
              <a:buChar char="●"/>
            </a:pPr>
            <a:r>
              <a:rPr lang="el"/>
              <a:t>You are downloading a large file in three parts. Some packets have been lost.</a:t>
            </a:r>
            <a:endParaRPr/>
          </a:p>
          <a:p>
            <a:pPr indent="-330200" lvl="1" marL="914400" rtl="0" algn="l">
              <a:lnSpc>
                <a:spcPct val="115000"/>
              </a:lnSpc>
              <a:spcBef>
                <a:spcPts val="0"/>
              </a:spcBef>
              <a:spcAft>
                <a:spcPts val="0"/>
              </a:spcAft>
              <a:buSzPts val="1600"/>
              <a:buChar char="○"/>
            </a:pPr>
            <a:r>
              <a:rPr lang="el"/>
              <a:t>Resend them?</a:t>
            </a:r>
            <a:endParaRPr/>
          </a:p>
          <a:p>
            <a:pPr indent="-330200" lvl="1" marL="914400" rtl="0" algn="l">
              <a:lnSpc>
                <a:spcPct val="115000"/>
              </a:lnSpc>
              <a:spcBef>
                <a:spcPts val="0"/>
              </a:spcBef>
              <a:spcAft>
                <a:spcPts val="0"/>
              </a:spcAft>
              <a:buSzPts val="1600"/>
              <a:buChar char="○"/>
            </a:pPr>
            <a:r>
              <a:rPr lang="el"/>
              <a:t>Ignore them?</a:t>
            </a:r>
            <a:endParaRPr/>
          </a:p>
          <a:p>
            <a:pPr indent="-330200" lvl="0" marL="457200" rtl="0" algn="l">
              <a:lnSpc>
                <a:spcPct val="115000"/>
              </a:lnSpc>
              <a:spcBef>
                <a:spcPts val="0"/>
              </a:spcBef>
              <a:spcAft>
                <a:spcPts val="0"/>
              </a:spcAft>
              <a:buSzPts val="1600"/>
              <a:buChar char="●"/>
            </a:pPr>
            <a:r>
              <a:rPr lang="el"/>
              <a:t>There are cases when speed matters less than reliability. In such cases, TCP is preferred over UDP.</a:t>
            </a:r>
            <a:endParaRPr/>
          </a:p>
        </p:txBody>
      </p:sp>
      <p:sp>
        <p:nvSpPr>
          <p:cNvPr id="184" name="Google Shape;184;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TCP 3-Way Handshake</a:t>
            </a:r>
            <a:endParaRPr/>
          </a:p>
        </p:txBody>
      </p:sp>
      <p:sp>
        <p:nvSpPr>
          <p:cNvPr id="190" name="Google Shape;190;p11"/>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Walking on the street, you see a stranger. You fill an inexplicable urge to talk to them:</a:t>
            </a:r>
            <a:endParaRPr/>
          </a:p>
          <a:p>
            <a:pPr indent="-330200" lvl="0" marL="457200" rtl="0" algn="l">
              <a:lnSpc>
                <a:spcPct val="115000"/>
              </a:lnSpc>
              <a:spcBef>
                <a:spcPts val="1200"/>
              </a:spcBef>
              <a:spcAft>
                <a:spcPts val="0"/>
              </a:spcAft>
              <a:buSzPts val="1600"/>
              <a:buChar char="●"/>
            </a:pPr>
            <a:r>
              <a:rPr lang="el"/>
              <a:t>[You] Hey!</a:t>
            </a:r>
            <a:endParaRPr/>
          </a:p>
          <a:p>
            <a:pPr indent="-330200" lvl="0" marL="457200" rtl="0" algn="l">
              <a:lnSpc>
                <a:spcPct val="115000"/>
              </a:lnSpc>
              <a:spcBef>
                <a:spcPts val="0"/>
              </a:spcBef>
              <a:spcAft>
                <a:spcPts val="0"/>
              </a:spcAft>
              <a:buSzPts val="1600"/>
              <a:buChar char="●"/>
            </a:pPr>
            <a:r>
              <a:rPr lang="el"/>
              <a:t>[Them] What?!</a:t>
            </a:r>
            <a:endParaRPr/>
          </a:p>
          <a:p>
            <a:pPr indent="-330200" lvl="0" marL="457200" rtl="0" algn="l">
              <a:lnSpc>
                <a:spcPct val="115000"/>
              </a:lnSpc>
              <a:spcBef>
                <a:spcPts val="0"/>
              </a:spcBef>
              <a:spcAft>
                <a:spcPts val="0"/>
              </a:spcAft>
              <a:buSzPts val="1600"/>
              <a:buChar char="●"/>
            </a:pPr>
            <a:r>
              <a:rPr lang="el"/>
              <a:t>[You] Wanna talk…</a:t>
            </a:r>
            <a:endParaRPr/>
          </a:p>
          <a:p>
            <a:pPr indent="0" lvl="0" marL="0" rtl="0" algn="l">
              <a:lnSpc>
                <a:spcPct val="115000"/>
              </a:lnSpc>
              <a:spcBef>
                <a:spcPts val="1200"/>
              </a:spcBef>
              <a:spcAft>
                <a:spcPts val="0"/>
              </a:spcAft>
              <a:buSzPts val="1600"/>
              <a:buNone/>
            </a:pPr>
            <a:r>
              <a:rPr lang="el"/>
              <a:t>The same takes place in a 3-Way Handshake:</a:t>
            </a:r>
            <a:endParaRPr/>
          </a:p>
          <a:p>
            <a:pPr indent="-330200" lvl="0" marL="457200" rtl="0" algn="l">
              <a:lnSpc>
                <a:spcPct val="115000"/>
              </a:lnSpc>
              <a:spcBef>
                <a:spcPts val="1200"/>
              </a:spcBef>
              <a:spcAft>
                <a:spcPts val="0"/>
              </a:spcAft>
              <a:buSzPts val="1600"/>
              <a:buChar char="●"/>
            </a:pPr>
            <a:r>
              <a:rPr b="1" lang="el"/>
              <a:t>SYN</a:t>
            </a:r>
            <a:r>
              <a:rPr lang="el"/>
              <a:t> message: Ask to talk with the recipient (knock-knock).</a:t>
            </a:r>
            <a:endParaRPr/>
          </a:p>
          <a:p>
            <a:pPr indent="-330200" lvl="0" marL="457200" rtl="0" algn="l">
              <a:lnSpc>
                <a:spcPct val="115000"/>
              </a:lnSpc>
              <a:spcBef>
                <a:spcPts val="0"/>
              </a:spcBef>
              <a:spcAft>
                <a:spcPts val="0"/>
              </a:spcAft>
              <a:buSzPts val="1600"/>
              <a:buChar char="●"/>
            </a:pPr>
            <a:r>
              <a:rPr b="1" lang="el"/>
              <a:t>SYN, ACK</a:t>
            </a:r>
            <a:r>
              <a:rPr lang="el"/>
              <a:t> message: Accept the request (“Who’s it?”).</a:t>
            </a:r>
            <a:endParaRPr/>
          </a:p>
          <a:p>
            <a:pPr indent="-330200" lvl="0" marL="457200" rtl="0" algn="l">
              <a:lnSpc>
                <a:spcPct val="115000"/>
              </a:lnSpc>
              <a:spcBef>
                <a:spcPts val="0"/>
              </a:spcBef>
              <a:spcAft>
                <a:spcPts val="0"/>
              </a:spcAft>
              <a:buSzPts val="1600"/>
              <a:buChar char="●"/>
            </a:pPr>
            <a:r>
              <a:rPr b="1" lang="el"/>
              <a:t>ACK</a:t>
            </a:r>
            <a:r>
              <a:rPr lang="el"/>
              <a:t> message: Inform the recipient we want to start a conversation (“It’s me!”).</a:t>
            </a:r>
            <a:endParaRPr/>
          </a:p>
          <a:p>
            <a:pPr indent="0" lvl="0" marL="0" rtl="0" algn="l">
              <a:lnSpc>
                <a:spcPct val="115000"/>
              </a:lnSpc>
              <a:spcBef>
                <a:spcPts val="1200"/>
              </a:spcBef>
              <a:spcAft>
                <a:spcPts val="1200"/>
              </a:spcAft>
              <a:buSzPts val="1600"/>
              <a:buNone/>
            </a:pPr>
            <a:r>
              <a:rPr b="1" lang="el">
                <a:solidFill>
                  <a:schemeClr val="accent3"/>
                </a:solidFill>
              </a:rPr>
              <a:t>Play around with Wireshark</a:t>
            </a:r>
            <a:r>
              <a:rPr lang="el"/>
              <a:t> → find the TCP section in an appropriate transaction.</a:t>
            </a:r>
            <a:endParaRPr/>
          </a:p>
        </p:txBody>
      </p:sp>
      <p:sp>
        <p:nvSpPr>
          <p:cNvPr id="191" name="Google Shape;191;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TCP / UDP Headers</a:t>
            </a:r>
            <a:endParaRPr/>
          </a:p>
        </p:txBody>
      </p:sp>
      <p:sp>
        <p:nvSpPr>
          <p:cNvPr id="197" name="Google Shape;197;p12"/>
          <p:cNvSpPr txBox="1"/>
          <p:nvPr>
            <p:ph idx="1" type="body"/>
          </p:nvPr>
        </p:nvSpPr>
        <p:spPr>
          <a:xfrm>
            <a:off x="5953950" y="1462641"/>
            <a:ext cx="2692800" cy="1109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600"/>
              <a:buNone/>
            </a:pPr>
            <a:r>
              <a:rPr lang="el"/>
              <a:t>Source: Data and Computer Communications, 8th Edition, p. 39, Fig. 2.3</a:t>
            </a:r>
            <a:endParaRPr/>
          </a:p>
        </p:txBody>
      </p:sp>
      <p:sp>
        <p:nvSpPr>
          <p:cNvPr id="198" name="Google Shape;198;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99" name="Google Shape;199;p12"/>
          <p:cNvPicPr preferRelativeResize="0"/>
          <p:nvPr/>
        </p:nvPicPr>
        <p:blipFill rotWithShape="1">
          <a:blip r:embed="rId3">
            <a:alphaModFix/>
          </a:blip>
          <a:srcRect b="0" l="0" r="0" t="0"/>
          <a:stretch/>
        </p:blipFill>
        <p:spPr>
          <a:xfrm>
            <a:off x="729445" y="1362322"/>
            <a:ext cx="5119155" cy="34903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UDP Header</a:t>
            </a:r>
            <a:endParaRPr/>
          </a:p>
        </p:txBody>
      </p:sp>
      <p:sp>
        <p:nvSpPr>
          <p:cNvPr id="205" name="Google Shape;205;p1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UDP header is really simple, because UDP is a connectionless and unreliable protocol that builds on top of IP, which is…</a:t>
            </a:r>
            <a:endParaRPr/>
          </a:p>
          <a:p>
            <a:pPr indent="-330200" lvl="0" marL="457200" rtl="0" algn="l">
              <a:lnSpc>
                <a:spcPct val="115000"/>
              </a:lnSpc>
              <a:spcBef>
                <a:spcPts val="0"/>
              </a:spcBef>
              <a:spcAft>
                <a:spcPts val="0"/>
              </a:spcAft>
              <a:buSzPts val="1600"/>
              <a:buChar char="●"/>
            </a:pPr>
            <a:r>
              <a:rPr lang="el"/>
              <a:t>…a connectionless and unreliable protocol.</a:t>
            </a:r>
            <a:endParaRPr/>
          </a:p>
          <a:p>
            <a:pPr indent="-330200" lvl="0" marL="457200" rtl="0" algn="l">
              <a:lnSpc>
                <a:spcPct val="115000"/>
              </a:lnSpc>
              <a:spcBef>
                <a:spcPts val="0"/>
              </a:spcBef>
              <a:spcAft>
                <a:spcPts val="0"/>
              </a:spcAft>
              <a:buSzPts val="1600"/>
              <a:buChar char="●"/>
            </a:pPr>
            <a:r>
              <a:rPr lang="el"/>
              <a:t>This is why it actually needs to add such a small header on top of the IP(v4/v6) header.</a:t>
            </a:r>
            <a:endParaRPr/>
          </a:p>
          <a:p>
            <a:pPr indent="-330200" lvl="0" marL="457200" rtl="0" algn="l">
              <a:lnSpc>
                <a:spcPct val="115000"/>
              </a:lnSpc>
              <a:spcBef>
                <a:spcPts val="0"/>
              </a:spcBef>
              <a:spcAft>
                <a:spcPts val="0"/>
              </a:spcAft>
              <a:buSzPts val="1600"/>
              <a:buChar char="●"/>
            </a:pPr>
            <a:r>
              <a:rPr lang="el"/>
              <a:t>Also, the checksum algorithm is the same as with TCP and IP, i.e.:</a:t>
            </a:r>
            <a:endParaRPr/>
          </a:p>
          <a:p>
            <a:pPr indent="-330200" lvl="1" marL="914400" rtl="0" algn="l">
              <a:lnSpc>
                <a:spcPct val="115000"/>
              </a:lnSpc>
              <a:spcBef>
                <a:spcPts val="0"/>
              </a:spcBef>
              <a:spcAft>
                <a:spcPts val="0"/>
              </a:spcAft>
              <a:buSzPts val="1600"/>
              <a:buChar char="○"/>
            </a:pPr>
            <a:r>
              <a:rPr lang="el"/>
              <a:t>It adds a temporary pseudoheader;</a:t>
            </a:r>
            <a:endParaRPr/>
          </a:p>
          <a:p>
            <a:pPr indent="-330200" lvl="1" marL="914400" rtl="0" algn="l">
              <a:lnSpc>
                <a:spcPct val="115000"/>
              </a:lnSpc>
              <a:spcBef>
                <a:spcPts val="0"/>
              </a:spcBef>
              <a:spcAft>
                <a:spcPts val="0"/>
              </a:spcAft>
              <a:buSzPts val="1600"/>
              <a:buChar char="○"/>
            </a:pPr>
            <a:r>
              <a:rPr lang="el"/>
              <a:t>It computes the required checksum value for the provided message;</a:t>
            </a:r>
            <a:endParaRPr/>
          </a:p>
          <a:p>
            <a:pPr indent="-330200" lvl="1" marL="914400" rtl="0" algn="l">
              <a:lnSpc>
                <a:spcPct val="115000"/>
              </a:lnSpc>
              <a:spcBef>
                <a:spcPts val="0"/>
              </a:spcBef>
              <a:spcAft>
                <a:spcPts val="0"/>
              </a:spcAft>
              <a:buSzPts val="1600"/>
              <a:buChar char="○"/>
            </a:pPr>
            <a:r>
              <a:rPr lang="el"/>
              <a:t>It cross–checks with the header checksum and, if it is invalid, it drops the packet.</a:t>
            </a:r>
            <a:endParaRPr/>
          </a:p>
        </p:txBody>
      </p:sp>
      <p:sp>
        <p:nvSpPr>
          <p:cNvPr id="206" name="Google Shape;206;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Epilogue: More Examples Use Cases Of UDP</a:t>
            </a:r>
            <a:endParaRPr/>
          </a:p>
        </p:txBody>
      </p:sp>
      <p:sp>
        <p:nvSpPr>
          <p:cNvPr id="212" name="Google Shape;212;p1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Inward data collection:</a:t>
            </a:r>
            <a:r>
              <a:rPr lang="el"/>
              <a:t> Involves the periodic active or passive sampling of data sources, such as sensors, and automatic self-test reports from security equipment or network components. In a real-time monitoring situation, the loss of an occasional data unit would not cause distress, because the next report should arrive shortly.</a:t>
            </a:r>
            <a:endParaRPr/>
          </a:p>
          <a:p>
            <a:pPr indent="-330200" lvl="0" marL="457200" rtl="0" algn="l">
              <a:lnSpc>
                <a:spcPct val="115000"/>
              </a:lnSpc>
              <a:spcBef>
                <a:spcPts val="0"/>
              </a:spcBef>
              <a:spcAft>
                <a:spcPts val="0"/>
              </a:spcAft>
              <a:buSzPts val="1600"/>
              <a:buChar char="●"/>
            </a:pPr>
            <a:r>
              <a:rPr b="1" lang="el"/>
              <a:t>Outward data dissemination:</a:t>
            </a:r>
            <a:r>
              <a:rPr lang="el"/>
              <a:t> Includes broadcast messages to network users, the announcement of a new node or the change of address of a service, and the distribution of real-time clock values.</a:t>
            </a:r>
            <a:endParaRPr/>
          </a:p>
        </p:txBody>
      </p:sp>
      <p:sp>
        <p:nvSpPr>
          <p:cNvPr id="213" name="Google Shape;213;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Epilogue: More Examples Use Cases Of UDP</a:t>
            </a:r>
            <a:endParaRPr/>
          </a:p>
        </p:txBody>
      </p:sp>
      <p:sp>
        <p:nvSpPr>
          <p:cNvPr id="219" name="Google Shape;219;p1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Request-response:</a:t>
            </a:r>
            <a:r>
              <a:rPr lang="el"/>
              <a:t> Applications in which a transaction service is provided by a common server to a number of distributed TS users, and for which a single request-response sequence is typical. Use of the service is regulated at the application level, and lower-level connections are often unnecessary and cumbersome.</a:t>
            </a:r>
            <a:endParaRPr/>
          </a:p>
          <a:p>
            <a:pPr indent="-330200" lvl="0" marL="457200" rtl="0" algn="l">
              <a:lnSpc>
                <a:spcPct val="115000"/>
              </a:lnSpc>
              <a:spcBef>
                <a:spcPts val="0"/>
              </a:spcBef>
              <a:spcAft>
                <a:spcPts val="0"/>
              </a:spcAft>
              <a:buSzPts val="1600"/>
              <a:buChar char="●"/>
            </a:pPr>
            <a:r>
              <a:rPr b="1" lang="el"/>
              <a:t>Real-time applications:</a:t>
            </a:r>
            <a:r>
              <a:rPr lang="el"/>
              <a:t> Such as voice and telemetry, involving a degree of redundancy and/or a real-time transmission requirement.These must not have connection-oriented functions such as retransmission.</a:t>
            </a:r>
            <a:endParaRPr/>
          </a:p>
        </p:txBody>
      </p:sp>
      <p:sp>
        <p:nvSpPr>
          <p:cNvPr id="220" name="Google Shape;220;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When Videos Go Viral…</a:t>
            </a:r>
            <a:endParaRPr/>
          </a:p>
        </p:txBody>
      </p:sp>
      <p:sp>
        <p:nvSpPr>
          <p:cNvPr id="226" name="Google Shape;226;p1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Imagine for a while a video streaming platform, e.g., YouTube.</a:t>
            </a:r>
            <a:endParaRPr/>
          </a:p>
          <a:p>
            <a:pPr indent="-330200" lvl="0" marL="457200" rtl="0" algn="l">
              <a:lnSpc>
                <a:spcPct val="115000"/>
              </a:lnSpc>
              <a:spcBef>
                <a:spcPts val="0"/>
              </a:spcBef>
              <a:spcAft>
                <a:spcPts val="0"/>
              </a:spcAft>
              <a:buSzPts val="1600"/>
              <a:buChar char="●"/>
            </a:pPr>
            <a:r>
              <a:rPr lang="el"/>
              <a:t>Also, imagine a really viral video, e.g., one involving cats.</a:t>
            </a:r>
            <a:endParaRPr/>
          </a:p>
          <a:p>
            <a:pPr indent="-330200" lvl="0" marL="457200" rtl="0" algn="l">
              <a:lnSpc>
                <a:spcPct val="115000"/>
              </a:lnSpc>
              <a:spcBef>
                <a:spcPts val="0"/>
              </a:spcBef>
              <a:spcAft>
                <a:spcPts val="0"/>
              </a:spcAft>
              <a:buSzPts val="1600"/>
              <a:buChar char="●"/>
            </a:pPr>
            <a:r>
              <a:rPr lang="el"/>
              <a:t>Now, assume you are a server of this video streaming platform.</a:t>
            </a:r>
            <a:endParaRPr/>
          </a:p>
          <a:p>
            <a:pPr indent="-330200" lvl="1" marL="914400" rtl="0" algn="l">
              <a:lnSpc>
                <a:spcPct val="115000"/>
              </a:lnSpc>
              <a:spcBef>
                <a:spcPts val="0"/>
              </a:spcBef>
              <a:spcAft>
                <a:spcPts val="0"/>
              </a:spcAft>
              <a:buSzPts val="1600"/>
              <a:buChar char="○"/>
            </a:pPr>
            <a:r>
              <a:rPr lang="el"/>
              <a:t>How do you feel?</a:t>
            </a:r>
            <a:endParaRPr/>
          </a:p>
          <a:p>
            <a:pPr indent="-330200" lvl="1" marL="914400" rtl="0" algn="l">
              <a:lnSpc>
                <a:spcPct val="115000"/>
              </a:lnSpc>
              <a:spcBef>
                <a:spcPts val="0"/>
              </a:spcBef>
              <a:spcAft>
                <a:spcPts val="0"/>
              </a:spcAft>
              <a:buSzPts val="1600"/>
              <a:buChar char="○"/>
            </a:pPr>
            <a:r>
              <a:rPr lang="el"/>
              <a:t>Probably stressed…</a:t>
            </a:r>
            <a:endParaRPr/>
          </a:p>
          <a:p>
            <a:pPr indent="-330200" lvl="0" marL="457200" rtl="0" algn="l">
              <a:lnSpc>
                <a:spcPct val="115000"/>
              </a:lnSpc>
              <a:spcBef>
                <a:spcPts val="0"/>
              </a:spcBef>
              <a:spcAft>
                <a:spcPts val="0"/>
              </a:spcAft>
              <a:buSzPts val="1600"/>
              <a:buChar char="●"/>
            </a:pPr>
            <a:r>
              <a:rPr lang="el"/>
              <a:t>Servers are often asked to retransmit the same pieces of information over several clients.</a:t>
            </a:r>
            <a:endParaRPr/>
          </a:p>
          <a:p>
            <a:pPr indent="-330200" lvl="0" marL="457200" rtl="0" algn="l">
              <a:lnSpc>
                <a:spcPct val="115000"/>
              </a:lnSpc>
              <a:spcBef>
                <a:spcPts val="0"/>
              </a:spcBef>
              <a:spcAft>
                <a:spcPts val="0"/>
              </a:spcAft>
              <a:buSzPts val="1600"/>
              <a:buChar char="●"/>
            </a:pPr>
            <a:r>
              <a:rPr lang="el"/>
              <a:t>This, evidently results to a lot of traffic, and a lot of </a:t>
            </a:r>
            <a:r>
              <a:rPr b="1" lang="el"/>
              <a:t>repetition</a:t>
            </a:r>
            <a:r>
              <a:rPr lang="el"/>
              <a:t>.</a:t>
            </a:r>
            <a:endParaRPr/>
          </a:p>
          <a:p>
            <a:pPr indent="-330200" lvl="0" marL="457200" rtl="0" algn="l">
              <a:lnSpc>
                <a:spcPct val="115000"/>
              </a:lnSpc>
              <a:spcBef>
                <a:spcPts val="0"/>
              </a:spcBef>
              <a:spcAft>
                <a:spcPts val="0"/>
              </a:spcAft>
              <a:buSzPts val="1600"/>
              <a:buChar char="●"/>
            </a:pPr>
            <a:r>
              <a:rPr lang="el"/>
              <a:t>How could we avoid that?</a:t>
            </a:r>
            <a:endParaRPr/>
          </a:p>
        </p:txBody>
      </p:sp>
      <p:sp>
        <p:nvSpPr>
          <p:cNvPr id="227" name="Google Shape;227;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Lifting The Weight Off A Server</a:t>
            </a:r>
            <a:endParaRPr/>
          </a:p>
        </p:txBody>
      </p:sp>
      <p:sp>
        <p:nvSpPr>
          <p:cNvPr id="233" name="Google Shape;233;p1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Can you think of a way to make a poor server feel a bit better?</a:t>
            </a:r>
            <a:endParaRPr/>
          </a:p>
          <a:p>
            <a:pPr indent="-330200" lvl="0" marL="457200" rtl="0" algn="l">
              <a:lnSpc>
                <a:spcPct val="115000"/>
              </a:lnSpc>
              <a:spcBef>
                <a:spcPts val="0"/>
              </a:spcBef>
              <a:spcAft>
                <a:spcPts val="0"/>
              </a:spcAft>
              <a:buSzPts val="1600"/>
              <a:buChar char="●"/>
            </a:pPr>
            <a:r>
              <a:rPr lang="el"/>
              <a:t>Well, one way would be to group recipients of the same content together.</a:t>
            </a:r>
            <a:endParaRPr/>
          </a:p>
          <a:p>
            <a:pPr indent="-330200" lvl="0" marL="457200" rtl="0" algn="l">
              <a:lnSpc>
                <a:spcPct val="115000"/>
              </a:lnSpc>
              <a:spcBef>
                <a:spcPts val="0"/>
              </a:spcBef>
              <a:spcAft>
                <a:spcPts val="0"/>
              </a:spcAft>
              <a:buSzPts val="1600"/>
              <a:buChar char="●"/>
            </a:pPr>
            <a:r>
              <a:rPr lang="el"/>
              <a:t>So, essentially, much like how email groups or group chats work.</a:t>
            </a:r>
            <a:endParaRPr/>
          </a:p>
          <a:p>
            <a:pPr indent="-330200" lvl="1" marL="914400" rtl="0" algn="l">
              <a:lnSpc>
                <a:spcPct val="115000"/>
              </a:lnSpc>
              <a:spcBef>
                <a:spcPts val="0"/>
              </a:spcBef>
              <a:spcAft>
                <a:spcPts val="0"/>
              </a:spcAft>
              <a:buSzPts val="1600"/>
              <a:buChar char="○"/>
            </a:pPr>
            <a:r>
              <a:rPr lang="el"/>
              <a:t>We put recipients of the same content together into the same group.</a:t>
            </a:r>
            <a:endParaRPr/>
          </a:p>
          <a:p>
            <a:pPr indent="-330200" lvl="1" marL="914400" rtl="0" algn="l">
              <a:lnSpc>
                <a:spcPct val="115000"/>
              </a:lnSpc>
              <a:spcBef>
                <a:spcPts val="0"/>
              </a:spcBef>
              <a:spcAft>
                <a:spcPts val="0"/>
              </a:spcAft>
              <a:buSzPts val="1600"/>
              <a:buChar char="○"/>
            </a:pPr>
            <a:r>
              <a:rPr lang="el"/>
              <a:t>We share the content we want to share into that group once.</a:t>
            </a:r>
            <a:endParaRPr/>
          </a:p>
          <a:p>
            <a:pPr indent="-330200" lvl="1" marL="914400" rtl="0" algn="l">
              <a:lnSpc>
                <a:spcPct val="115000"/>
              </a:lnSpc>
              <a:spcBef>
                <a:spcPts val="0"/>
              </a:spcBef>
              <a:spcAft>
                <a:spcPts val="0"/>
              </a:spcAft>
              <a:buSzPts val="1600"/>
              <a:buChar char="○"/>
            </a:pPr>
            <a:r>
              <a:rPr lang="el"/>
              <a:t>All recipients receive a </a:t>
            </a:r>
            <a:r>
              <a:rPr b="1" lang="el"/>
              <a:t>copy</a:t>
            </a:r>
            <a:r>
              <a:rPr lang="el"/>
              <a:t> of that message at once.</a:t>
            </a:r>
            <a:endParaRPr/>
          </a:p>
          <a:p>
            <a:pPr indent="-330200" lvl="0" marL="457200" rtl="0" algn="l">
              <a:lnSpc>
                <a:spcPct val="115000"/>
              </a:lnSpc>
              <a:spcBef>
                <a:spcPts val="0"/>
              </a:spcBef>
              <a:spcAft>
                <a:spcPts val="0"/>
              </a:spcAft>
              <a:buSzPts val="1600"/>
              <a:buChar char="●"/>
            </a:pPr>
            <a:r>
              <a:rPr lang="el"/>
              <a:t>Why not do the same thing with our poor server?</a:t>
            </a:r>
            <a:endParaRPr/>
          </a:p>
          <a:p>
            <a:pPr indent="-330200" lvl="1" marL="914400" rtl="0" algn="l">
              <a:lnSpc>
                <a:spcPct val="115000"/>
              </a:lnSpc>
              <a:spcBef>
                <a:spcPts val="0"/>
              </a:spcBef>
              <a:spcAft>
                <a:spcPts val="0"/>
              </a:spcAft>
              <a:buSzPts val="1600"/>
              <a:buChar char="○"/>
            </a:pPr>
            <a:r>
              <a:rPr lang="el"/>
              <a:t>But, then, what are groups in our case and how to actually create them?</a:t>
            </a:r>
            <a:endParaRPr/>
          </a:p>
          <a:p>
            <a:pPr indent="-330200" lvl="1" marL="914400" rtl="0" algn="l">
              <a:lnSpc>
                <a:spcPct val="115000"/>
              </a:lnSpc>
              <a:spcBef>
                <a:spcPts val="0"/>
              </a:spcBef>
              <a:spcAft>
                <a:spcPts val="0"/>
              </a:spcAft>
              <a:buSzPts val="1600"/>
              <a:buChar char="○"/>
            </a:pPr>
            <a:r>
              <a:rPr lang="el"/>
              <a:t>Any ideas?</a:t>
            </a:r>
            <a:endParaRPr/>
          </a:p>
        </p:txBody>
      </p:sp>
      <p:sp>
        <p:nvSpPr>
          <p:cNvPr id="234" name="Google Shape;234;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Multicast: A UDP Special</a:t>
            </a:r>
            <a:endParaRPr/>
          </a:p>
        </p:txBody>
      </p:sp>
      <p:sp>
        <p:nvSpPr>
          <p:cNvPr id="240" name="Google Shape;240;p1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What we have described above is exactly the idea behind </a:t>
            </a:r>
            <a:r>
              <a:rPr b="1" lang="el"/>
              <a:t>multicast.</a:t>
            </a:r>
            <a:endParaRPr/>
          </a:p>
          <a:p>
            <a:pPr indent="-330200" lvl="0" marL="457200" rtl="0" algn="l">
              <a:lnSpc>
                <a:spcPct val="115000"/>
              </a:lnSpc>
              <a:spcBef>
                <a:spcPts val="0"/>
              </a:spcBef>
              <a:spcAft>
                <a:spcPts val="0"/>
              </a:spcAft>
              <a:buSzPts val="1600"/>
              <a:buChar char="●"/>
            </a:pPr>
            <a:r>
              <a:rPr lang="el"/>
              <a:t>Multicast is essentially the practice of sending the same information to a group of users within a network once and having all members of that group share a copy.</a:t>
            </a:r>
            <a:endParaRPr/>
          </a:p>
          <a:p>
            <a:pPr indent="-330200" lvl="0" marL="457200" rtl="0" algn="l">
              <a:lnSpc>
                <a:spcPct val="115000"/>
              </a:lnSpc>
              <a:spcBef>
                <a:spcPts val="0"/>
              </a:spcBef>
              <a:spcAft>
                <a:spcPts val="0"/>
              </a:spcAft>
              <a:buSzPts val="1600"/>
              <a:buChar char="●"/>
            </a:pPr>
            <a:r>
              <a:rPr lang="el"/>
              <a:t>This is a UDP specific functionality, since we need the connectionless nature of UDP.</a:t>
            </a:r>
            <a:endParaRPr/>
          </a:p>
          <a:p>
            <a:pPr indent="-330200" lvl="1" marL="914400" rtl="0" algn="l">
              <a:lnSpc>
                <a:spcPct val="115000"/>
              </a:lnSpc>
              <a:spcBef>
                <a:spcPts val="0"/>
              </a:spcBef>
              <a:spcAft>
                <a:spcPts val="0"/>
              </a:spcAft>
              <a:buSzPts val="1600"/>
              <a:buChar char="○"/>
            </a:pPr>
            <a:r>
              <a:rPr lang="el"/>
              <a:t>Which means, we essentially pass any trouble to the clients.</a:t>
            </a:r>
            <a:endParaRPr/>
          </a:p>
          <a:p>
            <a:pPr indent="-330200" lvl="1" marL="914400" rtl="0" algn="l">
              <a:lnSpc>
                <a:spcPct val="115000"/>
              </a:lnSpc>
              <a:spcBef>
                <a:spcPts val="0"/>
              </a:spcBef>
              <a:spcAft>
                <a:spcPts val="0"/>
              </a:spcAft>
              <a:buSzPts val="1600"/>
              <a:buChar char="○"/>
            </a:pPr>
            <a:r>
              <a:rPr lang="el"/>
              <a:t>But, well, we cannot have it all at once…</a:t>
            </a:r>
            <a:endParaRPr/>
          </a:p>
        </p:txBody>
      </p:sp>
      <p:sp>
        <p:nvSpPr>
          <p:cNvPr id="241" name="Google Shape;241;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9"/>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Linux Sockets</a:t>
            </a:r>
            <a:endParaRPr/>
          </a:p>
        </p:txBody>
      </p:sp>
      <p:sp>
        <p:nvSpPr>
          <p:cNvPr id="247" name="Google Shape;247;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System Sockets On Linux</a:t>
            </a:r>
            <a:endParaRPr/>
          </a:p>
        </p:txBody>
      </p:sp>
      <p:sp>
        <p:nvSpPr>
          <p:cNvPr id="253" name="Google Shape;253;p20"/>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At the system level, we have several processes that simultaneously.</a:t>
            </a:r>
            <a:endParaRPr/>
          </a:p>
          <a:p>
            <a:pPr indent="-330200" lvl="0" marL="457200" rtl="0" algn="l">
              <a:lnSpc>
                <a:spcPct val="115000"/>
              </a:lnSpc>
              <a:spcBef>
                <a:spcPts val="0"/>
              </a:spcBef>
              <a:spcAft>
                <a:spcPts val="0"/>
              </a:spcAft>
              <a:buSzPts val="1600"/>
              <a:buChar char="●"/>
            </a:pPr>
            <a:r>
              <a:rPr lang="el"/>
              <a:t>Typically processes interact for a few times in a row and then switch to do other stuff such as interact with other processes.</a:t>
            </a:r>
            <a:endParaRPr/>
          </a:p>
          <a:p>
            <a:pPr indent="-330200" lvl="0" marL="457200" rtl="0" algn="l">
              <a:lnSpc>
                <a:spcPct val="115000"/>
              </a:lnSpc>
              <a:spcBef>
                <a:spcPts val="0"/>
              </a:spcBef>
              <a:spcAft>
                <a:spcPts val="0"/>
              </a:spcAft>
              <a:buSzPts val="1600"/>
              <a:buChar char="●"/>
            </a:pPr>
            <a:r>
              <a:rPr lang="el"/>
              <a:t>So, which would you prefer, TCP or UDP?</a:t>
            </a:r>
            <a:endParaRPr/>
          </a:p>
          <a:p>
            <a:pPr indent="-330200" lvl="1" marL="914400" rtl="0" algn="l">
              <a:lnSpc>
                <a:spcPct val="115000"/>
              </a:lnSpc>
              <a:spcBef>
                <a:spcPts val="0"/>
              </a:spcBef>
              <a:spcAft>
                <a:spcPts val="0"/>
              </a:spcAft>
              <a:buSzPts val="1600"/>
              <a:buChar char="○"/>
            </a:pPr>
            <a:r>
              <a:rPr lang="el"/>
              <a:t>TCP will add an overhead to all communications to establish connections.</a:t>
            </a:r>
            <a:endParaRPr/>
          </a:p>
          <a:p>
            <a:pPr indent="-330200" lvl="1" marL="914400" rtl="0" algn="l">
              <a:lnSpc>
                <a:spcPct val="115000"/>
              </a:lnSpc>
              <a:spcBef>
                <a:spcPts val="0"/>
              </a:spcBef>
              <a:spcAft>
                <a:spcPts val="0"/>
              </a:spcAft>
              <a:buSzPts val="1600"/>
              <a:buChar char="○"/>
            </a:pPr>
            <a:r>
              <a:rPr lang="el"/>
              <a:t>UDP will just share the data.</a:t>
            </a:r>
            <a:endParaRPr/>
          </a:p>
          <a:p>
            <a:pPr indent="-330200" lvl="1" marL="914400" rtl="0" algn="l">
              <a:lnSpc>
                <a:spcPct val="115000"/>
              </a:lnSpc>
              <a:spcBef>
                <a:spcPts val="0"/>
              </a:spcBef>
              <a:spcAft>
                <a:spcPts val="0"/>
              </a:spcAft>
              <a:buSzPts val="1600"/>
              <a:buChar char="○"/>
            </a:pPr>
            <a:r>
              <a:rPr lang="el"/>
              <a:t>So, UDP, at this level offers some speed that TCP simply cannot.</a:t>
            </a:r>
            <a:endParaRPr/>
          </a:p>
          <a:p>
            <a:pPr indent="-330200" lvl="1" marL="914400" rtl="0" algn="l">
              <a:lnSpc>
                <a:spcPct val="115000"/>
              </a:lnSpc>
              <a:spcBef>
                <a:spcPts val="0"/>
              </a:spcBef>
              <a:spcAft>
                <a:spcPts val="0"/>
              </a:spcAft>
              <a:buSzPts val="1600"/>
              <a:buChar char="○"/>
            </a:pPr>
            <a:r>
              <a:rPr lang="el"/>
              <a:t>Also, UDP can be eventually more reliable in such cases, since it will not break communication in case of failure — it will just keep sharing data.</a:t>
            </a:r>
            <a:endParaRPr/>
          </a:p>
        </p:txBody>
      </p:sp>
      <p:sp>
        <p:nvSpPr>
          <p:cNvPr id="254" name="Google Shape;254;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 Simple Example (server)</a:t>
            </a:r>
            <a:endParaRPr/>
          </a:p>
        </p:txBody>
      </p:sp>
      <p:sp>
        <p:nvSpPr>
          <p:cNvPr id="260" name="Google Shape;260;p21"/>
          <p:cNvSpPr txBox="1"/>
          <p:nvPr>
            <p:ph idx="1" type="body"/>
          </p:nvPr>
        </p:nvSpPr>
        <p:spPr>
          <a:xfrm>
            <a:off x="729450" y="1378000"/>
            <a:ext cx="3842400" cy="3765300"/>
          </a:xfrm>
          <a:prstGeom prst="rect">
            <a:avLst/>
          </a:prstGeom>
          <a:noFill/>
          <a:ln>
            <a:noFill/>
          </a:ln>
        </p:spPr>
        <p:txBody>
          <a:bodyPr anchorCtr="0" anchor="t" bIns="91425" lIns="91425" spcFirstLastPara="1" rIns="91425" wrap="square" tIns="91425">
            <a:normAutofit fontScale="77500" lnSpcReduction="10000"/>
          </a:bodyPr>
          <a:lstStyle/>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&lt;stdio.h&gt;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&lt;stdlib.h&gt;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&lt;string.h&gt;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&lt;unistd.h&gt;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&lt;sys/socket.h&gt;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&lt;netinet/in.h&gt;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AF00DB"/>
                </a:solidFill>
                <a:highlight>
                  <a:srgbClr val="FFFFFF"/>
                </a:highlight>
                <a:latin typeface="Courier New"/>
                <a:ea typeface="Courier New"/>
                <a:cs typeface="Courier New"/>
                <a:sym typeface="Courier New"/>
              </a:rPr>
              <a:t>#define</a:t>
            </a:r>
            <a:r>
              <a:rPr lang="el" sz="1050">
                <a:solidFill>
                  <a:srgbClr val="0000FF"/>
                </a:solidFill>
                <a:highlight>
                  <a:srgbClr val="FFFFFF"/>
                </a:highlight>
                <a:latin typeface="Courier New"/>
                <a:ea typeface="Courier New"/>
                <a:cs typeface="Courier New"/>
                <a:sym typeface="Courier New"/>
              </a:rPr>
              <a:t> PORT </a:t>
            </a:r>
            <a:r>
              <a:rPr lang="el" sz="1050">
                <a:solidFill>
                  <a:srgbClr val="098658"/>
                </a:solidFill>
                <a:highlight>
                  <a:srgbClr val="FFFFFF"/>
                </a:highlight>
                <a:latin typeface="Courier New"/>
                <a:ea typeface="Courier New"/>
                <a:cs typeface="Courier New"/>
                <a:sym typeface="Courier New"/>
              </a:rPr>
              <a:t>8080</a:t>
            </a:r>
            <a:endParaRPr sz="1050">
              <a:solidFill>
                <a:srgbClr val="09865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main</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r>
              <a:rPr lang="el" sz="1050">
                <a:solidFill>
                  <a:srgbClr val="098658"/>
                </a:solidFill>
                <a:highlight>
                  <a:srgbClr val="FFFFFF"/>
                </a:highlight>
                <a:latin typeface="Courier New"/>
                <a:ea typeface="Courier New"/>
                <a:cs typeface="Courier New"/>
                <a:sym typeface="Courier New"/>
              </a:rPr>
              <a:t>1024</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sockaddr_in</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8000"/>
                </a:solidFill>
                <a:highlight>
                  <a:srgbClr val="FFFFFF"/>
                </a:highlight>
                <a:latin typeface="Courier New"/>
                <a:ea typeface="Courier New"/>
                <a:cs typeface="Courier New"/>
                <a:sym typeface="Courier New"/>
              </a:rPr>
              <a:t>// Creating socket file descriptor</a:t>
            </a:r>
            <a:endParaRPr sz="10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AF00DB"/>
                </a:solidFill>
                <a:highlight>
                  <a:srgbClr val="FFFFFF"/>
                </a:highlight>
                <a:latin typeface="Courier New"/>
                <a:ea typeface="Courier New"/>
                <a:cs typeface="Courier New"/>
                <a:sym typeface="Courier New"/>
              </a:rPr>
              <a:t>if</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socket</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AF_INET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SOCK_DGRAM</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&lt;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perror</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"socket creation failed"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exit</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EXIT_FAILURE</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memset</a:t>
            </a:r>
            <a:r>
              <a:rPr lang="el" sz="1050">
                <a:solidFill>
                  <a:srgbClr val="000000"/>
                </a:solidFill>
                <a:highlight>
                  <a:srgbClr val="FFFFFF"/>
                </a:highlight>
                <a:latin typeface="Courier New"/>
                <a:ea typeface="Courier New"/>
                <a:cs typeface="Courier New"/>
                <a:sym typeface="Courier New"/>
              </a:rPr>
              <a:t>(&amp;</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memset</a:t>
            </a:r>
            <a:r>
              <a:rPr lang="el" sz="1050">
                <a:solidFill>
                  <a:srgbClr val="000000"/>
                </a:solidFill>
                <a:highlight>
                  <a:srgbClr val="FFFFFF"/>
                </a:highlight>
                <a:latin typeface="Courier New"/>
                <a:ea typeface="Courier New"/>
                <a:cs typeface="Courier New"/>
                <a:sym typeface="Courier New"/>
              </a:rPr>
              <a:t>(&amp;</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a:t>
            </a:r>
            <a:endParaRPr/>
          </a:p>
        </p:txBody>
      </p:sp>
      <p:sp>
        <p:nvSpPr>
          <p:cNvPr id="261" name="Google Shape;261;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262" name="Google Shape;262;p21"/>
          <p:cNvSpPr txBox="1"/>
          <p:nvPr>
            <p:ph idx="1" type="body"/>
          </p:nvPr>
        </p:nvSpPr>
        <p:spPr>
          <a:xfrm>
            <a:off x="4731825" y="1378000"/>
            <a:ext cx="3842400" cy="3765300"/>
          </a:xfrm>
          <a:prstGeom prst="rect">
            <a:avLst/>
          </a:prstGeom>
          <a:noFill/>
          <a:ln>
            <a:noFill/>
          </a:ln>
        </p:spPr>
        <p:txBody>
          <a:bodyPr anchorCtr="0" anchor="t" bIns="91425" lIns="91425" spcFirstLastPara="1" rIns="91425" wrap="square" tIns="91425">
            <a:normAutofit fontScale="62500" lnSpcReduction="10000"/>
          </a:bodyPr>
          <a:lstStyle/>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8000"/>
                </a:solidFill>
                <a:highlight>
                  <a:srgbClr val="FFFFFF"/>
                </a:highlight>
                <a:latin typeface="Courier New"/>
                <a:ea typeface="Courier New"/>
                <a:cs typeface="Courier New"/>
                <a:sym typeface="Courier New"/>
              </a:rPr>
              <a:t>// Filling server information</a:t>
            </a:r>
            <a:endParaRPr sz="10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sin_family</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AF_INET</a:t>
            </a:r>
            <a:r>
              <a:rPr lang="el" sz="1050">
                <a:solidFill>
                  <a:srgbClr val="000000"/>
                </a:solidFill>
                <a:highlight>
                  <a:srgbClr val="FFFFFF"/>
                </a:highlight>
                <a:latin typeface="Courier New"/>
                <a:ea typeface="Courier New"/>
                <a:cs typeface="Courier New"/>
                <a:sym typeface="Courier New"/>
              </a:rPr>
              <a:t>;</a:t>
            </a:r>
            <a:r>
              <a:rPr lang="el" sz="1050">
                <a:solidFill>
                  <a:srgbClr val="008000"/>
                </a:solidFill>
                <a:highlight>
                  <a:srgbClr val="FFFFFF"/>
                </a:highlight>
                <a:latin typeface="Courier New"/>
                <a:ea typeface="Courier New"/>
                <a:cs typeface="Courier New"/>
                <a:sym typeface="Courier New"/>
              </a:rPr>
              <a:t> // IPv4</a:t>
            </a:r>
            <a:endParaRPr sz="10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s_addr</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INADDR_ANY</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sin_port</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htons</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PORT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8000"/>
                </a:solidFill>
                <a:highlight>
                  <a:srgbClr val="FFFFFF"/>
                </a:highlight>
                <a:latin typeface="Courier New"/>
                <a:ea typeface="Courier New"/>
                <a:cs typeface="Courier New"/>
                <a:sym typeface="Courier New"/>
              </a:rPr>
              <a:t>// Bind the socket with the server address</a:t>
            </a:r>
            <a:endParaRPr sz="10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AF00DB"/>
                </a:solidFill>
                <a:highlight>
                  <a:srgbClr val="FFFFFF"/>
                </a:highlight>
                <a:latin typeface="Courier New"/>
                <a:ea typeface="Courier New"/>
                <a:cs typeface="Courier New"/>
                <a:sym typeface="Courier New"/>
              </a:rPr>
              <a:t>if</a:t>
            </a: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bind</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const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*)&amp;</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 &lt;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perror</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"bind failed"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exit</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EXIT_FAILURE</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a:t>
            </a:r>
            <a:r>
              <a:rPr lang="el" sz="1050">
                <a:solidFill>
                  <a:srgbClr val="008000"/>
                </a:solidFill>
                <a:highlight>
                  <a:srgbClr val="FFFFFF"/>
                </a:highlight>
                <a:latin typeface="Courier New"/>
                <a:ea typeface="Courier New"/>
                <a:cs typeface="Courier New"/>
                <a:sym typeface="Courier New"/>
              </a:rPr>
              <a:t> //len is value/result</a:t>
            </a:r>
            <a:endParaRPr sz="105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recvfrom</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1024</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MSG_WAITALL</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 &amp;</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&amp;</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 = </a:t>
            </a:r>
            <a:r>
              <a:rPr lang="el" sz="1050">
                <a:solidFill>
                  <a:srgbClr val="A31515"/>
                </a:solidFill>
                <a:highlight>
                  <a:srgbClr val="FFFFFF"/>
                </a:highlight>
                <a:latin typeface="Courier New"/>
                <a:ea typeface="Courier New"/>
                <a:cs typeface="Courier New"/>
                <a:sym typeface="Courier New"/>
              </a:rPr>
              <a:t>'</a:t>
            </a:r>
            <a:r>
              <a:rPr lang="el" sz="1050">
                <a:solidFill>
                  <a:srgbClr val="EE0000"/>
                </a:solidFill>
                <a:highlight>
                  <a:srgbClr val="FFFFFF"/>
                </a:highlight>
                <a:latin typeface="Courier New"/>
                <a:ea typeface="Courier New"/>
                <a:cs typeface="Courier New"/>
                <a:sym typeface="Courier New"/>
              </a:rPr>
              <a:t>\0</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printf</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"Client : </a:t>
            </a:r>
            <a:r>
              <a:rPr lang="el" sz="1050">
                <a:solidFill>
                  <a:srgbClr val="001080"/>
                </a:solidFill>
                <a:highlight>
                  <a:srgbClr val="FFFFFF"/>
                </a:highlight>
                <a:latin typeface="Courier New"/>
                <a:ea typeface="Courier New"/>
                <a:cs typeface="Courier New"/>
                <a:sym typeface="Courier New"/>
              </a:rPr>
              <a:t>%s</a:t>
            </a:r>
            <a:r>
              <a:rPr lang="el" sz="1050">
                <a:solidFill>
                  <a:srgbClr val="EE0000"/>
                </a:solidFill>
                <a:highlight>
                  <a:srgbClr val="FFFFFF"/>
                </a:highlight>
                <a:latin typeface="Courier New"/>
                <a:ea typeface="Courier New"/>
                <a:cs typeface="Courier New"/>
                <a:sym typeface="Courier New"/>
              </a:rPr>
              <a:t>\n</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sendto</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const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"Hi"</a:t>
            </a: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strlen</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"Hi"</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MSG_CONFIRM</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const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 &amp;</a:t>
            </a:r>
            <a:r>
              <a:rPr lang="el" sz="1050">
                <a:solidFill>
                  <a:srgbClr val="001080"/>
                </a:solidFill>
                <a:highlight>
                  <a:srgbClr val="FFFFFF"/>
                </a:highlight>
                <a:latin typeface="Courier New"/>
                <a:ea typeface="Courier New"/>
                <a:cs typeface="Courier New"/>
                <a:sym typeface="Courier New"/>
              </a:rPr>
              <a:t>cliaddr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printf</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"Hello message sent.</a:t>
            </a:r>
            <a:r>
              <a:rPr lang="el" sz="1050">
                <a:solidFill>
                  <a:srgbClr val="EE0000"/>
                </a:solidFill>
                <a:highlight>
                  <a:srgbClr val="FFFFFF"/>
                </a:highlight>
                <a:latin typeface="Courier New"/>
                <a:ea typeface="Courier New"/>
                <a:cs typeface="Courier New"/>
                <a:sym typeface="Courier New"/>
              </a:rPr>
              <a:t>\n</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close</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   </a:t>
            </a:r>
            <a:r>
              <a:rPr lang="el" sz="1050">
                <a:solidFill>
                  <a:srgbClr val="AF00DB"/>
                </a:solidFill>
                <a:highlight>
                  <a:srgbClr val="FFFFFF"/>
                </a:highlight>
                <a:latin typeface="Courier New"/>
                <a:ea typeface="Courier New"/>
                <a:cs typeface="Courier New"/>
                <a:sym typeface="Courier New"/>
              </a:rPr>
              <a:t>return</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243809"/>
              <a:buNone/>
            </a:pPr>
            <a:r>
              <a:rPr lang="el" sz="1050">
                <a:solidFill>
                  <a:srgbClr val="000000"/>
                </a:solidFill>
                <a:highlight>
                  <a:srgbClr val="FFFFFF"/>
                </a:highlight>
                <a:latin typeface="Courier New"/>
                <a:ea typeface="Courier New"/>
                <a:cs typeface="Courier New"/>
                <a:sym typeface="Courier New"/>
              </a:rPr>
              <a:t>}</a:t>
            </a:r>
            <a:endParaRPr sz="1050">
              <a:solidFill>
                <a:srgbClr val="AF00DB"/>
              </a:solidFill>
              <a:highlight>
                <a:srgbClr val="FFFFFF"/>
              </a:highlight>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 Simple Example (client)</a:t>
            </a:r>
            <a:endParaRPr/>
          </a:p>
        </p:txBody>
      </p:sp>
      <p:sp>
        <p:nvSpPr>
          <p:cNvPr id="268" name="Google Shape;268;p22"/>
          <p:cNvSpPr txBox="1"/>
          <p:nvPr>
            <p:ph idx="1" type="body"/>
          </p:nvPr>
        </p:nvSpPr>
        <p:spPr>
          <a:xfrm>
            <a:off x="729450" y="1378000"/>
            <a:ext cx="3842700" cy="3765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&lt;stdio.h&gt;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&lt;stdlib.h&gt;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&lt;string.h&gt;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&lt;unistd.h&gt;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&lt;sys/socket.h&gt;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#include</a:t>
            </a:r>
            <a:r>
              <a:rPr lang="el" sz="1050">
                <a:solidFill>
                  <a:srgbClr val="0000FF"/>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&lt;netinet/in.h&gt;</a:t>
            </a:r>
            <a:endParaRPr sz="105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#define</a:t>
            </a:r>
            <a:r>
              <a:rPr lang="el" sz="1050">
                <a:solidFill>
                  <a:srgbClr val="0000FF"/>
                </a:solidFill>
                <a:highlight>
                  <a:srgbClr val="FFFFFF"/>
                </a:highlight>
                <a:latin typeface="Courier New"/>
                <a:ea typeface="Courier New"/>
                <a:cs typeface="Courier New"/>
                <a:sym typeface="Courier New"/>
              </a:rPr>
              <a:t> PORT     </a:t>
            </a:r>
            <a:r>
              <a:rPr lang="el" sz="1050">
                <a:solidFill>
                  <a:srgbClr val="098658"/>
                </a:solidFill>
                <a:highlight>
                  <a:srgbClr val="FFFFFF"/>
                </a:highlight>
                <a:latin typeface="Courier New"/>
                <a:ea typeface="Courier New"/>
                <a:cs typeface="Courier New"/>
                <a:sym typeface="Courier New"/>
              </a:rPr>
              <a:t>8080</a:t>
            </a:r>
            <a:endParaRPr sz="1050">
              <a:solidFill>
                <a:srgbClr val="09865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AF00DB"/>
                </a:solidFill>
                <a:highlight>
                  <a:srgbClr val="FFFFFF"/>
                </a:highlight>
                <a:latin typeface="Courier New"/>
                <a:ea typeface="Courier New"/>
                <a:cs typeface="Courier New"/>
                <a:sym typeface="Courier New"/>
              </a:rPr>
              <a:t>#define</a:t>
            </a:r>
            <a:r>
              <a:rPr lang="el" sz="1050">
                <a:solidFill>
                  <a:srgbClr val="0000FF"/>
                </a:solidFill>
                <a:highlight>
                  <a:srgbClr val="FFFFFF"/>
                </a:highlight>
                <a:latin typeface="Courier New"/>
                <a:ea typeface="Courier New"/>
                <a:cs typeface="Courier New"/>
                <a:sym typeface="Courier New"/>
              </a:rPr>
              <a:t> MAXLINE </a:t>
            </a:r>
            <a:r>
              <a:rPr lang="el" sz="1050">
                <a:solidFill>
                  <a:srgbClr val="098658"/>
                </a:solidFill>
                <a:highlight>
                  <a:srgbClr val="FFFFFF"/>
                </a:highlight>
                <a:latin typeface="Courier New"/>
                <a:ea typeface="Courier New"/>
                <a:cs typeface="Courier New"/>
                <a:sym typeface="Courier New"/>
              </a:rPr>
              <a:t>1024</a:t>
            </a:r>
            <a:endParaRPr sz="1050">
              <a:solidFill>
                <a:srgbClr val="098658"/>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main</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MAXLINE</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sockaddr_in</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AF00DB"/>
                </a:solidFill>
                <a:highlight>
                  <a:srgbClr val="FFFFFF"/>
                </a:highlight>
                <a:latin typeface="Courier New"/>
                <a:ea typeface="Courier New"/>
                <a:cs typeface="Courier New"/>
                <a:sym typeface="Courier New"/>
              </a:rPr>
              <a:t>if</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socket</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AF_INET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SOCK_DGRAM</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&lt;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perror</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"socket creation failed"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exit</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EXIT_FAILURE</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79271"/>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memset</a:t>
            </a:r>
            <a:r>
              <a:rPr lang="el" sz="1050">
                <a:solidFill>
                  <a:srgbClr val="000000"/>
                </a:solidFill>
                <a:highlight>
                  <a:srgbClr val="FFFFFF"/>
                </a:highlight>
                <a:latin typeface="Courier New"/>
                <a:ea typeface="Courier New"/>
                <a:cs typeface="Courier New"/>
                <a:sym typeface="Courier New"/>
              </a:rPr>
              <a:t>(&amp;</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a:p>
        </p:txBody>
      </p:sp>
      <p:sp>
        <p:nvSpPr>
          <p:cNvPr id="269" name="Google Shape;269;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270" name="Google Shape;270;p22"/>
          <p:cNvSpPr txBox="1"/>
          <p:nvPr>
            <p:ph idx="1" type="body"/>
          </p:nvPr>
        </p:nvSpPr>
        <p:spPr>
          <a:xfrm>
            <a:off x="4731825" y="1378000"/>
            <a:ext cx="3842700" cy="3765600"/>
          </a:xfrm>
          <a:prstGeom prst="rect">
            <a:avLst/>
          </a:prstGeom>
          <a:noFill/>
          <a:ln>
            <a:noFill/>
          </a:ln>
        </p:spPr>
        <p:txBody>
          <a:bodyPr anchorCtr="0" anchor="t" bIns="91425" lIns="91425" spcFirstLastPara="1" rIns="91425" wrap="square" tIns="91425">
            <a:normAutofit fontScale="77500"/>
          </a:bodyPr>
          <a:lstStyle/>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sin_family</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AF_INET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sin_port</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htons</a:t>
            </a:r>
            <a:r>
              <a:rPr lang="el" sz="1050">
                <a:solidFill>
                  <a:srgbClr val="000000"/>
                </a:solidFill>
                <a:highlight>
                  <a:srgbClr val="FFFFFF"/>
                </a:highlight>
                <a:latin typeface="Courier New"/>
                <a:ea typeface="Courier New"/>
                <a:cs typeface="Courier New"/>
                <a:sym typeface="Courier New"/>
              </a:rPr>
              <a:t>(</a:t>
            </a:r>
            <a:r>
              <a:rPr lang="el" sz="1050">
                <a:solidFill>
                  <a:srgbClr val="0000FF"/>
                </a:solidFill>
                <a:highlight>
                  <a:srgbClr val="FFFFFF"/>
                </a:highlight>
                <a:latin typeface="Courier New"/>
                <a:ea typeface="Courier New"/>
                <a:cs typeface="Courier New"/>
                <a:sym typeface="Courier New"/>
              </a:rPr>
              <a:t>PORT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sin_addr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s_addr</a:t>
            </a:r>
            <a:r>
              <a:rPr lang="el" sz="1050">
                <a:solidFill>
                  <a:srgbClr val="000000"/>
                </a:solidFill>
                <a:highlight>
                  <a:srgbClr val="FFFFFF"/>
                </a:highlight>
                <a:latin typeface="Courier New"/>
                <a:ea typeface="Courier New"/>
                <a:cs typeface="Courier New"/>
                <a:sym typeface="Courier New"/>
              </a:rPr>
              <a:t> = </a:t>
            </a:r>
            <a:r>
              <a:rPr lang="el" sz="1050">
                <a:solidFill>
                  <a:srgbClr val="0000FF"/>
                </a:solidFill>
                <a:highlight>
                  <a:srgbClr val="FFFFFF"/>
                </a:highlight>
                <a:latin typeface="Courier New"/>
                <a:ea typeface="Courier New"/>
                <a:cs typeface="Courier New"/>
                <a:sym typeface="Courier New"/>
              </a:rPr>
              <a:t>INADDR_ANY</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sendto</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const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A31515"/>
                </a:solidFill>
                <a:highlight>
                  <a:srgbClr val="FFFFFF"/>
                </a:highlight>
                <a:latin typeface="Courier New"/>
                <a:ea typeface="Courier New"/>
                <a:cs typeface="Courier New"/>
                <a:sym typeface="Courier New"/>
              </a:rPr>
              <a:t>"Hello"</a:t>
            </a: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strlen</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"Hello"</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MSG_CONFIRM</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const</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 &amp;</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sizeof</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printf</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"Hello message sent.</a:t>
            </a:r>
            <a:r>
              <a:rPr lang="el" sz="1050">
                <a:solidFill>
                  <a:srgbClr val="EE0000"/>
                </a:solidFill>
                <a:highlight>
                  <a:srgbClr val="FFFFFF"/>
                </a:highlight>
                <a:latin typeface="Courier New"/>
                <a:ea typeface="Courier New"/>
                <a:cs typeface="Courier New"/>
                <a:sym typeface="Courier New"/>
              </a:rPr>
              <a:t>\n</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int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 = </a:t>
            </a:r>
            <a:r>
              <a:rPr lang="el" sz="1050">
                <a:solidFill>
                  <a:srgbClr val="795E26"/>
                </a:solidFill>
                <a:highlight>
                  <a:srgbClr val="FFFFFF"/>
                </a:highlight>
                <a:latin typeface="Courier New"/>
                <a:ea typeface="Courier New"/>
                <a:cs typeface="Courier New"/>
                <a:sym typeface="Courier New"/>
              </a:rPr>
              <a:t>recvfrom</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MAXLINE</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MSG_WAITALL</a:t>
            </a: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 &amp;</a:t>
            </a:r>
            <a:r>
              <a:rPr lang="el" sz="1050">
                <a:solidFill>
                  <a:srgbClr val="001080"/>
                </a:solidFill>
                <a:highlight>
                  <a:srgbClr val="FFFFFF"/>
                </a:highlight>
                <a:latin typeface="Courier New"/>
                <a:ea typeface="Courier New"/>
                <a:cs typeface="Courier New"/>
                <a:sym typeface="Courier New"/>
              </a:rPr>
              <a:t>servaddr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&amp;</a:t>
            </a:r>
            <a:r>
              <a:rPr lang="el" sz="1050">
                <a:solidFill>
                  <a:srgbClr val="001080"/>
                </a:solidFill>
                <a:highlight>
                  <a:srgbClr val="FFFFFF"/>
                </a:highlight>
                <a:latin typeface="Courier New"/>
                <a:ea typeface="Courier New"/>
                <a:cs typeface="Courier New"/>
                <a:sym typeface="Courier New"/>
              </a:rPr>
              <a:t>len</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n</a:t>
            </a:r>
            <a:r>
              <a:rPr lang="el" sz="1050">
                <a:solidFill>
                  <a:srgbClr val="000000"/>
                </a:solidFill>
                <a:highlight>
                  <a:srgbClr val="FFFFFF"/>
                </a:highlight>
                <a:latin typeface="Courier New"/>
                <a:ea typeface="Courier New"/>
                <a:cs typeface="Courier New"/>
                <a:sym typeface="Courier New"/>
              </a:rPr>
              <a:t>] = </a:t>
            </a:r>
            <a:r>
              <a:rPr lang="el" sz="1050">
                <a:solidFill>
                  <a:srgbClr val="A31515"/>
                </a:solidFill>
                <a:highlight>
                  <a:srgbClr val="FFFFFF"/>
                </a:highlight>
                <a:latin typeface="Courier New"/>
                <a:ea typeface="Courier New"/>
                <a:cs typeface="Courier New"/>
                <a:sym typeface="Courier New"/>
              </a:rPr>
              <a:t>'</a:t>
            </a:r>
            <a:r>
              <a:rPr lang="el" sz="1050">
                <a:solidFill>
                  <a:srgbClr val="EE0000"/>
                </a:solidFill>
                <a:highlight>
                  <a:srgbClr val="FFFFFF"/>
                </a:highlight>
                <a:latin typeface="Courier New"/>
                <a:ea typeface="Courier New"/>
                <a:cs typeface="Courier New"/>
                <a:sym typeface="Courier New"/>
              </a:rPr>
              <a:t>\0</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printf</a:t>
            </a:r>
            <a:r>
              <a:rPr lang="el" sz="1050">
                <a:solidFill>
                  <a:srgbClr val="000000"/>
                </a:solidFill>
                <a:highlight>
                  <a:srgbClr val="FFFFFF"/>
                </a:highlight>
                <a:latin typeface="Courier New"/>
                <a:ea typeface="Courier New"/>
                <a:cs typeface="Courier New"/>
                <a:sym typeface="Courier New"/>
              </a:rPr>
              <a:t>(</a:t>
            </a:r>
            <a:r>
              <a:rPr lang="el" sz="1050">
                <a:solidFill>
                  <a:srgbClr val="A31515"/>
                </a:solidFill>
                <a:highlight>
                  <a:srgbClr val="FFFFFF"/>
                </a:highlight>
                <a:latin typeface="Courier New"/>
                <a:ea typeface="Courier New"/>
                <a:cs typeface="Courier New"/>
                <a:sym typeface="Courier New"/>
              </a:rPr>
              <a:t>"Server : </a:t>
            </a:r>
            <a:r>
              <a:rPr lang="el" sz="1050">
                <a:solidFill>
                  <a:srgbClr val="001080"/>
                </a:solidFill>
                <a:highlight>
                  <a:srgbClr val="FFFFFF"/>
                </a:highlight>
                <a:latin typeface="Courier New"/>
                <a:ea typeface="Courier New"/>
                <a:cs typeface="Courier New"/>
                <a:sym typeface="Courier New"/>
              </a:rPr>
              <a:t>%s</a:t>
            </a:r>
            <a:r>
              <a:rPr lang="el" sz="1050">
                <a:solidFill>
                  <a:srgbClr val="EE0000"/>
                </a:solidFill>
                <a:highlight>
                  <a:srgbClr val="FFFFFF"/>
                </a:highlight>
                <a:latin typeface="Courier New"/>
                <a:ea typeface="Courier New"/>
                <a:cs typeface="Courier New"/>
                <a:sym typeface="Courier New"/>
              </a:rPr>
              <a:t>\n</a:t>
            </a:r>
            <a:r>
              <a:rPr lang="el" sz="1050">
                <a:solidFill>
                  <a:srgbClr val="A31515"/>
                </a:solidFill>
                <a:highlight>
                  <a:srgbClr val="FFFFFF"/>
                </a:highlight>
                <a:latin typeface="Courier New"/>
                <a:ea typeface="Courier New"/>
                <a:cs typeface="Courier New"/>
                <a:sym typeface="Courier New"/>
              </a:rPr>
              <a: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buffer</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795E26"/>
                </a:solidFill>
                <a:highlight>
                  <a:srgbClr val="FFFFFF"/>
                </a:highlight>
                <a:latin typeface="Courier New"/>
                <a:ea typeface="Courier New"/>
                <a:cs typeface="Courier New"/>
                <a:sym typeface="Courier New"/>
              </a:rPr>
              <a:t>close</a:t>
            </a:r>
            <a:r>
              <a:rPr lang="el" sz="1050">
                <a:solidFill>
                  <a:srgbClr val="000000"/>
                </a:solidFill>
                <a:highlight>
                  <a:srgbClr val="FFFFFF"/>
                </a:highlight>
                <a:latin typeface="Courier New"/>
                <a:ea typeface="Courier New"/>
                <a:cs typeface="Courier New"/>
                <a:sym typeface="Courier New"/>
              </a:rPr>
              <a:t>(</a:t>
            </a:r>
            <a:r>
              <a:rPr lang="el" sz="1050">
                <a:solidFill>
                  <a:srgbClr val="001080"/>
                </a:solidFill>
                <a:highlight>
                  <a:srgbClr val="FFFFFF"/>
                </a:highlight>
                <a:latin typeface="Courier New"/>
                <a:ea typeface="Courier New"/>
                <a:cs typeface="Courier New"/>
                <a:sym typeface="Courier New"/>
              </a:rPr>
              <a:t>sockfd</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   </a:t>
            </a:r>
            <a:r>
              <a:rPr lang="el" sz="1050">
                <a:solidFill>
                  <a:srgbClr val="AF00DB"/>
                </a:solidFill>
                <a:highlight>
                  <a:srgbClr val="FFFFFF"/>
                </a:highlight>
                <a:latin typeface="Courier New"/>
                <a:ea typeface="Courier New"/>
                <a:cs typeface="Courier New"/>
                <a:sym typeface="Courier New"/>
              </a:rPr>
              <a:t>return</a:t>
            </a:r>
            <a:r>
              <a:rPr lang="el" sz="1050">
                <a:solidFill>
                  <a:srgbClr val="000000"/>
                </a:solidFill>
                <a:highlight>
                  <a:srgbClr val="FFFFFF"/>
                </a:highlight>
                <a:latin typeface="Courier New"/>
                <a:ea typeface="Courier New"/>
                <a:cs typeface="Courier New"/>
                <a:sym typeface="Courier New"/>
              </a:rPr>
              <a:t> </a:t>
            </a:r>
            <a:r>
              <a:rPr lang="el" sz="1050">
                <a:solidFill>
                  <a:srgbClr val="098658"/>
                </a:solidFill>
                <a:highlight>
                  <a:srgbClr val="FFFFFF"/>
                </a:highlight>
                <a:latin typeface="Courier New"/>
                <a:ea typeface="Courier New"/>
                <a:cs typeface="Courier New"/>
                <a:sym typeface="Courier New"/>
              </a:rPr>
              <a:t>0</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ct val="196620"/>
              <a:buNone/>
            </a:pPr>
            <a:r>
              <a:rPr lang="el" sz="1050">
                <a:solidFill>
                  <a:srgbClr val="000000"/>
                </a:solidFill>
                <a:highlight>
                  <a:srgbClr val="FFFFFF"/>
                </a:highlight>
                <a:latin typeface="Courier New"/>
                <a:ea typeface="Courier New"/>
                <a:cs typeface="Courier New"/>
                <a:sym typeface="Courier New"/>
              </a:rPr>
              <a:t>}</a:t>
            </a:r>
            <a:endParaRPr sz="1050">
              <a:solidFill>
                <a:srgbClr val="AF00DB"/>
              </a:solidFill>
              <a:highlight>
                <a:srgbClr val="FFFFFF"/>
              </a:highlight>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memset()</a:t>
            </a:r>
            <a:endParaRPr/>
          </a:p>
        </p:txBody>
      </p:sp>
      <p:sp>
        <p:nvSpPr>
          <p:cNvPr id="276" name="Google Shape;276;p2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Before we proceed to socket–specific functionality, we have to first describe a useful function from the standard library: </a:t>
            </a:r>
            <a:r>
              <a:rPr b="1" lang="el"/>
              <a:t>memset()</a:t>
            </a:r>
            <a:r>
              <a:rPr lang="el"/>
              <a:t>.</a:t>
            </a:r>
            <a:endParaRPr/>
          </a:p>
          <a:p>
            <a:pPr indent="-330200" lvl="0" marL="457200" rtl="0" algn="l">
              <a:lnSpc>
                <a:spcPct val="115000"/>
              </a:lnSpc>
              <a:spcBef>
                <a:spcPts val="1200"/>
              </a:spcBef>
              <a:spcAft>
                <a:spcPts val="0"/>
              </a:spcAft>
              <a:buSzPts val="1600"/>
              <a:buChar char="●"/>
            </a:pPr>
            <a:r>
              <a:rPr lang="el"/>
              <a:t>Library: Standard C library (libc, -lc)</a:t>
            </a:r>
            <a:endParaRPr/>
          </a:p>
          <a:p>
            <a:pPr indent="-330200" lvl="0" marL="457200" rtl="0" algn="l">
              <a:lnSpc>
                <a:spcPct val="115000"/>
              </a:lnSpc>
              <a:spcBef>
                <a:spcPts val="0"/>
              </a:spcBef>
              <a:spcAft>
                <a:spcPts val="0"/>
              </a:spcAft>
              <a:buSzPts val="1600"/>
              <a:buChar char="●"/>
            </a:pPr>
            <a:r>
              <a:rPr lang="el"/>
              <a:t>To use: #include &lt;string.h&gt;</a:t>
            </a:r>
            <a:endParaRPr/>
          </a:p>
          <a:p>
            <a:pPr indent="-330200" lvl="0" marL="457200" rtl="0" algn="l">
              <a:lnSpc>
                <a:spcPct val="115000"/>
              </a:lnSpc>
              <a:spcBef>
                <a:spcPts val="0"/>
              </a:spcBef>
              <a:spcAft>
                <a:spcPts val="0"/>
              </a:spcAft>
              <a:buSzPts val="1600"/>
              <a:buChar char="●"/>
            </a:pPr>
            <a:r>
              <a:rPr lang="el"/>
              <a:t>Syntax: void *memset(void s[.n], int c, size_t n);</a:t>
            </a:r>
            <a:endParaRPr/>
          </a:p>
          <a:p>
            <a:pPr indent="-330200" lvl="0" marL="457200" rtl="0" algn="l">
              <a:lnSpc>
                <a:spcPct val="115000"/>
              </a:lnSpc>
              <a:spcBef>
                <a:spcPts val="0"/>
              </a:spcBef>
              <a:spcAft>
                <a:spcPts val="0"/>
              </a:spcAft>
              <a:buSzPts val="1600"/>
              <a:buChar char="●"/>
            </a:pPr>
            <a:r>
              <a:rPr lang="el"/>
              <a:t>Description: The memset() function fills the first n bytes of the memory area pointed to by s with the constant byte c.</a:t>
            </a:r>
            <a:endParaRPr/>
          </a:p>
          <a:p>
            <a:pPr indent="-330200" lvl="0" marL="457200" rtl="0" algn="l">
              <a:lnSpc>
                <a:spcPct val="115000"/>
              </a:lnSpc>
              <a:spcBef>
                <a:spcPts val="0"/>
              </a:spcBef>
              <a:spcAft>
                <a:spcPts val="0"/>
              </a:spcAft>
              <a:buSzPts val="1600"/>
              <a:buChar char="●"/>
            </a:pPr>
            <a:r>
              <a:rPr lang="el"/>
              <a:t>Returns a pointer to the memory area s.</a:t>
            </a:r>
            <a:endParaRPr/>
          </a:p>
        </p:txBody>
      </p:sp>
      <p:sp>
        <p:nvSpPr>
          <p:cNvPr id="277" name="Google Shape;277;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283" name="Google Shape;283;p2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To use: #include &lt;sys/types.h&gt; and #include &lt;sys/socket.h&gt;</a:t>
            </a:r>
            <a:endParaRPr/>
          </a:p>
          <a:p>
            <a:pPr indent="-330200" lvl="0" marL="457200" rtl="0" algn="l">
              <a:lnSpc>
                <a:spcPct val="115000"/>
              </a:lnSpc>
              <a:spcBef>
                <a:spcPts val="0"/>
              </a:spcBef>
              <a:spcAft>
                <a:spcPts val="0"/>
              </a:spcAft>
              <a:buSzPts val="1600"/>
              <a:buChar char="●"/>
            </a:pPr>
            <a:r>
              <a:rPr lang="el"/>
              <a:t>Syntax: int socket(int domain, int type, int protocol);</a:t>
            </a:r>
            <a:endParaRPr/>
          </a:p>
          <a:p>
            <a:pPr indent="-330200" lvl="0" marL="457200" rtl="0" algn="l">
              <a:lnSpc>
                <a:spcPct val="115000"/>
              </a:lnSpc>
              <a:spcBef>
                <a:spcPts val="0"/>
              </a:spcBef>
              <a:spcAft>
                <a:spcPts val="0"/>
              </a:spcAft>
              <a:buSzPts val="1600"/>
              <a:buChar char="●"/>
            </a:pPr>
            <a:r>
              <a:rPr lang="el"/>
              <a:t>Description: socket()  creates  an endpoint for communication and returns a file descriptor that refers to that endpoint.  The file descriptor returned by a  successful call will be the lowest-numbered file descriptor not currently open for the process.</a:t>
            </a:r>
            <a:endParaRPr/>
          </a:p>
          <a:p>
            <a:pPr indent="-330200" lvl="0" marL="457200" rtl="0" algn="l">
              <a:lnSpc>
                <a:spcPct val="115000"/>
              </a:lnSpc>
              <a:spcBef>
                <a:spcPts val="0"/>
              </a:spcBef>
              <a:spcAft>
                <a:spcPts val="0"/>
              </a:spcAft>
              <a:buSzPts val="1600"/>
              <a:buChar char="●"/>
            </a:pPr>
            <a:r>
              <a:rPr lang="el"/>
              <a:t>The domain argument specifies a communication domain; this selects  the protocol  family  which will be used for communication.  These families are defined in &lt;sys/socket.h&gt;.</a:t>
            </a:r>
            <a:endParaRPr/>
          </a:p>
        </p:txBody>
      </p:sp>
      <p:sp>
        <p:nvSpPr>
          <p:cNvPr id="284" name="Google Shape;284;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290" name="Google Shape;290;p2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Some choices for the domain argument:</a:t>
            </a:r>
            <a:endParaRPr/>
          </a:p>
          <a:p>
            <a:pPr indent="-330200" lvl="1" marL="914400" rtl="0" algn="l">
              <a:lnSpc>
                <a:spcPct val="115000"/>
              </a:lnSpc>
              <a:spcBef>
                <a:spcPts val="0"/>
              </a:spcBef>
              <a:spcAft>
                <a:spcPts val="0"/>
              </a:spcAft>
              <a:buSzPts val="1600"/>
              <a:buChar char="○"/>
            </a:pPr>
            <a:r>
              <a:rPr b="1" lang="el"/>
              <a:t>AF_UNIX:</a:t>
            </a:r>
            <a:r>
              <a:rPr lang="el"/>
              <a:t> Local communication</a:t>
            </a:r>
            <a:endParaRPr/>
          </a:p>
          <a:p>
            <a:pPr indent="-330200" lvl="1" marL="914400" rtl="0" algn="l">
              <a:lnSpc>
                <a:spcPct val="115000"/>
              </a:lnSpc>
              <a:spcBef>
                <a:spcPts val="0"/>
              </a:spcBef>
              <a:spcAft>
                <a:spcPts val="0"/>
              </a:spcAft>
              <a:buSzPts val="1600"/>
              <a:buChar char="○"/>
            </a:pPr>
            <a:r>
              <a:rPr b="1" lang="el"/>
              <a:t>AF_INET:</a:t>
            </a:r>
            <a:r>
              <a:rPr lang="el"/>
              <a:t> IPv4 Internet protocols</a:t>
            </a:r>
            <a:endParaRPr/>
          </a:p>
          <a:p>
            <a:pPr indent="-330200" lvl="1" marL="914400" rtl="0" algn="l">
              <a:lnSpc>
                <a:spcPct val="115000"/>
              </a:lnSpc>
              <a:spcBef>
                <a:spcPts val="0"/>
              </a:spcBef>
              <a:spcAft>
                <a:spcPts val="0"/>
              </a:spcAft>
              <a:buSzPts val="1600"/>
              <a:buChar char="○"/>
            </a:pPr>
            <a:r>
              <a:rPr b="1" lang="el"/>
              <a:t>AF_INET6:</a:t>
            </a:r>
            <a:r>
              <a:rPr lang="el"/>
              <a:t> IPv6 Internet protocols</a:t>
            </a:r>
            <a:endParaRPr/>
          </a:p>
          <a:p>
            <a:pPr indent="-330200" lvl="1" marL="914400" rtl="0" algn="l">
              <a:lnSpc>
                <a:spcPct val="115000"/>
              </a:lnSpc>
              <a:spcBef>
                <a:spcPts val="0"/>
              </a:spcBef>
              <a:spcAft>
                <a:spcPts val="0"/>
              </a:spcAft>
              <a:buSzPts val="1600"/>
              <a:buChar char="○"/>
            </a:pPr>
            <a:r>
              <a:rPr b="1" lang="el"/>
              <a:t>AF_KEY:</a:t>
            </a:r>
            <a:r>
              <a:rPr lang="el"/>
              <a:t> Key  management protocol, originally developed for usage with IPsec</a:t>
            </a:r>
            <a:endParaRPr/>
          </a:p>
          <a:p>
            <a:pPr indent="-330200" lvl="1" marL="914400" rtl="0" algn="l">
              <a:lnSpc>
                <a:spcPct val="115000"/>
              </a:lnSpc>
              <a:spcBef>
                <a:spcPts val="0"/>
              </a:spcBef>
              <a:spcAft>
                <a:spcPts val="0"/>
              </a:spcAft>
              <a:buSzPts val="1600"/>
              <a:buChar char="○"/>
            </a:pPr>
            <a:r>
              <a:rPr b="1" lang="el"/>
              <a:t>AF_VSOCK:</a:t>
            </a:r>
            <a:r>
              <a:rPr lang="el"/>
              <a:t> VSOCK (originally  "VMWare  VSockets")   vsock(7) protocol for hypervisor-guest communication</a:t>
            </a:r>
            <a:endParaRPr/>
          </a:p>
        </p:txBody>
      </p:sp>
      <p:sp>
        <p:nvSpPr>
          <p:cNvPr id="291" name="Google Shape;291;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297" name="Google Shape;297;p26"/>
          <p:cNvSpPr txBox="1"/>
          <p:nvPr>
            <p:ph idx="1" type="body"/>
          </p:nvPr>
        </p:nvSpPr>
        <p:spPr>
          <a:xfrm>
            <a:off x="729450" y="1378000"/>
            <a:ext cx="7688700" cy="3765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socket has the indicated type, which specifies the communication semantics. Some common types are:</a:t>
            </a:r>
            <a:endParaRPr/>
          </a:p>
          <a:p>
            <a:pPr indent="-330200" lvl="1" marL="914400" rtl="0" algn="l">
              <a:lnSpc>
                <a:spcPct val="115000"/>
              </a:lnSpc>
              <a:spcBef>
                <a:spcPts val="0"/>
              </a:spcBef>
              <a:spcAft>
                <a:spcPts val="0"/>
              </a:spcAft>
              <a:buSzPts val="1600"/>
              <a:buChar char="○"/>
            </a:pPr>
            <a:r>
              <a:rPr b="1" lang="el"/>
              <a:t>SOCK_STREAM:</a:t>
            </a:r>
            <a:r>
              <a:rPr lang="el"/>
              <a:t> Provides sequenced, reliable, two-way, connection-based byte  streams.  An out-of-band data transmission mechanism may be supported.</a:t>
            </a:r>
            <a:endParaRPr/>
          </a:p>
          <a:p>
            <a:pPr indent="-330200" lvl="1" marL="914400" rtl="0" algn="l">
              <a:lnSpc>
                <a:spcPct val="115000"/>
              </a:lnSpc>
              <a:spcBef>
                <a:spcPts val="0"/>
              </a:spcBef>
              <a:spcAft>
                <a:spcPts val="0"/>
              </a:spcAft>
              <a:buSzPts val="1600"/>
              <a:buChar char="○"/>
            </a:pPr>
            <a:r>
              <a:rPr b="1" lang="el"/>
              <a:t>SOCK_SEQPACKET:</a:t>
            </a:r>
            <a:r>
              <a:rPr lang="el"/>
              <a:t> Provides  a  sequenced,  reliable,  two-way connection-based data transmission path  for  datagrams  of  fixed  maximum  length;  a consumer is required to read an entire packet with each input system call.</a:t>
            </a:r>
            <a:endParaRPr/>
          </a:p>
          <a:p>
            <a:pPr indent="-330200" lvl="1" marL="914400" rtl="0" algn="l">
              <a:lnSpc>
                <a:spcPct val="115000"/>
              </a:lnSpc>
              <a:spcBef>
                <a:spcPts val="0"/>
              </a:spcBef>
              <a:spcAft>
                <a:spcPts val="0"/>
              </a:spcAft>
              <a:buSzPts val="1600"/>
              <a:buChar char="○"/>
            </a:pPr>
            <a:r>
              <a:rPr b="1" lang="el"/>
              <a:t>SOCK_RAW:</a:t>
            </a:r>
            <a:r>
              <a:rPr lang="el"/>
              <a:t> Provides raw network protocol access.</a:t>
            </a:r>
            <a:endParaRPr/>
          </a:p>
        </p:txBody>
      </p:sp>
      <p:sp>
        <p:nvSpPr>
          <p:cNvPr id="298" name="Google Shape;298;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304" name="Google Shape;304;p2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Since Linux 2.6.27, the type argument serves a second purpose: in addition  to specifying a socket type, it may include the bitwise OR of any of the following values, to modify the behavior of socket():</a:t>
            </a:r>
            <a:endParaRPr/>
          </a:p>
          <a:p>
            <a:pPr indent="-330200" lvl="1" marL="914400" rtl="0" algn="l">
              <a:lnSpc>
                <a:spcPct val="115000"/>
              </a:lnSpc>
              <a:spcBef>
                <a:spcPts val="0"/>
              </a:spcBef>
              <a:spcAft>
                <a:spcPts val="0"/>
              </a:spcAft>
              <a:buSzPts val="1600"/>
              <a:buChar char="○"/>
            </a:pPr>
            <a:r>
              <a:rPr b="1" lang="el"/>
              <a:t>SOCK_NONBLOCK:</a:t>
            </a:r>
            <a:r>
              <a:rPr lang="el"/>
              <a:t> Set the O_NONBLOCK file status flag on  the  open  file description referred to by the new file descriptor.  Using this flag saves extra calls  to  fcntl(2) to achieve the same result.</a:t>
            </a:r>
            <a:endParaRPr/>
          </a:p>
          <a:p>
            <a:pPr indent="-330200" lvl="1" marL="914400" rtl="0" algn="l">
              <a:lnSpc>
                <a:spcPct val="115000"/>
              </a:lnSpc>
              <a:spcBef>
                <a:spcPts val="0"/>
              </a:spcBef>
              <a:spcAft>
                <a:spcPts val="0"/>
              </a:spcAft>
              <a:buSzPts val="1600"/>
              <a:buChar char="○"/>
            </a:pPr>
            <a:r>
              <a:rPr b="1" lang="el"/>
              <a:t>SOCK_CLOEXEC:</a:t>
            </a:r>
            <a:r>
              <a:rPr lang="el"/>
              <a:t> Set the close-on-exec (FD_CLOEXEC) flag on the new file descriptor.  See the description of the O_CLOEXEC  flag in open(2) for reasons why this may be useful.</a:t>
            </a:r>
            <a:endParaRPr/>
          </a:p>
        </p:txBody>
      </p:sp>
      <p:sp>
        <p:nvSpPr>
          <p:cNvPr id="305" name="Google Shape;305;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311" name="Google Shape;311;p2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protocol  specifies  a  particular  protocol  to  be used with the socket.</a:t>
            </a:r>
            <a:endParaRPr/>
          </a:p>
          <a:p>
            <a:pPr indent="-330200" lvl="0" marL="457200" rtl="0" algn="l">
              <a:lnSpc>
                <a:spcPct val="115000"/>
              </a:lnSpc>
              <a:spcBef>
                <a:spcPts val="0"/>
              </a:spcBef>
              <a:spcAft>
                <a:spcPts val="0"/>
              </a:spcAft>
              <a:buSzPts val="1600"/>
              <a:buChar char="●"/>
            </a:pPr>
            <a:r>
              <a:rPr lang="el"/>
              <a:t>Normally only a single protocol exists to support a particular socket  type within a given protocol family, in which case protocol can be specified as 0. </a:t>
            </a:r>
            <a:endParaRPr/>
          </a:p>
          <a:p>
            <a:pPr indent="-330200" lvl="0" marL="457200" rtl="0" algn="l">
              <a:lnSpc>
                <a:spcPct val="115000"/>
              </a:lnSpc>
              <a:spcBef>
                <a:spcPts val="0"/>
              </a:spcBef>
              <a:spcAft>
                <a:spcPts val="0"/>
              </a:spcAft>
              <a:buSzPts val="1600"/>
              <a:buChar char="●"/>
            </a:pPr>
            <a:r>
              <a:rPr lang="el"/>
              <a:t>However, it is possible that many protocols may exist, in which case a particular protocol must be specified in this manner.</a:t>
            </a:r>
            <a:endParaRPr/>
          </a:p>
          <a:p>
            <a:pPr indent="-330200" lvl="0" marL="457200" rtl="0" algn="l">
              <a:lnSpc>
                <a:spcPct val="115000"/>
              </a:lnSpc>
              <a:spcBef>
                <a:spcPts val="0"/>
              </a:spcBef>
              <a:spcAft>
                <a:spcPts val="0"/>
              </a:spcAft>
              <a:buSzPts val="1600"/>
              <a:buChar char="●"/>
            </a:pPr>
            <a:r>
              <a:rPr lang="el"/>
              <a:t>The protocol number to use is specific to the “communication  domain”  in  which communication is to take place.</a:t>
            </a:r>
            <a:endParaRPr/>
          </a:p>
          <a:p>
            <a:pPr indent="-330200" lvl="0" marL="457200" rtl="0" algn="l">
              <a:lnSpc>
                <a:spcPct val="115000"/>
              </a:lnSpc>
              <a:spcBef>
                <a:spcPts val="0"/>
              </a:spcBef>
              <a:spcAft>
                <a:spcPts val="0"/>
              </a:spcAft>
              <a:buSzPts val="1600"/>
              <a:buChar char="●"/>
            </a:pPr>
            <a:r>
              <a:rPr lang="el"/>
              <a:t>For more on that: man socket</a:t>
            </a:r>
            <a:endParaRPr/>
          </a:p>
        </p:txBody>
      </p:sp>
      <p:sp>
        <p:nvSpPr>
          <p:cNvPr id="312" name="Google Shape;312;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socket()</a:t>
            </a:r>
            <a:endParaRPr/>
          </a:p>
        </p:txBody>
      </p:sp>
      <p:sp>
        <p:nvSpPr>
          <p:cNvPr id="318" name="Google Shape;318;p2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Returns:</a:t>
            </a:r>
            <a:endParaRPr/>
          </a:p>
          <a:p>
            <a:pPr indent="-330200" lvl="1" marL="914400" rtl="0" algn="l">
              <a:lnSpc>
                <a:spcPct val="115000"/>
              </a:lnSpc>
              <a:spcBef>
                <a:spcPts val="0"/>
              </a:spcBef>
              <a:spcAft>
                <a:spcPts val="0"/>
              </a:spcAft>
              <a:buSzPts val="1600"/>
              <a:buChar char="○"/>
            </a:pPr>
            <a:r>
              <a:rPr lang="el"/>
              <a:t>On success, a file descriptor for the new socket is returned.</a:t>
            </a:r>
            <a:endParaRPr/>
          </a:p>
          <a:p>
            <a:pPr indent="-330200" lvl="1" marL="914400" rtl="0" algn="l">
              <a:lnSpc>
                <a:spcPct val="115000"/>
              </a:lnSpc>
              <a:spcBef>
                <a:spcPts val="0"/>
              </a:spcBef>
              <a:spcAft>
                <a:spcPts val="0"/>
              </a:spcAft>
              <a:buSzPts val="1600"/>
              <a:buChar char="○"/>
            </a:pPr>
            <a:r>
              <a:rPr lang="el"/>
              <a:t>On  error, -1 is returned, and errno is set appropriately.</a:t>
            </a:r>
            <a:endParaRPr/>
          </a:p>
          <a:p>
            <a:pPr indent="-330200" lvl="0" marL="457200" rtl="0" algn="l">
              <a:lnSpc>
                <a:spcPct val="115000"/>
              </a:lnSpc>
              <a:spcBef>
                <a:spcPts val="0"/>
              </a:spcBef>
              <a:spcAft>
                <a:spcPts val="0"/>
              </a:spcAft>
              <a:buSzPts val="1600"/>
              <a:buChar char="●"/>
            </a:pPr>
            <a:r>
              <a:rPr lang="el"/>
              <a:t>Some errors:</a:t>
            </a:r>
            <a:endParaRPr/>
          </a:p>
          <a:p>
            <a:pPr indent="-330200" lvl="1" marL="914400" rtl="0" algn="l">
              <a:lnSpc>
                <a:spcPct val="115000"/>
              </a:lnSpc>
              <a:spcBef>
                <a:spcPts val="0"/>
              </a:spcBef>
              <a:spcAft>
                <a:spcPts val="0"/>
              </a:spcAft>
              <a:buSzPts val="1600"/>
              <a:buChar char="○"/>
            </a:pPr>
            <a:r>
              <a:rPr b="1" lang="el"/>
              <a:t>EACCES:</a:t>
            </a:r>
            <a:r>
              <a:rPr lang="el"/>
              <a:t> Permission  to create a socket of the specified type and/or protocol is denied.</a:t>
            </a:r>
            <a:endParaRPr/>
          </a:p>
          <a:p>
            <a:pPr indent="-330200" lvl="1" marL="914400" rtl="0" algn="l">
              <a:lnSpc>
                <a:spcPct val="115000"/>
              </a:lnSpc>
              <a:spcBef>
                <a:spcPts val="0"/>
              </a:spcBef>
              <a:spcAft>
                <a:spcPts val="0"/>
              </a:spcAft>
              <a:buSzPts val="1600"/>
              <a:buChar char="○"/>
            </a:pPr>
            <a:r>
              <a:rPr b="1" lang="el"/>
              <a:t>EINVAL:</a:t>
            </a:r>
            <a:r>
              <a:rPr lang="el"/>
              <a:t> Unknown protocol, or protocol family not available OR Invalid flags in type.</a:t>
            </a:r>
            <a:endParaRPr/>
          </a:p>
          <a:p>
            <a:pPr indent="-330200" lvl="1" marL="914400" rtl="0" algn="l">
              <a:lnSpc>
                <a:spcPct val="115000"/>
              </a:lnSpc>
              <a:spcBef>
                <a:spcPts val="0"/>
              </a:spcBef>
              <a:spcAft>
                <a:spcPts val="0"/>
              </a:spcAft>
              <a:buSzPts val="1600"/>
              <a:buChar char="○"/>
            </a:pPr>
            <a:r>
              <a:rPr b="1" lang="el"/>
              <a:t>EPROTONOSUPPORT:</a:t>
            </a:r>
            <a:r>
              <a:rPr lang="el"/>
              <a:t> The protocol type or the specified  protocol  is  not  supported within this domain.</a:t>
            </a:r>
            <a:endParaRPr/>
          </a:p>
        </p:txBody>
      </p:sp>
      <p:sp>
        <p:nvSpPr>
          <p:cNvPr id="319" name="Google Shape;319;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bind()</a:t>
            </a:r>
            <a:endParaRPr/>
          </a:p>
        </p:txBody>
      </p:sp>
      <p:sp>
        <p:nvSpPr>
          <p:cNvPr id="325" name="Google Shape;325;p30"/>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To use: #include &lt;sys/types.h&gt; and #include &lt;sys/socket.h&gt;</a:t>
            </a:r>
            <a:endParaRPr/>
          </a:p>
          <a:p>
            <a:pPr indent="-330200" lvl="0" marL="457200" rtl="0" algn="l">
              <a:lnSpc>
                <a:spcPct val="115000"/>
              </a:lnSpc>
              <a:spcBef>
                <a:spcPts val="0"/>
              </a:spcBef>
              <a:spcAft>
                <a:spcPts val="0"/>
              </a:spcAft>
              <a:buSzPts val="1600"/>
              <a:buChar char="●"/>
            </a:pPr>
            <a:r>
              <a:rPr lang="el"/>
              <a:t>Syntax: int bind(int sockfd, const struct sockaddr *addr, socklen_t addrlen);</a:t>
            </a:r>
            <a:endParaRPr/>
          </a:p>
          <a:p>
            <a:pPr indent="-330200" lvl="0" marL="457200" rtl="0" algn="l">
              <a:lnSpc>
                <a:spcPct val="115000"/>
              </a:lnSpc>
              <a:spcBef>
                <a:spcPts val="0"/>
              </a:spcBef>
              <a:spcAft>
                <a:spcPts val="0"/>
              </a:spcAft>
              <a:buSzPts val="1600"/>
              <a:buChar char="●"/>
            </a:pPr>
            <a:r>
              <a:rPr lang="el"/>
              <a:t>When a socket is created with socket(2), it exists in a namespace (address family) but has no address assigned to it.</a:t>
            </a:r>
            <a:endParaRPr/>
          </a:p>
          <a:p>
            <a:pPr indent="-330200" lvl="0" marL="457200" rtl="0" algn="l">
              <a:lnSpc>
                <a:spcPct val="115000"/>
              </a:lnSpc>
              <a:spcBef>
                <a:spcPts val="0"/>
              </a:spcBef>
              <a:spcAft>
                <a:spcPts val="0"/>
              </a:spcAft>
              <a:buSzPts val="1600"/>
              <a:buChar char="●"/>
            </a:pPr>
            <a:r>
              <a:rPr lang="el"/>
              <a:t>bind()  assigns  the address  specified  by  addr  to the socket referred to by the file descriptor sockfd. </a:t>
            </a:r>
            <a:endParaRPr/>
          </a:p>
          <a:p>
            <a:pPr indent="-330200" lvl="0" marL="457200" rtl="0" algn="l">
              <a:lnSpc>
                <a:spcPct val="115000"/>
              </a:lnSpc>
              <a:spcBef>
                <a:spcPts val="0"/>
              </a:spcBef>
              <a:spcAft>
                <a:spcPts val="0"/>
              </a:spcAft>
              <a:buSzPts val="1600"/>
              <a:buChar char="●"/>
            </a:pPr>
            <a:r>
              <a:rPr lang="el"/>
              <a:t>addrlen specifies the size, in bytes, of the  address structure  pointed to by addr.</a:t>
            </a:r>
            <a:endParaRPr/>
          </a:p>
          <a:p>
            <a:pPr indent="-330200" lvl="0" marL="457200" rtl="0" algn="l">
              <a:lnSpc>
                <a:spcPct val="115000"/>
              </a:lnSpc>
              <a:spcBef>
                <a:spcPts val="0"/>
              </a:spcBef>
              <a:spcAft>
                <a:spcPts val="0"/>
              </a:spcAft>
              <a:buSzPts val="1600"/>
              <a:buChar char="●"/>
            </a:pPr>
            <a:r>
              <a:rPr lang="el"/>
              <a:t>Traditionally, this operation is called “assigning a name to a socket”.</a:t>
            </a:r>
            <a:endParaRPr/>
          </a:p>
        </p:txBody>
      </p:sp>
      <p:sp>
        <p:nvSpPr>
          <p:cNvPr id="326" name="Google Shape;326;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bind()</a:t>
            </a:r>
            <a:endParaRPr/>
          </a:p>
        </p:txBody>
      </p:sp>
      <p:sp>
        <p:nvSpPr>
          <p:cNvPr id="332" name="Google Shape;332;p31"/>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actual  structure  passed for the addr argument will depend on the    address family. The sockaddr structure is defined as something like:</a:t>
            </a:r>
            <a:endParaRPr/>
          </a:p>
          <a:p>
            <a:pPr indent="0" lvl="0" marL="0" rtl="0" algn="l">
              <a:lnSpc>
                <a:spcPct val="135714"/>
              </a:lnSpc>
              <a:spcBef>
                <a:spcPts val="1200"/>
              </a:spcBef>
              <a:spcAft>
                <a:spcPts val="0"/>
              </a:spcAft>
              <a:buSzPts val="1600"/>
              <a:buNone/>
            </a:pPr>
            <a:r>
              <a:rPr lang="el" sz="1050">
                <a:solidFill>
                  <a:srgbClr val="0000FF"/>
                </a:solidFill>
                <a:highlight>
                  <a:srgbClr val="FFFFFF"/>
                </a:highlight>
                <a:latin typeface="Courier New"/>
                <a:ea typeface="Courier New"/>
                <a:cs typeface="Courier New"/>
                <a:sym typeface="Courier New"/>
              </a:rPr>
              <a:t>struct</a:t>
            </a: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sockaddr</a:t>
            </a:r>
            <a:r>
              <a:rPr lang="el" sz="1050">
                <a:solidFill>
                  <a:srgbClr val="000000"/>
                </a:solidFill>
                <a:highlight>
                  <a:srgbClr val="FFFFFF"/>
                </a:highlight>
                <a:latin typeface="Courier New"/>
                <a:ea typeface="Courier New"/>
                <a:cs typeface="Courier New"/>
                <a:sym typeface="Courier New"/>
              </a:rPr>
              <a:t> {</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ts val="1600"/>
              <a:buNone/>
            </a:pPr>
            <a:r>
              <a:rPr lang="el" sz="1050">
                <a:solidFill>
                  <a:srgbClr val="000000"/>
                </a:solidFill>
                <a:highlight>
                  <a:srgbClr val="FFFFFF"/>
                </a:highlight>
                <a:latin typeface="Courier New"/>
                <a:ea typeface="Courier New"/>
                <a:cs typeface="Courier New"/>
                <a:sym typeface="Courier New"/>
              </a:rPr>
              <a:t>   </a:t>
            </a:r>
            <a:r>
              <a:rPr lang="el" sz="1050">
                <a:solidFill>
                  <a:srgbClr val="267F99"/>
                </a:solidFill>
                <a:highlight>
                  <a:srgbClr val="FFFFFF"/>
                </a:highlight>
                <a:latin typeface="Courier New"/>
                <a:ea typeface="Courier New"/>
                <a:cs typeface="Courier New"/>
                <a:sym typeface="Courier New"/>
              </a:rPr>
              <a:t>sa_family_t</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sa_family</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ts val="1600"/>
              <a:buNone/>
            </a:pPr>
            <a:r>
              <a:rPr lang="el" sz="1050">
                <a:solidFill>
                  <a:srgbClr val="000000"/>
                </a:solidFill>
                <a:highlight>
                  <a:srgbClr val="FFFFFF"/>
                </a:highlight>
                <a:latin typeface="Courier New"/>
                <a:ea typeface="Courier New"/>
                <a:cs typeface="Courier New"/>
                <a:sym typeface="Courier New"/>
              </a:rPr>
              <a:t>   </a:t>
            </a:r>
            <a:r>
              <a:rPr lang="el" sz="1050">
                <a:solidFill>
                  <a:srgbClr val="0000FF"/>
                </a:solidFill>
                <a:highlight>
                  <a:srgbClr val="FFFFFF"/>
                </a:highlight>
                <a:latin typeface="Courier New"/>
                <a:ea typeface="Courier New"/>
                <a:cs typeface="Courier New"/>
                <a:sym typeface="Courier New"/>
              </a:rPr>
              <a:t>char</a:t>
            </a:r>
            <a:r>
              <a:rPr lang="el" sz="1050">
                <a:solidFill>
                  <a:srgbClr val="000000"/>
                </a:solidFill>
                <a:highlight>
                  <a:srgbClr val="FFFFFF"/>
                </a:highlight>
                <a:latin typeface="Courier New"/>
                <a:ea typeface="Courier New"/>
                <a:cs typeface="Courier New"/>
                <a:sym typeface="Courier New"/>
              </a:rPr>
              <a:t>        </a:t>
            </a:r>
            <a:r>
              <a:rPr lang="el" sz="1050">
                <a:solidFill>
                  <a:srgbClr val="001080"/>
                </a:solidFill>
                <a:highlight>
                  <a:srgbClr val="FFFFFF"/>
                </a:highlight>
                <a:latin typeface="Courier New"/>
                <a:ea typeface="Courier New"/>
                <a:cs typeface="Courier New"/>
                <a:sym typeface="Courier New"/>
              </a:rPr>
              <a:t>sa_data</a:t>
            </a:r>
            <a:r>
              <a:rPr lang="el" sz="1050">
                <a:solidFill>
                  <a:srgbClr val="000000"/>
                </a:solidFill>
                <a:highlight>
                  <a:srgbClr val="FFFFFF"/>
                </a:highlight>
                <a:latin typeface="Courier New"/>
                <a:ea typeface="Courier New"/>
                <a:cs typeface="Courier New"/>
                <a:sym typeface="Courier New"/>
              </a:rPr>
              <a:t>[</a:t>
            </a:r>
            <a:r>
              <a:rPr lang="el" sz="1050">
                <a:solidFill>
                  <a:srgbClr val="098658"/>
                </a:solidFill>
                <a:highlight>
                  <a:srgbClr val="FFFFFF"/>
                </a:highlight>
                <a:latin typeface="Courier New"/>
                <a:ea typeface="Courier New"/>
                <a:cs typeface="Courier New"/>
                <a:sym typeface="Courier New"/>
              </a:rPr>
              <a:t>14</a:t>
            </a: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SzPts val="1600"/>
              <a:buNone/>
            </a:pPr>
            <a:r>
              <a:rPr lang="el" sz="1050">
                <a:solidFill>
                  <a:srgbClr val="000000"/>
                </a:solidFill>
                <a:highlight>
                  <a:srgbClr val="FFFFFF"/>
                </a:highlight>
                <a:latin typeface="Courier New"/>
                <a:ea typeface="Courier New"/>
                <a:cs typeface="Courier New"/>
                <a:sym typeface="Courier New"/>
              </a:rPr>
              <a:t>}</a:t>
            </a:r>
            <a:endParaRPr sz="1050">
              <a:solidFill>
                <a:srgbClr val="000000"/>
              </a:solidFill>
              <a:highlight>
                <a:srgbClr val="FFFFFF"/>
              </a:highlight>
              <a:latin typeface="Courier New"/>
              <a:ea typeface="Courier New"/>
              <a:cs typeface="Courier New"/>
              <a:sym typeface="Courier New"/>
            </a:endParaRPr>
          </a:p>
          <a:p>
            <a:pPr indent="-330200" lvl="0" marL="457200" rtl="0" algn="l">
              <a:lnSpc>
                <a:spcPct val="115000"/>
              </a:lnSpc>
              <a:spcBef>
                <a:spcPts val="0"/>
              </a:spcBef>
              <a:spcAft>
                <a:spcPts val="0"/>
              </a:spcAft>
              <a:buSzPts val="1600"/>
              <a:buChar char="●"/>
            </a:pPr>
            <a:r>
              <a:rPr lang="el"/>
              <a:t>The only purpose of this structure is to  cast  the  structure  pointer passed in addr in order to avoid compiler warnings.</a:t>
            </a:r>
            <a:endParaRPr/>
          </a:p>
          <a:p>
            <a:pPr indent="-330200" lvl="0" marL="457200" rtl="0" algn="l">
              <a:lnSpc>
                <a:spcPct val="115000"/>
              </a:lnSpc>
              <a:spcBef>
                <a:spcPts val="0"/>
              </a:spcBef>
              <a:spcAft>
                <a:spcPts val="0"/>
              </a:spcAft>
              <a:buSzPts val="1600"/>
              <a:buChar char="●"/>
            </a:pPr>
            <a:r>
              <a:rPr lang="el"/>
              <a:t>Returns:</a:t>
            </a:r>
            <a:endParaRPr/>
          </a:p>
          <a:p>
            <a:pPr indent="-330200" lvl="1" marL="914400" rtl="0" algn="l">
              <a:lnSpc>
                <a:spcPct val="115000"/>
              </a:lnSpc>
              <a:spcBef>
                <a:spcPts val="0"/>
              </a:spcBef>
              <a:spcAft>
                <a:spcPts val="0"/>
              </a:spcAft>
              <a:buSzPts val="1600"/>
              <a:buChar char="○"/>
            </a:pPr>
            <a:r>
              <a:rPr lang="el"/>
              <a:t>On  success,  zero is returned.</a:t>
            </a:r>
            <a:endParaRPr/>
          </a:p>
          <a:p>
            <a:pPr indent="-330200" lvl="1" marL="914400" rtl="0" algn="l">
              <a:lnSpc>
                <a:spcPct val="115000"/>
              </a:lnSpc>
              <a:spcBef>
                <a:spcPts val="0"/>
              </a:spcBef>
              <a:spcAft>
                <a:spcPts val="0"/>
              </a:spcAft>
              <a:buSzPts val="1600"/>
              <a:buChar char="○"/>
            </a:pPr>
            <a:r>
              <a:rPr lang="el"/>
              <a:t>On error, -1 is returned, and errno is set appropriately.</a:t>
            </a:r>
            <a:endParaRPr/>
          </a:p>
        </p:txBody>
      </p:sp>
      <p:sp>
        <p:nvSpPr>
          <p:cNvPr id="333" name="Google Shape;333;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recvfrom()</a:t>
            </a:r>
            <a:endParaRPr/>
          </a:p>
        </p:txBody>
      </p:sp>
      <p:sp>
        <p:nvSpPr>
          <p:cNvPr id="339" name="Google Shape;339;p32"/>
          <p:cNvSpPr txBox="1"/>
          <p:nvPr>
            <p:ph idx="1" type="body"/>
          </p:nvPr>
        </p:nvSpPr>
        <p:spPr>
          <a:xfrm>
            <a:off x="729450" y="1378000"/>
            <a:ext cx="7688700" cy="3306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To use: #include &lt;sys/types.h&gt; and #include &lt;sys/socket.h&gt;</a:t>
            </a:r>
            <a:endParaRPr/>
          </a:p>
          <a:p>
            <a:pPr indent="-330200" lvl="0" marL="457200" rtl="0" algn="l">
              <a:lnSpc>
                <a:spcPct val="115000"/>
              </a:lnSpc>
              <a:spcBef>
                <a:spcPts val="0"/>
              </a:spcBef>
              <a:spcAft>
                <a:spcPts val="0"/>
              </a:spcAft>
              <a:buSzPts val="1600"/>
              <a:buChar char="●"/>
            </a:pPr>
            <a:r>
              <a:rPr lang="el"/>
              <a:t>Syntax: ssize_t recvfrom(int sockfd, void *buf, size_t len, int flags, struct sockaddr *src_addr, socklen_t *addrlen);</a:t>
            </a:r>
            <a:endParaRPr/>
          </a:p>
          <a:p>
            <a:pPr indent="-330200" lvl="0" marL="457200" rtl="0" algn="l">
              <a:lnSpc>
                <a:spcPct val="115000"/>
              </a:lnSpc>
              <a:spcBef>
                <a:spcPts val="0"/>
              </a:spcBef>
              <a:spcAft>
                <a:spcPts val="0"/>
              </a:spcAft>
              <a:buSzPts val="1600"/>
              <a:buChar char="●"/>
            </a:pPr>
            <a:r>
              <a:rPr lang="el"/>
              <a:t>Alternatives:</a:t>
            </a:r>
            <a:endParaRPr/>
          </a:p>
          <a:p>
            <a:pPr indent="-330200" lvl="1" marL="914400" rtl="0" algn="l">
              <a:lnSpc>
                <a:spcPct val="115000"/>
              </a:lnSpc>
              <a:spcBef>
                <a:spcPts val="0"/>
              </a:spcBef>
              <a:spcAft>
                <a:spcPts val="0"/>
              </a:spcAft>
              <a:buSzPts val="1600"/>
              <a:buChar char="○"/>
            </a:pPr>
            <a:r>
              <a:rPr lang="el"/>
              <a:t>ssize_t recv(int sockfd, void *buf, size_t len, int flags);</a:t>
            </a:r>
            <a:endParaRPr/>
          </a:p>
          <a:p>
            <a:pPr indent="-330200" lvl="1" marL="914400" rtl="0" algn="l">
              <a:lnSpc>
                <a:spcPct val="115000"/>
              </a:lnSpc>
              <a:spcBef>
                <a:spcPts val="0"/>
              </a:spcBef>
              <a:spcAft>
                <a:spcPts val="0"/>
              </a:spcAft>
              <a:buSzPts val="1600"/>
              <a:buChar char="○"/>
            </a:pPr>
            <a:r>
              <a:rPr lang="el"/>
              <a:t>ssize_t recvmsg(int sockfd, struct msghdr *msg, int flags);</a:t>
            </a:r>
            <a:endParaRPr/>
          </a:p>
          <a:p>
            <a:pPr indent="-330200" lvl="0" marL="457200" rtl="0" algn="l">
              <a:lnSpc>
                <a:spcPct val="115000"/>
              </a:lnSpc>
              <a:spcBef>
                <a:spcPts val="0"/>
              </a:spcBef>
              <a:spcAft>
                <a:spcPts val="0"/>
              </a:spcAft>
              <a:buSzPts val="1600"/>
              <a:buChar char="●"/>
            </a:pPr>
            <a:r>
              <a:rPr lang="el"/>
              <a:t>The  recv(),  recvfrom(),  and recvmsg() calls are used to receive messages from a socket.  They may be used to receive data on both  connectionless  and  connection-oriented  sockets.  This page first describes common features of all three system calls, and then describes the  differences between the calls.</a:t>
            </a:r>
            <a:endParaRPr/>
          </a:p>
        </p:txBody>
      </p:sp>
      <p:sp>
        <p:nvSpPr>
          <p:cNvPr id="340" name="Google Shape;340;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recvfrom()</a:t>
            </a:r>
            <a:endParaRPr/>
          </a:p>
        </p:txBody>
      </p:sp>
      <p:sp>
        <p:nvSpPr>
          <p:cNvPr id="346" name="Google Shape;346;p3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The  only  difference  between  recv()  and  read(2) is the presence of flags.  </a:t>
            </a:r>
            <a:endParaRPr/>
          </a:p>
          <a:p>
            <a:pPr indent="-330200" lvl="0" marL="457200" rtl="0" algn="l">
              <a:lnSpc>
                <a:spcPct val="115000"/>
              </a:lnSpc>
              <a:spcBef>
                <a:spcPts val="0"/>
              </a:spcBef>
              <a:spcAft>
                <a:spcPts val="0"/>
              </a:spcAft>
              <a:buSzPts val="1600"/>
              <a:buChar char="●"/>
            </a:pPr>
            <a:r>
              <a:rPr lang="el"/>
              <a:t>With a zero flags argument, recv() is generally  equivalent  to read(2).</a:t>
            </a:r>
            <a:endParaRPr/>
          </a:p>
          <a:p>
            <a:pPr indent="-330200" lvl="0" marL="457200" rtl="0" algn="l">
              <a:lnSpc>
                <a:spcPct val="115000"/>
              </a:lnSpc>
              <a:spcBef>
                <a:spcPts val="0"/>
              </a:spcBef>
              <a:spcAft>
                <a:spcPts val="0"/>
              </a:spcAft>
              <a:buSzPts val="1600"/>
              <a:buChar char="●"/>
            </a:pPr>
            <a:r>
              <a:rPr lang="el"/>
              <a:t>All  three calls return the length of the message on successful completion.</a:t>
            </a:r>
            <a:endParaRPr/>
          </a:p>
          <a:p>
            <a:pPr indent="-330200" lvl="0" marL="457200" rtl="0" algn="l">
              <a:lnSpc>
                <a:spcPct val="115000"/>
              </a:lnSpc>
              <a:spcBef>
                <a:spcPts val="0"/>
              </a:spcBef>
              <a:spcAft>
                <a:spcPts val="0"/>
              </a:spcAft>
              <a:buSzPts val="1600"/>
              <a:buChar char="●"/>
            </a:pPr>
            <a:r>
              <a:rPr lang="el"/>
              <a:t>If a message is too long to fit in the supplied  buffer, excess bytes  may  be discarded depending on the type of socket the message is received from.</a:t>
            </a:r>
            <a:endParaRPr/>
          </a:p>
          <a:p>
            <a:pPr indent="-330200" lvl="0" marL="457200" rtl="0" algn="l">
              <a:lnSpc>
                <a:spcPct val="115000"/>
              </a:lnSpc>
              <a:spcBef>
                <a:spcPts val="0"/>
              </a:spcBef>
              <a:spcAft>
                <a:spcPts val="0"/>
              </a:spcAft>
              <a:buSzPts val="1600"/>
              <a:buChar char="●"/>
            </a:pPr>
            <a:r>
              <a:rPr lang="el"/>
              <a:t>In case you are willing to dive into a vast rabbit–hole: man recvfrom</a:t>
            </a:r>
            <a:endParaRPr/>
          </a:p>
        </p:txBody>
      </p:sp>
      <p:sp>
        <p:nvSpPr>
          <p:cNvPr id="347" name="Google Shape;347;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sendto()</a:t>
            </a:r>
            <a:endParaRPr/>
          </a:p>
        </p:txBody>
      </p:sp>
      <p:sp>
        <p:nvSpPr>
          <p:cNvPr id="353" name="Google Shape;353;p34"/>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To use: #include &lt;sys/types.h&gt; and #include &lt;sys/socket.h&gt;</a:t>
            </a:r>
            <a:endParaRPr/>
          </a:p>
          <a:p>
            <a:pPr indent="-330200" lvl="0" marL="457200" rtl="0" algn="l">
              <a:lnSpc>
                <a:spcPct val="115000"/>
              </a:lnSpc>
              <a:spcBef>
                <a:spcPts val="0"/>
              </a:spcBef>
              <a:spcAft>
                <a:spcPts val="0"/>
              </a:spcAft>
              <a:buSzPts val="1600"/>
              <a:buChar char="●"/>
            </a:pPr>
            <a:r>
              <a:rPr lang="el"/>
              <a:t>Syntax: ssize_t sendto(int sockfd, const void *buf, size_t len, int flags,                    const struct sockaddr *dest_addr, socklen_t addrlen);</a:t>
            </a:r>
            <a:endParaRPr/>
          </a:p>
          <a:p>
            <a:pPr indent="-330200" lvl="0" marL="457200" rtl="0" algn="l">
              <a:lnSpc>
                <a:spcPct val="115000"/>
              </a:lnSpc>
              <a:spcBef>
                <a:spcPts val="0"/>
              </a:spcBef>
              <a:spcAft>
                <a:spcPts val="0"/>
              </a:spcAft>
              <a:buSzPts val="1600"/>
              <a:buChar char="●"/>
            </a:pPr>
            <a:r>
              <a:rPr lang="el"/>
              <a:t>Alternatives:</a:t>
            </a:r>
            <a:endParaRPr/>
          </a:p>
          <a:p>
            <a:pPr indent="-330200" lvl="1" marL="914400" rtl="0" algn="l">
              <a:lnSpc>
                <a:spcPct val="115000"/>
              </a:lnSpc>
              <a:spcBef>
                <a:spcPts val="0"/>
              </a:spcBef>
              <a:spcAft>
                <a:spcPts val="0"/>
              </a:spcAft>
              <a:buSzPts val="1600"/>
              <a:buChar char="○"/>
            </a:pPr>
            <a:r>
              <a:rPr lang="el"/>
              <a:t>ssize_t send(int sockfd, const void *buf, size_t len, int flags);</a:t>
            </a:r>
            <a:endParaRPr/>
          </a:p>
          <a:p>
            <a:pPr indent="-330200" lvl="1" marL="914400" rtl="0" algn="l">
              <a:lnSpc>
                <a:spcPct val="115000"/>
              </a:lnSpc>
              <a:spcBef>
                <a:spcPts val="0"/>
              </a:spcBef>
              <a:spcAft>
                <a:spcPts val="0"/>
              </a:spcAft>
              <a:buSzPts val="1600"/>
              <a:buChar char="○"/>
            </a:pPr>
            <a:r>
              <a:rPr lang="el"/>
              <a:t>ssize_t sendmsg(int sockfd, const struct msghdr *msg, int flags);</a:t>
            </a:r>
            <a:endParaRPr/>
          </a:p>
          <a:p>
            <a:pPr indent="-330200" lvl="0" marL="457200" rtl="0" algn="l">
              <a:lnSpc>
                <a:spcPct val="115000"/>
              </a:lnSpc>
              <a:spcBef>
                <a:spcPts val="0"/>
              </a:spcBef>
              <a:spcAft>
                <a:spcPts val="0"/>
              </a:spcAft>
              <a:buSzPts val="1600"/>
              <a:buChar char="●"/>
            </a:pPr>
            <a:r>
              <a:rPr lang="el"/>
              <a:t>The system calls send(), sendto(), and sendmsg() are used to transmit a message to another socket.</a:t>
            </a:r>
            <a:endParaRPr/>
          </a:p>
          <a:p>
            <a:pPr indent="-330200" lvl="0" marL="457200" rtl="0" algn="l">
              <a:lnSpc>
                <a:spcPct val="115000"/>
              </a:lnSpc>
              <a:spcBef>
                <a:spcPts val="0"/>
              </a:spcBef>
              <a:spcAft>
                <a:spcPts val="0"/>
              </a:spcAft>
              <a:buSzPts val="1600"/>
              <a:buChar char="●"/>
            </a:pPr>
            <a:r>
              <a:rPr lang="el"/>
              <a:t>The send() call may be used only when the  socket  is  in  a  connected state  (so  that the intended recipient is known).  The only difference between send() and write(2) is the presence of flags.  With a zero flags  argument, send() is equivalent to write(2).</a:t>
            </a:r>
            <a:endParaRPr/>
          </a:p>
        </p:txBody>
      </p:sp>
      <p:sp>
        <p:nvSpPr>
          <p:cNvPr id="354" name="Google Shape;354;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sendto()</a:t>
            </a:r>
            <a:endParaRPr/>
          </a:p>
        </p:txBody>
      </p:sp>
      <p:sp>
        <p:nvSpPr>
          <p:cNvPr id="360" name="Google Shape;360;p3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For send() and sendto(), the message is found in  buf  and  has  length len.</a:t>
            </a:r>
            <a:endParaRPr/>
          </a:p>
          <a:p>
            <a:pPr indent="-330200" lvl="0" marL="457200" rtl="0" algn="l">
              <a:lnSpc>
                <a:spcPct val="115000"/>
              </a:lnSpc>
              <a:spcBef>
                <a:spcPts val="0"/>
              </a:spcBef>
              <a:spcAft>
                <a:spcPts val="0"/>
              </a:spcAft>
              <a:buSzPts val="1600"/>
              <a:buChar char="●"/>
            </a:pPr>
            <a:r>
              <a:rPr lang="el"/>
              <a:t>For  sendmsg(), the message is pointed to by the elements of the array msg.msg_iov.</a:t>
            </a:r>
            <a:endParaRPr/>
          </a:p>
          <a:p>
            <a:pPr indent="-330200" lvl="0" marL="457200" rtl="0" algn="l">
              <a:lnSpc>
                <a:spcPct val="115000"/>
              </a:lnSpc>
              <a:spcBef>
                <a:spcPts val="0"/>
              </a:spcBef>
              <a:spcAft>
                <a:spcPts val="0"/>
              </a:spcAft>
              <a:buSzPts val="1600"/>
              <a:buChar char="●"/>
            </a:pPr>
            <a:r>
              <a:rPr lang="el"/>
              <a:t>The sendmsg() call also  allows  sending  ancillary data (also known as control information).</a:t>
            </a:r>
            <a:endParaRPr/>
          </a:p>
          <a:p>
            <a:pPr indent="-330200" lvl="0" marL="457200" rtl="0" algn="l">
              <a:lnSpc>
                <a:spcPct val="115000"/>
              </a:lnSpc>
              <a:spcBef>
                <a:spcPts val="0"/>
              </a:spcBef>
              <a:spcAft>
                <a:spcPts val="0"/>
              </a:spcAft>
              <a:buSzPts val="1600"/>
              <a:buChar char="●"/>
            </a:pPr>
            <a:r>
              <a:rPr lang="el"/>
              <a:t>If  the  message  is too long to pass atomically through the underlying protocol, the error EMSGSIZE is returned, and the message is not transmitted.</a:t>
            </a:r>
            <a:endParaRPr/>
          </a:p>
          <a:p>
            <a:pPr indent="-330200" lvl="0" marL="457200" rtl="0" algn="l">
              <a:lnSpc>
                <a:spcPct val="115000"/>
              </a:lnSpc>
              <a:spcBef>
                <a:spcPts val="0"/>
              </a:spcBef>
              <a:spcAft>
                <a:spcPts val="0"/>
              </a:spcAft>
              <a:buSzPts val="1600"/>
              <a:buChar char="●"/>
            </a:pPr>
            <a:r>
              <a:rPr lang="el"/>
              <a:t>For more: man sendto</a:t>
            </a:r>
            <a:endParaRPr/>
          </a:p>
        </p:txBody>
      </p:sp>
      <p:sp>
        <p:nvSpPr>
          <p:cNvPr id="361" name="Google Shape;361;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close()</a:t>
            </a:r>
            <a:endParaRPr/>
          </a:p>
        </p:txBody>
      </p:sp>
      <p:sp>
        <p:nvSpPr>
          <p:cNvPr id="367" name="Google Shape;367;p36"/>
          <p:cNvSpPr txBox="1"/>
          <p:nvPr>
            <p:ph idx="1" type="body"/>
          </p:nvPr>
        </p:nvSpPr>
        <p:spPr>
          <a:xfrm>
            <a:off x="729450" y="1378000"/>
            <a:ext cx="7688700" cy="35790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To use: #include &lt;unistd.h&gt;</a:t>
            </a:r>
            <a:endParaRPr/>
          </a:p>
          <a:p>
            <a:pPr indent="-330200" lvl="0" marL="457200" rtl="0" algn="l">
              <a:lnSpc>
                <a:spcPct val="115000"/>
              </a:lnSpc>
              <a:spcBef>
                <a:spcPts val="0"/>
              </a:spcBef>
              <a:spcAft>
                <a:spcPts val="0"/>
              </a:spcAft>
              <a:buSzPts val="1600"/>
              <a:buChar char="●"/>
            </a:pPr>
            <a:r>
              <a:rPr lang="el"/>
              <a:t>Syntax:  int close(int fd);</a:t>
            </a:r>
            <a:endParaRPr/>
          </a:p>
          <a:p>
            <a:pPr indent="-330200" lvl="0" marL="457200" rtl="0" algn="l">
              <a:lnSpc>
                <a:spcPct val="115000"/>
              </a:lnSpc>
              <a:spcBef>
                <a:spcPts val="0"/>
              </a:spcBef>
              <a:spcAft>
                <a:spcPts val="0"/>
              </a:spcAft>
              <a:buSzPts val="1600"/>
              <a:buChar char="●"/>
            </a:pPr>
            <a:r>
              <a:rPr b="1" lang="el"/>
              <a:t>REMINDER: Sockets are files!</a:t>
            </a:r>
            <a:endParaRPr/>
          </a:p>
          <a:p>
            <a:pPr indent="-330200" lvl="0" marL="457200" rtl="0" algn="l">
              <a:lnSpc>
                <a:spcPct val="115000"/>
              </a:lnSpc>
              <a:spcBef>
                <a:spcPts val="0"/>
              </a:spcBef>
              <a:spcAft>
                <a:spcPts val="0"/>
              </a:spcAft>
              <a:buSzPts val="1600"/>
              <a:buChar char="●"/>
            </a:pPr>
            <a:r>
              <a:rPr lang="el"/>
              <a:t>close()  closes  a  file descriptor, so that it no longer refers to any file and may be reused.</a:t>
            </a:r>
            <a:endParaRPr/>
          </a:p>
          <a:p>
            <a:pPr indent="-330200" lvl="0" marL="457200" rtl="0" algn="l">
              <a:lnSpc>
                <a:spcPct val="115000"/>
              </a:lnSpc>
              <a:spcBef>
                <a:spcPts val="0"/>
              </a:spcBef>
              <a:spcAft>
                <a:spcPts val="0"/>
              </a:spcAft>
              <a:buSzPts val="1600"/>
              <a:buChar char="●"/>
            </a:pPr>
            <a:r>
              <a:rPr lang="el"/>
              <a:t>Any record locks (see fcntl(2))  held  on  the file it was associated with, and owned by the process, are removed (regardless of the file descriptor that was used to obtain the lock).</a:t>
            </a:r>
            <a:endParaRPr/>
          </a:p>
          <a:p>
            <a:pPr indent="-330200" lvl="0" marL="457200" rtl="0" algn="l">
              <a:lnSpc>
                <a:spcPct val="115000"/>
              </a:lnSpc>
              <a:spcBef>
                <a:spcPts val="0"/>
              </a:spcBef>
              <a:spcAft>
                <a:spcPts val="0"/>
              </a:spcAft>
              <a:buSzPts val="1600"/>
              <a:buChar char="●"/>
            </a:pPr>
            <a:r>
              <a:rPr lang="el"/>
              <a:t>Returns:</a:t>
            </a:r>
            <a:endParaRPr/>
          </a:p>
          <a:p>
            <a:pPr indent="-330200" lvl="1" marL="914400" rtl="0" algn="l">
              <a:lnSpc>
                <a:spcPct val="115000"/>
              </a:lnSpc>
              <a:spcBef>
                <a:spcPts val="0"/>
              </a:spcBef>
              <a:spcAft>
                <a:spcPts val="0"/>
              </a:spcAft>
              <a:buSzPts val="1600"/>
              <a:buChar char="○"/>
            </a:pPr>
            <a:r>
              <a:rPr lang="el"/>
              <a:t>zero on success.</a:t>
            </a:r>
            <a:endParaRPr/>
          </a:p>
          <a:p>
            <a:pPr indent="-330200" lvl="1" marL="914400" rtl="0" algn="l">
              <a:lnSpc>
                <a:spcPct val="115000"/>
              </a:lnSpc>
              <a:spcBef>
                <a:spcPts val="0"/>
              </a:spcBef>
              <a:spcAft>
                <a:spcPts val="0"/>
              </a:spcAft>
              <a:buSzPts val="1600"/>
              <a:buChar char="○"/>
            </a:pPr>
            <a:r>
              <a:rPr lang="el"/>
              <a:t>On error, -1 is returned, and errno is set appropriately.</a:t>
            </a:r>
            <a:endParaRPr/>
          </a:p>
        </p:txBody>
      </p:sp>
      <p:sp>
        <p:nvSpPr>
          <p:cNvPr id="368" name="Google Shape;368;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Fun Time!</a:t>
            </a:r>
            <a:endParaRPr/>
          </a:p>
        </p:txBody>
      </p:sp>
      <p:sp>
        <p:nvSpPr>
          <p:cNvPr id="374" name="Google Shape;374;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(Eventually) Your Turn: Circular Buffers</a:t>
            </a:r>
            <a:endParaRPr/>
          </a:p>
        </p:txBody>
      </p:sp>
      <p:sp>
        <p:nvSpPr>
          <p:cNvPr id="380" name="Google Shape;380;p38"/>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Implement a Circular Buffer as described here:</a:t>
            </a:r>
            <a:endParaRPr/>
          </a:p>
          <a:p>
            <a:pPr indent="0" lvl="0" marL="0" rtl="0" algn="ctr">
              <a:lnSpc>
                <a:spcPct val="115000"/>
              </a:lnSpc>
              <a:spcBef>
                <a:spcPts val="1200"/>
              </a:spcBef>
              <a:spcAft>
                <a:spcPts val="0"/>
              </a:spcAft>
              <a:buSzPts val="1600"/>
              <a:buNone/>
            </a:pPr>
            <a:r>
              <a:rPr lang="el" u="sng">
                <a:solidFill>
                  <a:schemeClr val="hlink"/>
                </a:solidFill>
                <a:hlinkClick r:id="rId3"/>
              </a:rPr>
              <a:t>https://en.wikipedia.org/wiki/Circular_buffer</a:t>
            </a:r>
            <a:endParaRPr/>
          </a:p>
          <a:p>
            <a:pPr indent="0" lvl="0" marL="0" rtl="0" algn="l">
              <a:lnSpc>
                <a:spcPct val="115000"/>
              </a:lnSpc>
              <a:spcBef>
                <a:spcPts val="1200"/>
              </a:spcBef>
              <a:spcAft>
                <a:spcPts val="0"/>
              </a:spcAft>
              <a:buSzPts val="1600"/>
              <a:buNone/>
            </a:pPr>
            <a:r>
              <a:rPr lang="el"/>
              <a:t>As a rough guideline, you can implement the following utilities:</a:t>
            </a:r>
            <a:endParaRPr/>
          </a:p>
          <a:p>
            <a:pPr indent="-330200" lvl="0" marL="457200" rtl="0" algn="l">
              <a:lnSpc>
                <a:spcPct val="115000"/>
              </a:lnSpc>
              <a:spcBef>
                <a:spcPts val="1200"/>
              </a:spcBef>
              <a:spcAft>
                <a:spcPts val="0"/>
              </a:spcAft>
              <a:buSzPts val="1600"/>
              <a:buChar char="●"/>
            </a:pPr>
            <a:r>
              <a:rPr lang="el"/>
              <a:t>A struct, Queue, that contains any required variables, counters, etc.</a:t>
            </a:r>
            <a:endParaRPr/>
          </a:p>
          <a:p>
            <a:pPr indent="-330200" lvl="0" marL="457200" rtl="0" algn="l">
              <a:lnSpc>
                <a:spcPct val="115000"/>
              </a:lnSpc>
              <a:spcBef>
                <a:spcPts val="0"/>
              </a:spcBef>
              <a:spcAft>
                <a:spcPts val="0"/>
              </a:spcAft>
              <a:buSzPts val="1600"/>
              <a:buChar char="●"/>
            </a:pPr>
            <a:r>
              <a:rPr lang="el"/>
              <a:t>Push and Pop utilities, which should also take care of overflow and underflow events.</a:t>
            </a:r>
            <a:endParaRPr/>
          </a:p>
          <a:p>
            <a:pPr indent="-330200" lvl="0" marL="457200" rtl="0" algn="l">
              <a:lnSpc>
                <a:spcPct val="115000"/>
              </a:lnSpc>
              <a:spcBef>
                <a:spcPts val="0"/>
              </a:spcBef>
              <a:spcAft>
                <a:spcPts val="0"/>
              </a:spcAft>
              <a:buSzPts val="1600"/>
              <a:buChar char="●"/>
            </a:pPr>
            <a:r>
              <a:rPr lang="el"/>
              <a:t>Empty and Full checking utilities.</a:t>
            </a:r>
            <a:endParaRPr/>
          </a:p>
          <a:p>
            <a:pPr indent="-330200" lvl="0" marL="457200" rtl="0" algn="l">
              <a:lnSpc>
                <a:spcPct val="115000"/>
              </a:lnSpc>
              <a:spcBef>
                <a:spcPts val="0"/>
              </a:spcBef>
              <a:spcAft>
                <a:spcPts val="0"/>
              </a:spcAft>
              <a:buSzPts val="1600"/>
              <a:buChar char="●"/>
            </a:pPr>
            <a:r>
              <a:rPr lang="el"/>
              <a:t>Anything else you might find relevant.</a:t>
            </a:r>
            <a:endParaRPr/>
          </a:p>
          <a:p>
            <a:pPr indent="0" lvl="0" marL="0" rtl="0" algn="l">
              <a:lnSpc>
                <a:spcPct val="115000"/>
              </a:lnSpc>
              <a:spcBef>
                <a:spcPts val="1200"/>
              </a:spcBef>
              <a:spcAft>
                <a:spcPts val="1200"/>
              </a:spcAft>
              <a:buSzPts val="1600"/>
              <a:buNone/>
            </a:pPr>
            <a:r>
              <a:rPr lang="el"/>
              <a:t>We will make use of such circular buffers to implement a solution to the Producer Consumer problem in the next exercise.</a:t>
            </a:r>
            <a:endParaRPr/>
          </a:p>
        </p:txBody>
      </p:sp>
      <p:sp>
        <p:nvSpPr>
          <p:cNvPr id="381" name="Google Shape;381;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Producers And Consumers</a:t>
            </a:r>
            <a:endParaRPr/>
          </a:p>
        </p:txBody>
      </p:sp>
      <p:sp>
        <p:nvSpPr>
          <p:cNvPr id="387" name="Google Shape;387;p3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Solve the producer—consumer problem discussed above using:</a:t>
            </a:r>
            <a:endParaRPr/>
          </a:p>
          <a:p>
            <a:pPr indent="-330200" lvl="0" marL="457200" rtl="0" algn="l">
              <a:lnSpc>
                <a:spcPct val="115000"/>
              </a:lnSpc>
              <a:spcBef>
                <a:spcPts val="1200"/>
              </a:spcBef>
              <a:spcAft>
                <a:spcPts val="0"/>
              </a:spcAft>
              <a:buSzPts val="1600"/>
              <a:buChar char="●"/>
            </a:pPr>
            <a:r>
              <a:rPr lang="el"/>
              <a:t>The circular buffer you implemented before, and;</a:t>
            </a:r>
            <a:endParaRPr/>
          </a:p>
          <a:p>
            <a:pPr indent="-330200" lvl="0" marL="457200" rtl="0" algn="l">
              <a:lnSpc>
                <a:spcPct val="115000"/>
              </a:lnSpc>
              <a:spcBef>
                <a:spcPts val="0"/>
              </a:spcBef>
              <a:spcAft>
                <a:spcPts val="0"/>
              </a:spcAft>
              <a:buSzPts val="1600"/>
              <a:buChar char="●"/>
            </a:pPr>
            <a:r>
              <a:rPr lang="el"/>
              <a:t>Semaphores.</a:t>
            </a:r>
            <a:endParaRPr/>
          </a:p>
          <a:p>
            <a:pPr indent="0" lvl="0" marL="0" rtl="0" algn="l">
              <a:lnSpc>
                <a:spcPct val="115000"/>
              </a:lnSpc>
              <a:spcBef>
                <a:spcPts val="1200"/>
              </a:spcBef>
              <a:spcAft>
                <a:spcPts val="0"/>
              </a:spcAft>
              <a:buSzPts val="1600"/>
              <a:buNone/>
            </a:pPr>
            <a:r>
              <a:rPr lang="el"/>
              <a:t>Consider the case of a single producer and a single consumer at first, and then generalise to:</a:t>
            </a:r>
            <a:endParaRPr/>
          </a:p>
          <a:p>
            <a:pPr indent="-330200" lvl="0" marL="457200" rtl="0" algn="l">
              <a:lnSpc>
                <a:spcPct val="115000"/>
              </a:lnSpc>
              <a:spcBef>
                <a:spcPts val="1200"/>
              </a:spcBef>
              <a:spcAft>
                <a:spcPts val="0"/>
              </a:spcAft>
              <a:buSzPts val="1600"/>
              <a:buChar char="●"/>
            </a:pPr>
            <a:r>
              <a:rPr lang="el"/>
              <a:t>a single producer and multiple consumers;</a:t>
            </a:r>
            <a:endParaRPr/>
          </a:p>
          <a:p>
            <a:pPr indent="-330200" lvl="0" marL="457200" rtl="0" algn="l">
              <a:lnSpc>
                <a:spcPct val="115000"/>
              </a:lnSpc>
              <a:spcBef>
                <a:spcPts val="0"/>
              </a:spcBef>
              <a:spcAft>
                <a:spcPts val="0"/>
              </a:spcAft>
              <a:buSzPts val="1600"/>
              <a:buChar char="●"/>
            </a:pPr>
            <a:r>
              <a:rPr lang="el"/>
              <a:t>multiple producers and multiple consumers.</a:t>
            </a:r>
            <a:endParaRPr/>
          </a:p>
        </p:txBody>
      </p:sp>
      <p:sp>
        <p:nvSpPr>
          <p:cNvPr id="388" name="Google Shape;388;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Much Like Your Assignment…</a:t>
            </a:r>
            <a:endParaRPr/>
          </a:p>
        </p:txBody>
      </p:sp>
      <p:sp>
        <p:nvSpPr>
          <p:cNvPr id="394" name="Google Shape;394;p40"/>
          <p:cNvSpPr txBox="1"/>
          <p:nvPr>
            <p:ph idx="1" type="body"/>
          </p:nvPr>
        </p:nvSpPr>
        <p:spPr>
          <a:xfrm>
            <a:off x="729450" y="1378000"/>
            <a:ext cx="7688700" cy="376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Create a simple C function named foo() that:</a:t>
            </a:r>
            <a:endParaRPr/>
          </a:p>
          <a:p>
            <a:pPr indent="-330200" lvl="0" marL="457200" rtl="0" algn="l">
              <a:lnSpc>
                <a:spcPct val="115000"/>
              </a:lnSpc>
              <a:spcBef>
                <a:spcPts val="1200"/>
              </a:spcBef>
              <a:spcAft>
                <a:spcPts val="0"/>
              </a:spcAft>
              <a:buSzPts val="1600"/>
              <a:buChar char="●"/>
            </a:pPr>
            <a:r>
              <a:rPr lang="el"/>
              <a:t>takes a string as an argument;</a:t>
            </a:r>
            <a:endParaRPr/>
          </a:p>
          <a:p>
            <a:pPr indent="-330200" lvl="0" marL="457200" rtl="0" algn="l">
              <a:lnSpc>
                <a:spcPct val="115000"/>
              </a:lnSpc>
              <a:spcBef>
                <a:spcPts val="0"/>
              </a:spcBef>
              <a:spcAft>
                <a:spcPts val="0"/>
              </a:spcAft>
              <a:buSzPts val="1600"/>
              <a:buChar char="●"/>
            </a:pPr>
            <a:r>
              <a:rPr lang="el"/>
              <a:t>randomly permutes its characters, stripping out any whitespace, and;</a:t>
            </a:r>
            <a:endParaRPr/>
          </a:p>
          <a:p>
            <a:pPr indent="-330200" lvl="0" marL="457200" rtl="0" algn="l">
              <a:lnSpc>
                <a:spcPct val="115000"/>
              </a:lnSpc>
              <a:spcBef>
                <a:spcPts val="0"/>
              </a:spcBef>
              <a:spcAft>
                <a:spcPts val="0"/>
              </a:spcAft>
              <a:buSzPts val="1600"/>
              <a:buChar char="●"/>
            </a:pPr>
            <a:r>
              <a:rPr lang="el"/>
              <a:t>returns the mutated version of the string.</a:t>
            </a:r>
            <a:endParaRPr/>
          </a:p>
          <a:p>
            <a:pPr indent="0" lvl="0" marL="0" rtl="0" algn="l">
              <a:lnSpc>
                <a:spcPct val="115000"/>
              </a:lnSpc>
              <a:spcBef>
                <a:spcPts val="1200"/>
              </a:spcBef>
              <a:spcAft>
                <a:spcPts val="0"/>
              </a:spcAft>
              <a:buSzPts val="1600"/>
              <a:buNone/>
            </a:pPr>
            <a:r>
              <a:rPr lang="el"/>
              <a:t>Using this as a mock “service” implement IPC between a parent process which shares a user provided string and a child process which mutates that string using foo() and returns the mutated version to the parent process. You should implement this in the following three different ways:</a:t>
            </a:r>
            <a:endParaRPr/>
          </a:p>
          <a:p>
            <a:pPr indent="-330200" lvl="0" marL="457200" rtl="0" algn="l">
              <a:lnSpc>
                <a:spcPct val="115000"/>
              </a:lnSpc>
              <a:spcBef>
                <a:spcPts val="1200"/>
              </a:spcBef>
              <a:spcAft>
                <a:spcPts val="0"/>
              </a:spcAft>
              <a:buSzPts val="1600"/>
              <a:buChar char="●"/>
            </a:pPr>
            <a:r>
              <a:rPr lang="el"/>
              <a:t>Using pipes.</a:t>
            </a:r>
            <a:endParaRPr/>
          </a:p>
          <a:p>
            <a:pPr indent="-330200" lvl="0" marL="457200" rtl="0" algn="l">
              <a:lnSpc>
                <a:spcPct val="115000"/>
              </a:lnSpc>
              <a:spcBef>
                <a:spcPts val="0"/>
              </a:spcBef>
              <a:spcAft>
                <a:spcPts val="0"/>
              </a:spcAft>
              <a:buSzPts val="1600"/>
              <a:buChar char="●"/>
            </a:pPr>
            <a:r>
              <a:rPr lang="el"/>
              <a:t>Using shared memory </a:t>
            </a:r>
            <a:r>
              <a:rPr b="1" lang="el"/>
              <a:t>+ semaphores</a:t>
            </a:r>
            <a:r>
              <a:rPr lang="el"/>
              <a:t>.</a:t>
            </a:r>
            <a:endParaRPr/>
          </a:p>
          <a:p>
            <a:pPr indent="-330200" lvl="0" marL="457200" rtl="0" algn="l">
              <a:lnSpc>
                <a:spcPct val="115000"/>
              </a:lnSpc>
              <a:spcBef>
                <a:spcPts val="0"/>
              </a:spcBef>
              <a:spcAft>
                <a:spcPts val="0"/>
              </a:spcAft>
              <a:buSzPts val="1600"/>
              <a:buChar char="●"/>
            </a:pPr>
            <a:r>
              <a:rPr lang="el"/>
              <a:t>Using message queues.</a:t>
            </a:r>
            <a:endParaRPr/>
          </a:p>
        </p:txBody>
      </p:sp>
      <p:sp>
        <p:nvSpPr>
          <p:cNvPr id="395" name="Google Shape;395;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Nasal Demons</a:t>
            </a:r>
            <a:endParaRPr/>
          </a:p>
        </p:txBody>
      </p:sp>
      <p:sp>
        <p:nvSpPr>
          <p:cNvPr id="401" name="Google Shape;401;p41"/>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It is a well known fact that the C compiler can do a lot of stuff at its own will and discretion. One of the most popular capabilities of the C compiler is that of </a:t>
            </a:r>
            <a:r>
              <a:rPr b="1" lang="el"/>
              <a:t>making demons fly out of your nose. </a:t>
            </a:r>
            <a:r>
              <a:rPr lang="el"/>
              <a:t>Your mission for this exercise is to:</a:t>
            </a:r>
            <a:endParaRPr/>
          </a:p>
          <a:p>
            <a:pPr indent="-330200" lvl="0" marL="457200" rtl="0" algn="l">
              <a:lnSpc>
                <a:spcPct val="115000"/>
              </a:lnSpc>
              <a:spcBef>
                <a:spcPts val="1200"/>
              </a:spcBef>
              <a:spcAft>
                <a:spcPts val="0"/>
              </a:spcAft>
              <a:buSzPts val="1600"/>
              <a:buChar char="●"/>
            </a:pPr>
            <a:r>
              <a:rPr lang="el"/>
              <a:t>Find out what is the relationship between nasal demons and the C compiler and summarise your findings.</a:t>
            </a:r>
            <a:endParaRPr/>
          </a:p>
          <a:p>
            <a:pPr indent="-330200" lvl="0" marL="457200" rtl="0" algn="l">
              <a:lnSpc>
                <a:spcPct val="115000"/>
              </a:lnSpc>
              <a:spcBef>
                <a:spcPts val="0"/>
              </a:spcBef>
              <a:spcAft>
                <a:spcPts val="0"/>
              </a:spcAft>
              <a:buSzPts val="1600"/>
              <a:buChar char="●"/>
            </a:pPr>
            <a:r>
              <a:rPr lang="el"/>
              <a:t>Try to reproduce this behaviour — in the context of its original first appearance in this world, do not try to manipulate demons through your nose in any realistic manner!</a:t>
            </a:r>
            <a:endParaRPr/>
          </a:p>
        </p:txBody>
      </p:sp>
      <p:sp>
        <p:nvSpPr>
          <p:cNvPr id="402" name="Google Shape;402;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2"/>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l"/>
              <a:t>Any Questions?</a:t>
            </a:r>
            <a:endParaRPr/>
          </a:p>
        </p:txBody>
      </p:sp>
      <p:sp>
        <p:nvSpPr>
          <p:cNvPr id="408" name="Google Shape;408;p42"/>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Don’t forget to fill-in the questionnaire (check right)</a:t>
            </a:r>
            <a:endParaRPr/>
          </a:p>
        </p:txBody>
      </p:sp>
      <p:sp>
        <p:nvSpPr>
          <p:cNvPr id="409" name="Google Shape;409;p42"/>
          <p:cNvSpPr txBox="1"/>
          <p:nvPr>
            <p:ph idx="2" type="body"/>
          </p:nvPr>
        </p:nvSpPr>
        <p:spPr>
          <a:xfrm>
            <a:off x="4672750" y="4080150"/>
            <a:ext cx="4382100" cy="4542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300"/>
              <a:buNone/>
            </a:pPr>
            <a:r>
              <a:rPr lang="el" sz="1600" u="sng">
                <a:solidFill>
                  <a:schemeClr val="hlink"/>
                </a:solidFill>
                <a:latin typeface="Consolas"/>
                <a:ea typeface="Consolas"/>
                <a:cs typeface="Consolas"/>
                <a:sym typeface="Consolas"/>
                <a:hlinkClick r:id="rId3"/>
              </a:rPr>
              <a:t>https://forms.gle/aj7pYsK1ksufD6xYA</a:t>
            </a:r>
            <a:endParaRPr sz="1600">
              <a:latin typeface="Consolas"/>
              <a:ea typeface="Consolas"/>
              <a:cs typeface="Consolas"/>
              <a:sym typeface="Consolas"/>
            </a:endParaRPr>
          </a:p>
        </p:txBody>
      </p:sp>
      <p:pic>
        <p:nvPicPr>
          <p:cNvPr id="410" name="Google Shape;410;p42">
            <a:hlinkClick r:id="rId4"/>
          </p:cNvPr>
          <p:cNvPicPr preferRelativeResize="0"/>
          <p:nvPr/>
        </p:nvPicPr>
        <p:blipFill rotWithShape="1">
          <a:blip r:embed="rId5">
            <a:alphaModFix/>
          </a:blip>
          <a:srcRect b="0" l="0" r="0" t="0"/>
          <a:stretch/>
        </p:blipFill>
        <p:spPr>
          <a:xfrm>
            <a:off x="5435050" y="1063025"/>
            <a:ext cx="2857500" cy="2857500"/>
          </a:xfrm>
          <a:prstGeom prst="rect">
            <a:avLst/>
          </a:prstGeom>
          <a:noFill/>
          <a:ln>
            <a:noFill/>
          </a:ln>
        </p:spPr>
      </p:pic>
      <p:sp>
        <p:nvSpPr>
          <p:cNvPr id="411" name="Google Shape;411;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412" name="Google Shape;412;p42"/>
          <p:cNvSpPr txBox="1"/>
          <p:nvPr>
            <p:ph idx="1" type="subTitle"/>
          </p:nvPr>
        </p:nvSpPr>
        <p:spPr>
          <a:xfrm>
            <a:off x="768575" y="2112275"/>
            <a:ext cx="3300900" cy="8937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1600"/>
              <a:buNone/>
            </a:pPr>
            <a:r>
              <a:rPr lang="el" sz="1300"/>
              <a:t>Office Hours:</a:t>
            </a:r>
            <a:endParaRPr sz="1300"/>
          </a:p>
          <a:p>
            <a:pPr indent="0" lvl="0" marL="0" rtl="0" algn="l">
              <a:lnSpc>
                <a:spcPct val="90000"/>
              </a:lnSpc>
              <a:spcBef>
                <a:spcPts val="0"/>
              </a:spcBef>
              <a:spcAft>
                <a:spcPts val="0"/>
              </a:spcAft>
              <a:buSzPts val="1600"/>
              <a:buNone/>
            </a:pPr>
            <a:r>
              <a:rPr lang="el" sz="1300"/>
              <a:t>Glydafa: Tuesday, 09:00–10:00, PC Lab</a:t>
            </a:r>
            <a:br>
              <a:rPr lang="el" sz="1300"/>
            </a:br>
            <a:r>
              <a:rPr lang="el" sz="1300"/>
              <a:t>Pellinis: Wednesday, 15:00–17:00, 203</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