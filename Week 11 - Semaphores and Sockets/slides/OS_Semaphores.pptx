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Lat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gFIJeeLY5dWn+UYMvaTJwLRoKn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italic.fntdata"/><Relationship Id="rId50" Type="http://schemas.openxmlformats.org/officeDocument/2006/relationships/font" Target="fonts/Raleway-bold.fntdata"/><Relationship Id="rId53" Type="http://schemas.openxmlformats.org/officeDocument/2006/relationships/font" Target="fonts/Lato-regular.fntdata"/><Relationship Id="rId52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55" Type="http://schemas.openxmlformats.org/officeDocument/2006/relationships/font" Target="fonts/Lato-italic.fntdata"/><Relationship Id="rId10" Type="http://schemas.openxmlformats.org/officeDocument/2006/relationships/slide" Target="slides/slide5.xml"/><Relationship Id="rId54" Type="http://schemas.openxmlformats.org/officeDocument/2006/relationships/font" Target="fonts/Lato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4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45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45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45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0">
          <p15:clr>
            <a:srgbClr val="E46962"/>
          </p15:clr>
        </p15:guide>
        <p15:guide id="2" pos="530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4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4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Heads up!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4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4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4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4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4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p4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relevant for the assessment of the module!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5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p5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Quick Revision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5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5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5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5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2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3" name="Google Shape;73;p52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6" name="Google Shape;76;p5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5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0" name="Google Shape;80;p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53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5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5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54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54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3" name="Google Shape;93;p5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5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96" name="Google Shape;96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5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6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5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57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44"/>
          <p:cNvSpPr txBox="1"/>
          <p:nvPr>
            <p:ph idx="2" type="title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b="0" i="0" sz="1000" u="none" cap="none" strike="noStrike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n.wikipedia.org/wiki/Circular_buffer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en.wikipedia.org/wiki/Circular_buffe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forms.gle/aj7pYsK1ksufD6xYA" TargetMode="External"/><Relationship Id="rId4" Type="http://schemas.openxmlformats.org/officeDocument/2006/relationships/hyperlink" Target="https://forms.gle/aj7pYsK1ksufD6xYA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l"/>
              <a:t>Operating Systems</a:t>
            </a:r>
            <a:br>
              <a:rPr lang="el"/>
            </a:br>
            <a:r>
              <a:rPr b="0" lang="el" sz="1600">
                <a:solidFill>
                  <a:schemeClr val="accent1"/>
                </a:solidFill>
              </a:rPr>
              <a:t>IPC: Inter-processes Communication</a:t>
            </a:r>
            <a:endParaRPr b="0" sz="1600">
              <a:solidFill>
                <a:schemeClr val="accent1"/>
              </a:solidFill>
            </a:endParaRPr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Vassilis Markos,</a:t>
            </a:r>
            <a:br>
              <a:rPr lang="el"/>
            </a:br>
            <a:r>
              <a:rPr lang="el"/>
              <a:t>Mediterranean College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/>
              <a:t>Week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The Bakery Algorithm</a:t>
            </a:r>
            <a:endParaRPr/>
          </a:p>
        </p:txBody>
      </p:sp>
      <p:sp>
        <p:nvSpPr>
          <p:cNvPr id="125" name="Google Shape;125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About Bakeries?</a:t>
            </a:r>
            <a:endParaRPr/>
          </a:p>
        </p:txBody>
      </p:sp>
      <p:sp>
        <p:nvSpPr>
          <p:cNvPr id="131" name="Google Shape;131;p3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Imagine a bakery with multiple customers. Each customer wants to place an order at the counter (to get Christmas treats, let’s say)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avoid chaos and ensure fairness, what should the bakery do?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simple yet efficient idea: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Each customer takes a number ticket from a dispenser. The number is unique and larger than any number currently held by other customers.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Customers wait in line, comparing their ticket numbers with others.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customer with the smallest number approaches the counter and places their order.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After placing the order, the customer leaves the counter, allowing the next customer with the smallest number to approach.</a:t>
            </a:r>
            <a:endParaRPr/>
          </a:p>
        </p:txBody>
      </p:sp>
      <p:sp>
        <p:nvSpPr>
          <p:cNvPr id="132" name="Google Shape;13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Bakery Algorithm In Pseudocode</a:t>
            </a:r>
            <a:endParaRPr/>
          </a:p>
        </p:txBody>
      </p:sp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int number[N]; // Number chosen by each process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boolean choosing[N]; // Indicates if a process is choosing a number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while (true):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// Choosing a number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choosing[P] = true;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number[P] = max(number[0], number[1], ..., number[N-1]) + 1;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choosing[P] = false;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// Waiting for other processes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for (int q = 0; q &lt; N; q++):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    while (choosing[q]):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        // Busy wait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    while (number[q] != 0 &amp;&amp; (number[q] &lt; number[P] || (number[q] == number[P] &amp;&amp; q &lt; P))) {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        // Busy wait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// Critical Section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// Exiting the critical section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    number[P]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Bakeries And C</a:t>
            </a:r>
            <a:endParaRPr/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Can you implement this using C?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Take some time to do so!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Hints: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 a loop to fork many child processes at once.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 different shared memory keys for each shared variable (the counter, the ‘choosing’ array, etc)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Execute it a couple of times.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Does it work as expected?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else are we missing for an actual production ready implementation?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Exception handling!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Things might go wrong in ways we can predict or at least expect, so we should make sure we capture those cases and handle them appropriately.</a:t>
            </a:r>
            <a:endParaRPr/>
          </a:p>
        </p:txBody>
      </p:sp>
      <p:sp>
        <p:nvSpPr>
          <p:cNvPr id="146" name="Google Shape;14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Threads</a:t>
            </a:r>
            <a:endParaRPr/>
          </a:p>
        </p:txBody>
      </p:sp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Threads</a:t>
            </a:r>
            <a:endParaRPr/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we create a process, the operating system creates a new address space, which includes: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text segment,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static segment,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and heap;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also creates a new “thread of execution”, which includes: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program counter,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other hardware state, and,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call stack.</a:t>
            </a:r>
            <a:endParaRPr/>
          </a:p>
        </p:txBody>
      </p:sp>
      <p:sp>
        <p:nvSpPr>
          <p:cNvPr id="159" name="Google Shape;1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Threads</a:t>
            </a:r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processes we have seen so far are “single-threaded”, which means that only one thread of execution runs in each address space.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Within a single process, all threads share the same text segment, so they run the same code. But different threads often run different parts of the code.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also share the same static segment, so if one thread changes a global variable, other threads see the change.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also share the heap, so threads can share dynamically-allocated chunks.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</a:t>
            </a:r>
            <a:r>
              <a:rPr b="1" lang="el"/>
              <a:t> each thread has its own stack</a:t>
            </a:r>
            <a:r>
              <a:rPr lang="el"/>
              <a:t>, so threads can call functions without interfering with each other.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Usually threads don’t access each other’s local variables (and sometimes they can’t).</a:t>
            </a:r>
            <a:endParaRPr/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POSIX Threads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most popular threading standard used with C is POSIX Threads, or Pthreads for short.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POSIX standard defines a thread model and an interface for creating and controlling threads.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Most versions of UNIX provide an implementation of Pthreads.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include, just include: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#include &lt;pthread.h&gt;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compile using lpthreads run: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gcc -o foo foo.c -lpthread</a:t>
            </a:r>
            <a:endParaRPr/>
          </a:p>
        </p:txBody>
      </p:sp>
      <p:sp>
        <p:nvSpPr>
          <p:cNvPr id="173" name="Google Shape;17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Should This Print?</a:t>
            </a:r>
            <a:endParaRPr/>
          </a:p>
        </p:txBody>
      </p:sp>
      <p:sp>
        <p:nvSpPr>
          <p:cNvPr id="179" name="Google Shape;179;p10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source/threads_001.c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my_thread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 from thread!</a:t>
            </a:r>
            <a:r>
              <a:rPr lang="el" sz="10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my_thread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 from main thread!</a:t>
            </a:r>
            <a:r>
              <a:rPr lang="el" sz="10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80" name="Google Shape;18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pthread_create()</a:t>
            </a:r>
            <a:endParaRPr/>
          </a:p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&lt;pthread.h&gt;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pthread_create(pthread_t *thread, const pthread_attr_t *attr, void *(*start_routine) (void *), void *arg);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Compile and link with -pthread.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 pthread_create()  function  starts  a  new  thread  in the calling process.  The new thread starts execution by invoking  start_routine(); arg is passed as the sole argument of start_routine().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Reminder (*foo) is a function pointer, i.e., a pointer to a function.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So, we actually pass a pointer to something that is callable (much like in really high level languages, like Python)</a:t>
            </a:r>
            <a:endParaRPr/>
          </a:p>
        </p:txBody>
      </p:sp>
      <p:sp>
        <p:nvSpPr>
          <p:cNvPr id="187" name="Google Shape;18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Function Pointers</a:t>
            </a:r>
            <a:endParaRPr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this function: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int foo(int x, int y) { return x + y;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can declare a function pointer to a function that gets two integers and returns an integer as follows: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int (*fnPtr) (int, int);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we can now write things like: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fnPtr = &amp;foo;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int z = fnPtr(5, 6);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printf(“%d”, z);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pthread_create()</a:t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The new thread terminates in one of the following ways: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 calls  pthread_exit(3),  specifying  an exit status value that is available  to  another thread in the same process that calls pthread_join(3).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 returns  from  start_routine().   This  is  equivalent to calling pthread_exit(3) with the value supplied in the return statement.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is canceled (see pthread_cancel(3)).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Any of the threads in the process calls exit(3), or the  main  thread performs  a  return  from main().  This causes the termination of all threads in the process.</a:t>
            </a:r>
            <a:endParaRPr/>
          </a:p>
        </p:txBody>
      </p:sp>
      <p:sp>
        <p:nvSpPr>
          <p:cNvPr id="201" name="Google Shape;201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pthread_create()</a:t>
            </a:r>
            <a:endParaRPr/>
          </a:p>
        </p:txBody>
      </p:sp>
      <p:sp>
        <p:nvSpPr>
          <p:cNvPr id="207" name="Google Shape;207;p1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attr argument points to a pthread_attr_t structure  whose  contents are  used  at  thread creation time to determine attributes for the new thread; this structure is initialized  using  pthread_attr_init(3) and related  functions.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 attr is NULL, then the thread is created with default attributes.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Before returning, a successful call to pthread_create() stores  the  ID of  the  new thread in the buffer pointed to by </a:t>
            </a:r>
            <a:r>
              <a:rPr b="1" lang="el"/>
              <a:t>thread</a:t>
            </a:r>
            <a:r>
              <a:rPr lang="el"/>
              <a:t>; this identifier is used to refer to the thread in subsequent calls to other pthreads functions.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new thread inherits the calling thread's floating-point environment (fenv(3)).</a:t>
            </a:r>
            <a:endParaRPr/>
          </a:p>
        </p:txBody>
      </p:sp>
      <p:sp>
        <p:nvSpPr>
          <p:cNvPr id="208" name="Google Shape;208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pthread_create()</a:t>
            </a:r>
            <a:endParaRPr/>
          </a:p>
        </p:txBody>
      </p:sp>
      <p:sp>
        <p:nvSpPr>
          <p:cNvPr id="214" name="Google Shape;214;p15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 success, pthread_create() returns 0; on error, it returns an error number, and the contents of *thread are undefined.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Common 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EAGAIN:</a:t>
            </a:r>
            <a:r>
              <a:rPr lang="el"/>
              <a:t> Insufficient resources to create another thread.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Invalid settings in attr.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EPERM:</a:t>
            </a:r>
            <a:r>
              <a:rPr lang="el"/>
              <a:t> No permission to set the scheduling policy and parameters specified in attr.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known bug: In  the  obsolete LinuxThreads implementation, each of the threads in a process has a different process ID. This is in violation of the POSIX threads specification, and is the source of many other non–conformances to the standard; see pthreads(7).</a:t>
            </a:r>
            <a:endParaRPr/>
          </a:p>
        </p:txBody>
      </p:sp>
      <p:sp>
        <p:nvSpPr>
          <p:cNvPr id="215" name="Google Shape;215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pthread_join()</a:t>
            </a:r>
            <a:endParaRPr/>
          </a:p>
        </p:txBody>
      </p:sp>
      <p:sp>
        <p:nvSpPr>
          <p:cNvPr id="221" name="Google Shape;221;p1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&lt;pthread.h&gt;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pthread_join(pthread_t thread, void **retval);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Compile and link with -pthread.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pthread_join() function waits for the thread specified by thread to terminate.  If that thread has already terminated, then  pthread_join() returns immediately.  The thread specified by thread must be joinable.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 multiple  threads  simultaneously try to join with the same thread, the results are undefined.  If the  thread  calling  pthread_join()  is canceled,  then  the  target thread will remain joinable (i.e., it will not be detached).</a:t>
            </a:r>
            <a:endParaRPr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pthread_join()</a:t>
            </a:r>
            <a:endParaRPr/>
          </a:p>
        </p:txBody>
      </p:sp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 retval  is  not NULL, then pthread_join() copies the exit status of the target thread (i.e., the value that the target thread  supplied  to pthread_exit(3)) into the location pointed to by retval.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the target thread was canceled, then PTHREAD_CANCELED is placed in the location pointed to by retval.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 success, pthread_join() returns 0; on error, it returns an error number.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Possible 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EDEADLK:</a:t>
            </a:r>
            <a:r>
              <a:rPr lang="el"/>
              <a:t> A  deadlock  was  detected (e.g., two threads tried to join with each other); or thread specifies the calling thread.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thread is not a joinable thread.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Another thread is already waiting to join with this thread.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ESRCH:</a:t>
            </a:r>
            <a:r>
              <a:rPr lang="el"/>
              <a:t> No thread with the ID thread could be found.</a:t>
            </a:r>
            <a:endParaRPr/>
          </a:p>
        </p:txBody>
      </p:sp>
      <p:sp>
        <p:nvSpPr>
          <p:cNvPr id="229" name="Google Shape;229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Synchronisation (Again)</a:t>
            </a:r>
            <a:endParaRPr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 we have already seen for processes, multiple threads might access a shared resource (e.g., a shared counter) before other threads write it.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leads to the same (or similar) synchronisation problems as those we have seen so far.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All comments we have made on processes and how to handle shared memory stay the same in this case.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also applies to all algorithms we have seen so far and their efficiency in solving this problem.</a:t>
            </a:r>
            <a:endParaRPr/>
          </a:p>
        </p:txBody>
      </p:sp>
      <p:sp>
        <p:nvSpPr>
          <p:cNvPr id="236" name="Google Shape;23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Producers, Consumers, And C</a:t>
            </a:r>
            <a:endParaRPr/>
          </a:p>
        </p:txBody>
      </p:sp>
      <p:sp>
        <p:nvSpPr>
          <p:cNvPr id="242" name="Google Shape;242;p19"/>
          <p:cNvSpPr txBox="1"/>
          <p:nvPr>
            <p:ph idx="1" type="body"/>
          </p:nvPr>
        </p:nvSpPr>
        <p:spPr>
          <a:xfrm>
            <a:off x="729450" y="1378000"/>
            <a:ext cx="7688700" cy="3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some multi-threaded programs, threads are organized to perform different tasks.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Often they communicate with each other using a queue, where some threads, called “producers”, put data into the queue and other threads, called “consumers”, take data out.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Example: Imagine of any application offering a GUI: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there might be one thread that runs the GUI, responding to user events, and;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 another thread that processes user requests.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In that case, the GUI thread might put requests into a queue and the “back end” thread might take requests out and process them.</a:t>
            </a:r>
            <a:endParaRPr/>
          </a:p>
        </p:txBody>
      </p:sp>
      <p:sp>
        <p:nvSpPr>
          <p:cNvPr id="243" name="Google Shape;24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Thread Safety</a:t>
            </a:r>
            <a:endParaRPr/>
          </a:p>
        </p:txBody>
      </p:sp>
      <p:sp>
        <p:nvSpPr>
          <p:cNvPr id="249" name="Google Shape;249;p2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support this organization, we need a queue implementation that is “thread safe”, which means that both threads (or more than two) can access the queue at the same time.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And we need to handle the special cases when the queue is empty and, if the size of the queue is bounded, when the queue is full, etc.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One typical way to implement this is by using a Circular Buffer, i.e., a Queue implemented on the basis of a circular array.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Further reading on that: </a:t>
            </a:r>
            <a:r>
              <a:rPr lang="el" u="sng">
                <a:solidFill>
                  <a:schemeClr val="hlink"/>
                </a:solidFill>
                <a:hlinkClick r:id="rId3"/>
              </a:rPr>
              <a:t>https://en.wikipedia.org/wiki/Circular_buffer</a:t>
            </a:r>
            <a:r>
              <a:rPr lang="el"/>
              <a:t> </a:t>
            </a:r>
            <a:endParaRPr/>
          </a:p>
        </p:txBody>
      </p:sp>
      <p:sp>
        <p:nvSpPr>
          <p:cNvPr id="250" name="Google Shape;250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Your Turn: Circular Buffers</a:t>
            </a:r>
            <a:endParaRPr/>
          </a:p>
        </p:txBody>
      </p:sp>
      <p:sp>
        <p:nvSpPr>
          <p:cNvPr id="256" name="Google Shape;256;p21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Implement a Circular Buffer as described here: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u="sng">
                <a:solidFill>
                  <a:schemeClr val="hlink"/>
                </a:solidFill>
                <a:hlinkClick r:id="rId3"/>
              </a:rPr>
              <a:t>https://en.wikipedia.org/wiki/Circular_buffer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As a rough guideline, you can implement the following utilities: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struct, Queue, that contains any required variables, counters, etc.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Push and Pop utilities, which should also take care of overflow and underflow events.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Empty and Full checking utilities.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Anything else you might find relevant.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We will make use of such circular buffers to implement a solution to the Producer Consumer problem in a few slides…</a:t>
            </a:r>
            <a:endParaRPr/>
          </a:p>
        </p:txBody>
      </p:sp>
      <p:sp>
        <p:nvSpPr>
          <p:cNvPr id="257" name="Google Shape;257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Semaphores</a:t>
            </a:r>
            <a:endParaRPr/>
          </a:p>
        </p:txBody>
      </p:sp>
      <p:sp>
        <p:nvSpPr>
          <p:cNvPr id="263" name="Google Shape;263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Traffic Lights</a:t>
            </a:r>
            <a:endParaRPr/>
          </a:p>
        </p:txBody>
      </p:sp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729450" y="1378000"/>
            <a:ext cx="76887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is the purpose of traffic lights?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To signify when / whether one should access a certain part of a road.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Quite useful in crossroads…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Also, typically one should respect them, otherwise accidents might happen.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from a more Systems Programming perspective, traffic lights: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handle access to a shared resource (the shared part of the crossroad)...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… by properly adjusting access, prioritising a certain line of traffic over the other…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as you have already observed, having traffic lights in our last two weeks’ examples would be more than welcome, right?</a:t>
            </a:r>
            <a:endParaRPr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Semaphores</a:t>
            </a:r>
            <a:endParaRPr/>
          </a:p>
        </p:txBody>
      </p:sp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Semaphores are exactly that!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Technically, they are counters (yet, not integers) that help us keep track of who should and who should not access a shared resource.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Invented by E. W. Dijkstra (a guy you might already know from graph theory).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Semaphores are offered by the OS kernel, so they are implemented at a low level, typically lower than all the solutions we have tried so far.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also means that they take care of stuff we should typically use inline assembly in C to handle ourselves.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instance, memory barriers.</a:t>
            </a:r>
            <a:endParaRPr/>
          </a:p>
        </p:txBody>
      </p:sp>
      <p:sp>
        <p:nvSpPr>
          <p:cNvPr id="277" name="Google Shape;27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Semaphore Operations</a:t>
            </a:r>
            <a:endParaRPr/>
          </a:p>
        </p:txBody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Each semaphore can perform one of the following two operations: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 → wait for / acquire / lock a resource (roughly);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V → signal / release / unlock a resource (roughy).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contrast to what we are used so far, P and V are guaranteed by the kernel to be atomic.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I.e., it is not our job to worry about this; the ones implementing the OS kernel have to make P and V atomic!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can think of a semaphore as a counter: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When the counter becomes 0, the semaphore blocks access.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When it is greater than 0, the semaphore ends the block.</a:t>
            </a:r>
            <a:endParaRPr/>
          </a:p>
        </p:txBody>
      </p:sp>
      <p:sp>
        <p:nvSpPr>
          <p:cNvPr id="284" name="Google Shape;28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 And V</a:t>
            </a:r>
            <a:endParaRPr/>
          </a:p>
        </p:txBody>
      </p:sp>
      <p:sp>
        <p:nvSpPr>
          <p:cNvPr id="290" name="Google Shape;290;p26"/>
          <p:cNvSpPr txBox="1"/>
          <p:nvPr>
            <p:ph idx="1" type="body"/>
          </p:nvPr>
        </p:nvSpPr>
        <p:spPr>
          <a:xfrm>
            <a:off x="729450" y="1378000"/>
            <a:ext cx="38424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In pseudocode: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// P operation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if (semaphore == 0)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   block;   // The block ends as soon as 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//semaphore becomes greater than 0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if (semaphore &gt; 0) 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   semaphore--;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4693900" y="1378000"/>
            <a:ext cx="38424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In pseudocode: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// V operation</a:t>
            </a:r>
            <a:br>
              <a:rPr lang="el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l" sz="1300">
                <a:latin typeface="Consolas"/>
                <a:ea typeface="Consolas"/>
                <a:cs typeface="Consolas"/>
                <a:sym typeface="Consolas"/>
              </a:rPr>
              <a:t>semaphore++;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 And V </a:t>
            </a:r>
            <a:endParaRPr/>
          </a:p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Imagine a semaphore as a gate with a limited number of tokens. A process must acquire a token (perform a P operation) to pass through the gate. Once it's done, it releases the token (performs a V operation), allowing another process to proceed.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the case of a binary semaphore (possible values of 0 and 1), we have what we often refer to as a </a:t>
            </a:r>
            <a:r>
              <a:rPr b="1" lang="el"/>
              <a:t>mutex</a:t>
            </a:r>
            <a:r>
              <a:rPr lang="el"/>
              <a:t>. (&lt; mutual exclusion).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1(&gt;0) means that process claims the resource for its own and V that the resource is freed for other processes to have fun.</a:t>
            </a:r>
            <a:endParaRPr/>
          </a:p>
        </p:txBody>
      </p:sp>
      <p:sp>
        <p:nvSpPr>
          <p:cNvPr id="299" name="Google Shape;299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More P And V</a:t>
            </a:r>
            <a:endParaRPr/>
          </a:p>
        </p:txBody>
      </p: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729450" y="1378000"/>
            <a:ext cx="3842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// Process 1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P (sem); // Claim the resource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// Critical Section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V (sem); // Release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07" name="Google Shape;307;p28"/>
          <p:cNvSpPr txBox="1"/>
          <p:nvPr>
            <p:ph idx="1" type="body"/>
          </p:nvPr>
        </p:nvSpPr>
        <p:spPr>
          <a:xfrm>
            <a:off x="4572000" y="1378000"/>
            <a:ext cx="3842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// Process 2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P (sem); // Claim the resource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// Critical Section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V (sem); // Release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Under The Hood</a:t>
            </a:r>
            <a:endParaRPr/>
          </a:p>
        </p:txBody>
      </p:sp>
      <p:sp>
        <p:nvSpPr>
          <p:cNvPr id="313" name="Google Shape;313;p29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Assuming the Process 1 executes P first (semaphore == 1 initially):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Process 1 blocks execution for other processes until it exits its critical section.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is done by reducing semaphore to 0, which leads P to block for Process 2.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Once Process 1 is done, it executes V, which increments the semaphore by 1, so semaphore == 1.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Process 2 will execute P which leads to a block for other processes, and things run smoothly.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Can you craft an example for 3 or more processes?</a:t>
            </a:r>
            <a:endParaRPr/>
          </a:p>
        </p:txBody>
      </p:sp>
      <p:sp>
        <p:nvSpPr>
          <p:cNvPr id="314" name="Google Shape;314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 Simple Example </a:t>
            </a:r>
            <a:endParaRPr/>
          </a:p>
        </p:txBody>
      </p:sp>
      <p:sp>
        <p:nvSpPr>
          <p:cNvPr id="320" name="Google Shape;320;p30"/>
          <p:cNvSpPr txBox="1"/>
          <p:nvPr>
            <p:ph idx="1" type="body"/>
          </p:nvPr>
        </p:nvSpPr>
        <p:spPr>
          <a:xfrm>
            <a:off x="729450" y="1378000"/>
            <a:ext cx="3842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&lt;semaphore.h&gt;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1000000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sem_wait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sem_post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21" name="Google Shape;321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22" name="Google Shape;322;p30"/>
          <p:cNvSpPr txBox="1"/>
          <p:nvPr>
            <p:ph idx="1" type="body"/>
          </p:nvPr>
        </p:nvSpPr>
        <p:spPr>
          <a:xfrm>
            <a:off x="4740375" y="1378000"/>
            <a:ext cx="3842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thread2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sem_init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// Initialize the semaphore to 1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thread2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thread2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"Final counter value: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el" sz="10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shared_counter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sem_destroy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sem_init()</a:t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&lt;semaphore.h&gt;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sem_init(sem_t *sem, int pshared, unsigned int value);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Link with -pthread.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sem_init()  initializes the unnamed semaphore at the address pointed to by sem.  The value argument specifies the initial value for  the  semaphore.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 pshared  argument indicates whether this semaphore is to be shared between the threads of a process, or between processes.</a:t>
            </a:r>
            <a:endParaRPr/>
          </a:p>
        </p:txBody>
      </p:sp>
      <p:sp>
        <p:nvSpPr>
          <p:cNvPr id="329" name="Google Shape;329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pshared has the value 0, then the semaphore is  shared  between  the threads of a process, and should be located at some address that is visible to all threads (e.g., a global variable, or a variable allocated dynamically on the heap).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 pshared is nonzero, then the semaphore is shared between processes,       and should be located in a region of shared  memory  (see  shm_open(3),       mmap(2),  and  shmget(2)). (Since a child created by fork(2) inherits its parent's memory mappings, it can also access the  semaphore.)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Any process  that  can  access  the shared memory region can operate on the semaphore using sem_post(3), sem_wait(3), and so on.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WARNING!</a:t>
            </a:r>
            <a:r>
              <a:rPr lang="el"/>
              <a:t> Initializing a semaphore that has already been initialized results in undefined behavior.</a:t>
            </a:r>
            <a:endParaRPr/>
          </a:p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sem_init(): pshared</a:t>
            </a:r>
            <a:endParaRPr/>
          </a:p>
        </p:txBody>
      </p:sp>
      <p:sp>
        <p:nvSpPr>
          <p:cNvPr id="336" name="Google Shape;33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sem_init()</a:t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sem_init() returns 0 on success; on error, -1 is returned, and errno is set to indicate the error.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value exceeds SEM_VALUE_MAX.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ENOSYS:</a:t>
            </a:r>
            <a:r>
              <a:rPr lang="el"/>
              <a:t> pshared is nonzero, but the system  does  not  support  process—shared semaphores (see sem_overview(7)).</a:t>
            </a:r>
            <a:endParaRPr/>
          </a:p>
        </p:txBody>
      </p:sp>
      <p:sp>
        <p:nvSpPr>
          <p:cNvPr id="343" name="Google Shape;343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sem_wait()</a:t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&lt;semaphore.h&gt;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sem_wait(sem_t *sem);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Link with -pthread.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sem_wait()  decrements (locks) the semaphore pointed to by sem.  If the semaphore's value is greater than zero, then  the  decrement  proceeds, and  the function returns, immediately.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the semaphore currently has the value zero, then the call blocks until either it  becomes  possible to  perform the decrement (i.e., the semaphore value rises above zero), or a signal handler interrupts the call.</a:t>
            </a:r>
            <a:endParaRPr/>
          </a:p>
        </p:txBody>
      </p:sp>
      <p:sp>
        <p:nvSpPr>
          <p:cNvPr id="350" name="Google Shape;35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sem_wait()</a:t>
            </a:r>
            <a:endParaRPr/>
          </a:p>
        </p:txBody>
      </p:sp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Returns 0 on success; on error, the value of  the semaphore  is left unchanged, -1 is returned, and errno is set to indicate the error.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EINTR:</a:t>
            </a:r>
            <a:r>
              <a:rPr lang="el"/>
              <a:t> The call was interrupted by a signal handler; see signal(7).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sem is not a valid semaphore.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Variants: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sem_trywait()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sem_timedwait()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more: man sem_wait.</a:t>
            </a:r>
            <a:endParaRPr/>
          </a:p>
        </p:txBody>
      </p:sp>
      <p:sp>
        <p:nvSpPr>
          <p:cNvPr id="357" name="Google Shape;35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sem_post()</a:t>
            </a:r>
            <a:endParaRPr/>
          </a:p>
        </p:txBody>
      </p:sp>
      <p:sp>
        <p:nvSpPr>
          <p:cNvPr id="363" name="Google Shape;363;p36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&lt;semaphore.h&gt;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sem_post(sem_t *sem);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Link with -pthread.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sem_post()  increments  (unlocks)  the semaphore pointed to by sem.  If the semaphore's value consequently becomes greater than zero, then  another  process or thread blocked in a sem_wait(3) call will be woken up and proceed to lock the semaphore.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Returns 0 on success; on error, the value of  the  semaphore is left unchanged, -1 is returned, and errno is set to indicate the error.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sem is not a valid semaphore.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EOVERFLOW:</a:t>
            </a:r>
            <a:r>
              <a:rPr lang="el"/>
              <a:t> The maximum allowable value for a semaphore would be exceeded.</a:t>
            </a:r>
            <a:endParaRPr/>
          </a:p>
        </p:txBody>
      </p:sp>
      <p:sp>
        <p:nvSpPr>
          <p:cNvPr id="364" name="Google Shape;36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sem_destroy()</a:t>
            </a:r>
            <a:endParaRPr/>
          </a:p>
        </p:txBody>
      </p:sp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use: #include &lt;semaphore.h&gt;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int sem_destroy(sem_t *sem);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Link with -pthread.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sem_destroy()  destroys the unnamed semaphore at the address pointed to by sem.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Only a semaphore that has been initialized by sem_init(3) should be destroyed using sem_destroy().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Destroying  a  semaphore  that other processes or threads are currently blocked on (in sem_wait(3)) produces </a:t>
            </a:r>
            <a:r>
              <a:rPr b="1" lang="el"/>
              <a:t>undefined behavior.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a semaphore that has been destroyed produces undefined results, until the semaphore has been reinitialized using sem_init(3).</a:t>
            </a:r>
            <a:endParaRPr/>
          </a:p>
        </p:txBody>
      </p:sp>
      <p:sp>
        <p:nvSpPr>
          <p:cNvPr id="371" name="Google Shape;37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sem_destroy()</a:t>
            </a:r>
            <a:endParaRPr/>
          </a:p>
        </p:txBody>
      </p:sp>
      <p:sp>
        <p:nvSpPr>
          <p:cNvPr id="377" name="Google Shape;377;p3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Returns 0 on success; on error, -1 is returned, and errno is set to indicate the error.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Errors: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EINVAL:</a:t>
            </a:r>
            <a:r>
              <a:rPr lang="el"/>
              <a:t> sem is not a valid semaphore.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more: man sem_destroy</a:t>
            </a:r>
            <a:endParaRPr/>
          </a:p>
        </p:txBody>
      </p:sp>
      <p:sp>
        <p:nvSpPr>
          <p:cNvPr id="378" name="Google Shape;378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384" name="Google Shape;38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Producers And Consumers</a:t>
            </a:r>
            <a:endParaRPr/>
          </a:p>
        </p:txBody>
      </p:sp>
      <p:sp>
        <p:nvSpPr>
          <p:cNvPr id="390" name="Google Shape;390;p4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Solve the producer—consumer problem discussed above using: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circular buffer you implemented before, and;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Semaphores.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Consider the case of a single producer and a single consumer at first, and then generalise to: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single producer and multiple consumers;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multiple producers and multiple consumers.</a:t>
            </a:r>
            <a:endParaRPr/>
          </a:p>
        </p:txBody>
      </p:sp>
      <p:sp>
        <p:nvSpPr>
          <p:cNvPr id="391" name="Google Shape;39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Much Like Your Assignment…</a:t>
            </a:r>
            <a:endParaRPr/>
          </a:p>
        </p:txBody>
      </p:sp>
      <p:sp>
        <p:nvSpPr>
          <p:cNvPr id="397" name="Google Shape;397;p41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Create a simple C function named foo() that: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takes a string as an argument;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randomly permutes its characters, stripping out any whitespace, and;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returns the mutated version of the string.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Using this as a mock “service” implement IPC between a parent process which shares a user provided string and a child process which mutates that string using foo() and returns the mutated version to the parent process. You should implement this in the following three different ways: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pipes.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shared memory </a:t>
            </a:r>
            <a:r>
              <a:rPr b="1" lang="el"/>
              <a:t>+ semaphores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message queues.</a:t>
            </a:r>
            <a:endParaRPr/>
          </a:p>
        </p:txBody>
      </p:sp>
      <p:sp>
        <p:nvSpPr>
          <p:cNvPr id="398" name="Google Shape;398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Nasal Demons</a:t>
            </a:r>
            <a:endParaRPr/>
          </a:p>
        </p:txBody>
      </p:sp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It is a well known fact that the C compiler can do a lot of stuff at its own will and discretion. One of the most popular capabilities of the C compiler is that of </a:t>
            </a:r>
            <a:r>
              <a:rPr b="1" lang="el"/>
              <a:t>making demons fly out of your nose. </a:t>
            </a:r>
            <a:r>
              <a:rPr lang="el"/>
              <a:t>Your mission for this exercise is to: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Find out what is the relationship between nasal demons and the C compiler and summarise your findings.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Try to reproduce this behaviour — in the context of its original first appearance in this world, do not try to manipulate demons through your nose in any realistic manner!</a:t>
            </a:r>
            <a:endParaRPr/>
          </a:p>
        </p:txBody>
      </p:sp>
      <p:sp>
        <p:nvSpPr>
          <p:cNvPr id="405" name="Google Shape;405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l"/>
              <a:t>Any Questions?</a:t>
            </a:r>
            <a:endParaRPr/>
          </a:p>
        </p:txBody>
      </p:sp>
      <p:sp>
        <p:nvSpPr>
          <p:cNvPr id="411" name="Google Shape;411;p4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Don’t forget to fill-in the questionnaire (check right)</a:t>
            </a:r>
            <a:endParaRPr/>
          </a:p>
        </p:txBody>
      </p:sp>
      <p:sp>
        <p:nvSpPr>
          <p:cNvPr id="412" name="Google Shape;412;p43"/>
          <p:cNvSpPr txBox="1"/>
          <p:nvPr>
            <p:ph idx="2" type="body"/>
          </p:nvPr>
        </p:nvSpPr>
        <p:spPr>
          <a:xfrm>
            <a:off x="4672750" y="4080150"/>
            <a:ext cx="4382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https://forms.gle/aj7pYsK1ksufD6xYA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3" name="Google Shape;413;p4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5050" y="10630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